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ptos"/>
              </a:defRPr>
            </a:pPr>
            <a:r>
              <a:t>SUPPLY CHAIN</a:t>
            </a:r>
            <a:br/>
            <a:r>
              <a:t>VISIBILITY &amp; OPTIMISATION</a:t>
            </a:r>
          </a:p>
          <a:p>
            <a:pPr>
              <a:spcBef>
                <a:spcPts val="1200"/>
              </a:spcBef>
              <a:defRPr sz="1700" b="1">
                <a:solidFill>
                  <a:srgbClr val="2563EB"/>
                </a:solidFill>
                <a:latin typeface="Aptos"/>
              </a:defRPr>
            </a:pPr>
            <a:r>
              <a:t>Final Project Presentation — Milestones 1 to 4 Complete Journey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ptos"/>
              </a:defRPr>
            </a:pPr>
            <a:r>
              <a:t>Clean Data - Control Tower Visibility - Performance Analytics -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6217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73152" cy="246888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02736"/>
            <a:ext cx="5897880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Project Information &amp; Academic Context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Program: Infosys Springboard Virtual Internship 7.0 — Batch 2</a:t>
            </a:r>
            <a:br/>
            <a:r>
              <a:t>- Team: Team 4</a:t>
            </a:r>
            <a:br/>
            <a:r>
              <a:t>- Contributors: Mahi - Vishal - Ramya - Abdul Haseeb</a:t>
            </a:r>
            <a:br/>
            <a:r>
              <a:t>- Mentor: Sundar Shakthi</a:t>
            </a:r>
            <a:br/>
            <a:r>
              <a:t>- Tech Stack: Python (Data Preparation &amp; Preprocessing), Power BI / PBIP (Data Modeling &amp; DAX)</a:t>
            </a:r>
            <a:br/>
            <a:r>
              <a:t>- Objective: Transform 119k+ raw e-commerce records into a complete executive decision-support system.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97280"/>
            <a:ext cx="4389120" cy="4846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 of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Project Overview &amp; Business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Turning transactional e-commerce records into an end-to-end supply chain decision-support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119,143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Raw Records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40 raw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66,039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Cleaned Records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36 analytical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73152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55,649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Distinct Orders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Validated order grain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645920"/>
            <a:ext cx="73152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63,089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Movement Lines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Item movement grain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64592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73152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1737360"/>
            <a:ext cx="188366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93.91%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On-Time Delivery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Network 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80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73152" cy="2194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3246120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Business Problem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Transactional e-commerce data is fragmented across orders, items, payments, sellers, customers, and geolocation. Leadership requires a unified control tower to monitor fulfilment velocity, uncover delay patterns, and curb runaway freight costs.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880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2880360"/>
            <a:ext cx="73152" cy="2194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008376"/>
            <a:ext cx="3246120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Analytical Challenge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Olist tables feature one-to-many relationships causing duplicated rows in merged datasets. Simple SUM operations inflate sales and freight. Every KPI must be engineered with duplicate-safe logic at the correct analytical grain.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880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2880360"/>
            <a:ext cx="73152" cy="219456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008376"/>
            <a:ext cx="3246120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Decision Support Objective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Deliver four integrated milestones: establishing clean data trustworthiness, creating operational control tower visibility, diagnosing seller/route bottlenecks, and enabling executive decision support.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11064240" cy="10058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257800"/>
            <a:ext cx="73152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85816"/>
            <a:ext cx="107442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Data Domain Coverage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Orders: Lifecycle status &amp; timestamp milestones   - Products: Category dimensions &amp; physical weights   - Sellers: State/City locations &amp; fulfillment rates</a:t>
            </a:r>
            <a:br/>
            <a:r>
              <a:t>- Freight: Cost &amp; distance-stage transit duration   - Reviews: Customer experience proxy (1-5 scale)    - Payments: Payment method mix &amp; transaction values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2 of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Project Journey: Milestone 1 -&gt; 2 -&gt; 3 -&gt;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Each milestone systematically builds upon the previous foundation to reach executive decision maturity.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Milestone 1: Data Preparation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MAKE DATA TRUSTWORTHY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73152" cy="2971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Key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Ingested 119k raw records</a:t>
            </a:r>
            <a:br/>
            <a:r>
              <a:t>- Python data profiling &amp; type checks</a:t>
            </a:r>
            <a:br/>
            <a:r>
              <a:t>- Handled missing &amp; high-null fields</a:t>
            </a:r>
            <a:br/>
            <a:r>
              <a:t>- IQR outlier filtering (66,039 rows)</a:t>
            </a:r>
            <a:br/>
            <a:r>
              <a:t>- Engineered delivery_delay feature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45920"/>
            <a:ext cx="265176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Milestone 2: Control Tower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MAKE OPERATIONS VISIBLE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5848" y="2514600"/>
            <a:ext cx="73152" cy="2971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Key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- 5 Power BI interactive pages</a:t>
            </a:r>
            <a:br/>
            <a:r>
              <a:t>- Product movement as inventory proxy</a:t>
            </a:r>
            <a:br/>
            <a:r>
              <a:t>- ABC &amp; FSN classification</a:t>
            </a:r>
            <a:br/>
            <a:r>
              <a:t>- Delivery variance &amp; severity bands</a:t>
            </a:r>
            <a:br/>
            <a:r>
              <a:t>- Duplicate-safe DAX Total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645920"/>
            <a:ext cx="2651760" cy="7772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5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Milestone 3: Performance Analytics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DIAGNOSE &amp; EVALUATE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3055" y="2514600"/>
            <a:ext cx="73152" cy="297180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Key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Quartile Seller Scorecards (235 eligible)</a:t>
            </a:r>
            <a:br/>
            <a:r>
              <a:t>- Route &amp; carrier-stage transit days</a:t>
            </a:r>
            <a:br/>
            <a:r>
              <a:t>- Haversine distance (304 routes)</a:t>
            </a:r>
            <a:br/>
            <a:r>
              <a:t>- Freight cost concentration in RJ/MG</a:t>
            </a:r>
            <a:br/>
            <a:r>
              <a:t>- Discovered 98 extreme transit outliers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1645920"/>
            <a:ext cx="265176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3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Milestone 4: Decision Support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EXECUTIVE OPTIMISATION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70263" y="2514600"/>
            <a:ext cx="73152" cy="2971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3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Key Deliverables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Executive Overview dashboard</a:t>
            </a:r>
            <a:br/>
            <a:r>
              <a:t>- Delivery Efficiency &amp; seasonal trends</a:t>
            </a:r>
            <a:br/>
            <a:r>
              <a:t>- Transportation cost vs. pricing</a:t>
            </a:r>
            <a:br/>
            <a:r>
              <a:t>- Customer Experience &amp; rating drivers</a:t>
            </a:r>
            <a:br/>
            <a:r>
              <a:t>- Cross-functional operating rhythm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6424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73152" cy="685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51576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Cumulative Value Creation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The analytical grain, feature engineering, and data-cleaning decisions established in Milestone 1 remain the active, unbroken foundation for every dashboard and recommendation in Milestone 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3 of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Data Preparation &amp; Preprocessing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Rigorous Python data engineering transformed 119k messy transactional rows into an analysis-ready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119,143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Raw Records Ingested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40 raw operational attributes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73152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0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Exact Duplicate Rows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Verified distinct primary grain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73152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81,170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Pre-Outlier Retained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After null/noise treatment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459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37360"/>
            <a:ext cx="24780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66,039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Final Cleaned Output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36 verified analytical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880360"/>
            <a:ext cx="73152" cy="228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08376"/>
            <a:ext cx="49834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6-Stage Preprocessing Pipeline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1. Data Profiling: Evaluated missingness patterns, field cardinality, and data types.</a:t>
            </a:r>
            <a:br/>
            <a:r>
              <a:t>2. Noise Elimination: Removed high-null columns and non-operational attributes.</a:t>
            </a:r>
            <a:br/>
            <a:r>
              <a:t>3. Integrity Checks: Validated numeric bounds on product dimensions, price, and freight.</a:t>
            </a:r>
            <a:br/>
            <a:r>
              <a:t>4. Date Harmonization: Converted raw timestamps into standardized date formats.</a:t>
            </a:r>
            <a:br/>
            <a:r>
              <a:t>5. Feature Engineering: Computed delivery delta (actual vs. estimated date).</a:t>
            </a:r>
            <a:br/>
            <a:r>
              <a:t>6. Outlier Handling: Applied statistical IQR filtering to exclude extreme noise.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80360"/>
            <a:ext cx="5577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953512"/>
            <a:ext cx="5285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PYTHON LOGIC — FEATURE ENGINEERING &amp; OUTLIER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172968"/>
            <a:ext cx="5285231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# Feature Engineering: Delivery Delay (Days)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df['delivery_delay'] = 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pd.to_datetime(df['order_delivered_customer_date'])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- pd.to_datetime(df['order_estimated_delivery_date'])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).dt.total_seconds() / (24 * 3600)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# Statistical Outlier Filtering via IQR Method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Q1 = df['delivery_delay'].quantile(0.25)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Q3 = df['delivery_delay'].quantile(0.75)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IQR = Q3 - Q1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lower_bound = Q1 - 1.5 * IQR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upper_bound = Q3 + 1.5 * IQR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cleaned_df = df[(df['delivery_delay'] &gt;= lower_bound) &amp; 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            (df['delivery_delay'] &lt;= upper_bound)] # 66,039 rows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Analytical Impact of Cleaning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Removing skewed outliers and extreme unfulfilled orders ensured that baseline fulfillment figures (such as 93.91% on-time delivery) reflect genuine operational performance rather than corrupted data logging.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4 of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Establishing the Correct Analytical Grain &amp; Movement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Solving the multi-item order inflation trap through unique movement-grain modeling.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66,039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CSV Cleaned Rows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Raw merged line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63,089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Movement Lines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order_id + order_item_id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73152" cy="10058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1.0446x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Duplicate Inflation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Unsafe raw sum distortion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459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73152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37360"/>
            <a:ext cx="24780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R$ 4.10M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Safe Movement Value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Raw SUM was R$ 4.28M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5303520" cy="2286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880360"/>
            <a:ext cx="73152" cy="2286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08376"/>
            <a:ext cx="49834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The Data-Grain Duplication Trap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Root Cause: Merged e-commerce tables have one-to-many relationships (multiple payments or installments per order, multiple items per order).</a:t>
            </a:r>
            <a:br/>
            <a:r>
              <a:t>- The Risk: Blindly running SUM(price) or SUM(freight_value) counts payments and items redundantly, artificially inflating revenue by ~4.46% (R$ 182,577 overstatement).</a:t>
            </a:r>
            <a:br/>
            <a:r>
              <a:t>- Solution: Engineered Movement Line Key (order_id + order_item_id) as the atomic unit of product movement across the supply chain.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80360"/>
            <a:ext cx="5577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953512"/>
            <a:ext cx="5285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IMPLEMENTATION — DUPLICATE-SAFE MEASURES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172968"/>
            <a:ext cx="5285231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-- 1. Duplicate-Safe Total Sales / Movement Value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Sales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SUMX(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VALUES('Supply_Chain_Cleaned_Dataset'[Movement Line Key]),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CALCULATE(MAX('Supply_Chain_Cleaned_Dataset'[price]))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-- 2. Duplicate-Safe Units Moved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Units Moved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DISTINCTCOUNT('Supply_Chain_Cleaned_Dataset'[Movement Line Key])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-- 3. Duplicate-Safe Distinct Orders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Orders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DISTINCTCOUNT('Supply_Chain_Cleaned_Dataset'[order_id])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Modelling Principle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Why this matters: Business analytics are only defensible when the mathematical grain matches the physical operational process. All downstream KPIs in Milestones 2, 3, and 4 rely strictly on this grain-safe formulation.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5 of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Supply Chain Control Tower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Deploying an interactive 5-page diagnostic intelligence system for full network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888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85216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645920"/>
            <a:ext cx="5029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73152" cy="3474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73936"/>
            <a:ext cx="4709160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The 5 Core Control Tower Dashboards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1. Executive Supply Chain Overview: High-level KPI pulse tracking orders (56K), units moved (63K), total sales (R$ 4.10M), and on-time delivery (93.91%).</a:t>
            </a:r>
            <a:br/>
            <a:br/>
            <a:r>
              <a:t>2. Inventory Movement Intelligence: Velocity analytics across 18K active products, demand variability (58.65%), and ABC/FSN movement matrices.</a:t>
            </a:r>
            <a:br/>
            <a:br/>
            <a:r>
              <a:t>3. Delivery Performance: Delivery variance (-11.81 days), early vs. late breakdown, and severity classification (1-3d, 4-7d, 8+d).</a:t>
            </a:r>
            <a:br/>
            <a:br/>
            <a:r>
              <a:t>4. Region &amp; Product Drilldown: 5-level operational hierarchies connecting Region -&gt; State -&gt; City -&gt; Category -&gt; Product.</a:t>
            </a:r>
            <a:br/>
            <a:br/>
            <a:r>
              <a:t>5. Trends &amp; Variance Analysis: Month-over-Month (MoM) performance tracking using robust REMOVEFILTERS date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Critical Inventory Proxy Guardrail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The Olist dataset does NOT contain physical warehouse stock balances or bin-level on-hand inventory. All inventory metrics are transparently framed as 'Product Movement Intelligence' acting as an inventory flow proxy.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6 of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Inventory Movement Intelligence — ABC &amp; FSN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Segmenting product movement velocity and revenue contribution without assuming physical stock.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63K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Units Moved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Total items in circulation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18K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Active Products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Catalog items with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73152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0.15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Product Velocity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Units / (Products x Months)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459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73152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37360"/>
            <a:ext cx="24780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58.65%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Demand Variability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STDEV / AVERAGE movement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880360"/>
            <a:ext cx="73152" cy="228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08376"/>
            <a:ext cx="49834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Movement Categorization Methodology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ABC Value Analysis (Cumulative Movement Value):</a:t>
            </a:r>
            <a:br/>
            <a:r>
              <a:t>   - Class A: Top 80% cumulative value (high-priority revenue drivers).</a:t>
            </a:r>
            <a:br/>
            <a:r>
              <a:t>   - Class B: Next 15% cumulative value (80% to 95%).</a:t>
            </a:r>
            <a:br/>
            <a:r>
              <a:t>   - Class C: Final 5% cumulative value (tail products, 95% to 100%).</a:t>
            </a:r>
            <a:br/>
            <a:br/>
            <a:r>
              <a:t>- FSN Velocity Analysis (Order Frequency Percentiles):</a:t>
            </a:r>
            <a:br/>
            <a:r>
              <a:t>   - Fast Moving: &gt;= 67th percentile of order frequency.</a:t>
            </a:r>
            <a:br/>
            <a:r>
              <a:t>   - Moderate Moving: 33rd to 67th percentile.</a:t>
            </a:r>
            <a:br/>
            <a:r>
              <a:t>   - Slow Moving: &lt;= 33rd percentile (NO 'Non-Moving' class exists).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80360"/>
            <a:ext cx="5577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953512"/>
            <a:ext cx="5285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FORMULAS — INVENTORY MOVEMENT &amp; VELOCITY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172968"/>
            <a:ext cx="5285231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Improved Product Velocity (Normalized by active breadth &amp; time)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Product Velocity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[Units Moved],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[Active Products] * [Active Movement Months]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Demand Variability (Coefficient of Variation)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Demand Variability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STDEV.S('Monthly_Movement'[Units Moved]),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AVERAGE('Monthly_Movement'[Units Moved])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Operational Takeaway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Health &amp; Beauty, Computer Accessories, and Bed/Bath/Table represent the primary Class A / Fast-Moving volume drivers. Supply chain optimization must prioritize lane capacity and supplier SLAs for these high-throughput categories.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7 of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Delivery Performance &amp; Regional Drilldown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Measuring delivery variance, late-order severity, and multi-tier geographic hierarchies.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93.91%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On-Time Delivery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Orders on or before 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73152" cy="10058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6.09%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Late Delivery %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Orders breaching promised 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737360"/>
            <a:ext cx="23865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11.52 Days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Delivery Time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Total fulfillment lead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45920"/>
            <a:ext cx="2697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737360"/>
            <a:ext cx="24780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-11.81 Days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Delivery Variance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Negative indicates early arrival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880360"/>
            <a:ext cx="73152" cy="228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08376"/>
            <a:ext cx="49834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Delivery Severity &amp; Geographic Hierarchies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Reframing 'Delay' to 'Delivery Variance': A negative variance represents orders arriving ahead of promised schedule (average -11.81 days early).</a:t>
            </a:r>
            <a:br/>
            <a:r>
              <a:t>- Severity Tiers: Early (majority), On Time, 1-3 Days Late (minor lag), 4-7 Days Late (moderate disruption), 8+ Days Late (critical failure).</a:t>
            </a:r>
            <a:br/>
            <a:r>
              <a:t>- Multi-Level Customer Hierarchy:</a:t>
            </a:r>
            <a:br/>
            <a:r>
              <a:t>   Customer Region -&gt; Customer State -&gt; Customer City -&gt; Product Category -&gt; Product ID</a:t>
            </a:r>
            <a:br/>
            <a:r>
              <a:t>- Seller Hierarchy: Seller State -&gt; Seller City -&gt; Seller ID -&gt; Category.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80360"/>
            <a:ext cx="5577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953512"/>
            <a:ext cx="5285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FORMULAS — SERVICE RELIABILITY &amp; SEVERITY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172968"/>
            <a:ext cx="5285231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-- 1. On-Time Delivery Percentage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On-Time Delivery %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CALCULATE(DISTINCTCOUNT('Dataset'[order_id]), 'Dataset'[delivery_delay] &lt;= 0),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DISTINCTCOUNT('Dataset'[order_id])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-- 2. Average Delivery Variance (Days)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 Delivery Variance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AVERAGE('Dataset'[delivery_delay])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-- 3. Average Early Delivery Days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Avg Early Delivery Days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CALCULATE(ABS(AVERAGE('Dataset'[delivery_delay])), 'Dataset'[delivery_delay] &lt; 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Geographic Concentration Insight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Southeast region dominates demand (São Paulo alone generates ~45k movement units). However, remote North and Northeast regions experience longer average lead times and lower on-time delivery percentages.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8 of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Trends &amp; Month-over-Month (MoM)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Uncovering growth trends, seasonality patterns, and time-intelligence variance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+6.66%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Units MoM Var %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Monthly volume 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73152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+4.88%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Sales MoM Var %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Monthly value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73152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+0.99%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Freight MoM Var %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Freight spend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64592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645920"/>
            <a:ext cx="73152" cy="10058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1737360"/>
            <a:ext cx="183794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-2.89 pp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On-Time MoM Var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Service percentage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64592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16459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1737360"/>
            <a:ext cx="188366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58.65%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Demand Volatility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Monthly CV coefficient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8036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2880360"/>
            <a:ext cx="73152" cy="228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08376"/>
            <a:ext cx="49834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Time-Intelligence Architecture &amp; Findings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Removing Filter Distortion: Standard PREVIOUSMONTH filters can fail when users slice by specific periods. The improved pattern uses REMOVEFILTERS('Date') to evaluate preceding calendar intervals robustly.</a:t>
            </a:r>
            <a:br/>
            <a:r>
              <a:t>- Seasonal Growth Surge: Observed steady volume ramp from early 2017 to peak levels in mid-2018, accompanied by rapid freight growth.</a:t>
            </a:r>
            <a:br/>
            <a:r>
              <a:t>- Service Tension: Rapid volume growth periods coincide with slight dips in on-time performance (-2.89 percentage points), signaling carrier capacity bottlenecks.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880360"/>
            <a:ext cx="5577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2953512"/>
            <a:ext cx="528523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PATTERN — SAFE MONTH-OVER-MONTH (MOM) VARIANCE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172968"/>
            <a:ext cx="5285231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Robust Time Intelligence using REMOVEFILTERS Pattern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Units Moved Previous Month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VAR SelectedMonth = MAX('Date'[Month Start])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VAR PrevMonth = EDATE(SelectedMonth, -1)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RETURN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CALCULATE(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[Units Moved],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REMOVEFILTERS('Date'),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'Date'[Month Start] = PrevMonth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Month-over-Month Variance %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Units Moved MoM Variance %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DIVIDE([Units Moved] - [Units Moved Previous Month], [Units Moved Previous Month])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Management Takeaway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Static yearly aggregates conceal monthly fulfillment friction. Continuous MoM monitoring is necessary to trigger proactive carrier capacity buffers ahead of high-volume seasonal spikes (e.g., November Black Friday / holiday peak).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9 of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From Descriptive Visibility to Performance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Transitioning from 'what happened' into diagnostic evaluation of sellers, routes, costs, and service SLAs.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691640"/>
            <a:ext cx="9966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45920" y="1691640"/>
            <a:ext cx="73152" cy="96012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819656"/>
            <a:ext cx="964692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Supplier / Seller Scorecards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Established a defensible quartile-based evaluation system across 235 eligible sellers (50+ orders) combining delivery reliability, customer reviews, freight efficiency, and speed.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26079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2788920"/>
            <a:ext cx="9966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2788920"/>
            <a:ext cx="73152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916936"/>
            <a:ext cx="964692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Transportation Cost Performance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Diagnosed R$ 969.23K total freight spend, isolating geographic cost hotspots (Rio de Janeiro and Minas Gerais) and disproportionate product category shipping expenses.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233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3886200"/>
            <a:ext cx="9966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45920" y="3886200"/>
            <a:ext cx="73152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014215"/>
            <a:ext cx="964692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Route &amp; Carrier-Stage Performance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Enriched model with 19,011 validated ZIP centroids, calculated approximate Haversine straight-line distances across 304 routes, and isolated carrier-stage handoff transit times.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1206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19"/>
            <a:ext cx="731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4983479"/>
            <a:ext cx="9966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45920" y="4983479"/>
            <a:ext cx="73152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111495"/>
            <a:ext cx="964692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Advanced Cross-KPI Visualization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Synthesized service reliability, payment mix, customer rating distributions, and transit duration patterns into unified executive management scorecards.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97880"/>
            <a:ext cx="11064240" cy="457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897880"/>
            <a:ext cx="73152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25896"/>
            <a:ext cx="10744200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Diagnostic Core Question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Where in our supply chain is performance world-class, where is it acceptable, and where is it costly, inefficient, or vulnerable to failure?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10 of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Supplier / Seller Performance Scorecards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Multi-criteria quartile evaluation isolating top performers from vendors requiring operational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70585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73152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737360"/>
            <a:ext cx="2340863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235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Eligible Sellers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50+ delivered orders (70% vol)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645920"/>
            <a:ext cx="73152" cy="8686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173736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82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Excellent (&gt;=3.00)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Top quartile performers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73152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43200"/>
            <a:ext cx="2340863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44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Good (2.50–2.99)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Reliable 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65176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651760"/>
            <a:ext cx="73152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74320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52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Watchlist (2.00–2.49)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Targeted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576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730752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— EQUAL-WEIGHTED QUARTILE PERFORMANCE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950208"/>
            <a:ext cx="491947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-- 4 Dimensions Weighted Equally at 25% each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Seller Performance Score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[Seller Delivery Score] + [Seller Review Score] +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[Seller Freight Score]   + [Seller Speed Score],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4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 -- Where individual scores (1-4) reflect eligible-seller quartiles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Key Takeaway: 46.4% Sellers Need Governance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109 out of 235 eligible sellers (46.4%) fall into Watchlist (52) or Needs Improvement (57). High review scores alone do not guarantee operational excellence—the 4-pillar index prevents high product ratings from hiding slow delivery or inefficient freight.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11 of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Route &amp; Carrier-Stage Performance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Geographic route modeling, straight-line Haversine distances, and carrier handoff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70585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73152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737360"/>
            <a:ext cx="2340863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304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Unique Routes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Origin State -&gt; Dest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4592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645920"/>
            <a:ext cx="73152" cy="86868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173736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520.11 km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Distance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Straight-line Haversine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73152" cy="868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43200"/>
            <a:ext cx="2340863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8.63 Days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Carrier Transit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Handoff to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65176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651760"/>
            <a:ext cx="73152" cy="8686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74320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98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Transit &gt;60 Days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Severe outlier shipments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57600"/>
            <a:ext cx="521208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730752"/>
            <a:ext cx="49194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FORMULAS — ROUTE EFFICIENCY &amp; TRANSIT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950208"/>
            <a:ext cx="491947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Carrier-Stage Lead Time (Carrier handoff to customer drop)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Avg Carrier Transit Days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AVERAGEX(VALUES([order_id]), MAX([Carrier Transit Days]))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Normalized Freight Cost per 100 km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Freight Cost per 100 KM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DIVIDE([Total Freight Cost], [Total Route Distance KM]) * 100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Critical Methodology &amp; Limitations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Distance is approximate straight-line Haversine (Earth radius 6,371 km) between ZIP centroids, NOT road odometer mileage.</a:t>
            </a:r>
            <a:br/>
            <a:r>
              <a:t>- Olist dataset does NOT contain named carrier companies; metrics evaluate the carrier-stage fulfillment process duration.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12 of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Transportation Cost &amp; Advanced KPI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Diagnosing freight expenditure concentration, shipment lead times, and customer review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431536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9632" y="1627632"/>
            <a:ext cx="5431536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9496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73152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R$ 969.23K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Total Freight Cost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Dashboard grand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4709160"/>
            <a:ext cx="73152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R$ 137.94K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Rio de Janeiro Spend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High freight state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4709160"/>
            <a:ext cx="73152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56K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Shipments Analyzed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Order shipment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47091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4709160"/>
            <a:ext cx="73152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4800600"/>
            <a:ext cx="247802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4.07 / 5.0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Supplier Rating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Customer experience proxy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11064240" cy="685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715000"/>
            <a:ext cx="73152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43016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Analytical Integration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Freight spending grew dramatically over the operating lifecycle (+694.99% Sep 2016 to Aug 2018). Spend is heavily concentrated in RJ and MG, with Health &amp; Beauty and Computer Accessories demanding the largest logistics budget.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13 of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Synthesized Key Findings &amp; Analytical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Consolidating 6 core empirical insights across service reliability, vendor tiers, routes, and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1691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1. High Baseline Service (93.91%)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Overall on-time delivery is strong, but aggregate success conceals severe local exceptions in remote lanes.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73152" cy="1691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7393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2. 46.4% Seller Governance Pool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109 out of 235 eligible vendors require performance remediation across delivery speed, reviews, or freight.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73152" cy="1691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77393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3. Geographic Spend Concentration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Freight costs are heavily concentrated in Southeast lanes and inbound shipments to RJ (R$ 137.94K) and MG.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39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73152" cy="1691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4845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4. Distance Shapes Transit Times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Transit times scale naturally with distance (SP-&gt;SP is 4.54d vs. SP-&gt;BA at 16.53d); requires tiered SLAs.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520439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79" y="3520439"/>
            <a:ext cx="73152" cy="16916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64845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5. Critical Outlier Exceptions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98 orders took &gt;60 days in transit, with max transit reaching 205.19 days, requiring dedicated exception workflows.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520439"/>
            <a:ext cx="35661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9" y="3520439"/>
            <a:ext cx="73152" cy="1691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3648456"/>
            <a:ext cx="3246120" cy="143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6. Speed Drives Rating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Strong inverse correlation: average delivery duration drops from ~17.5 days for 1-star reviews to ~10.1 days for 5-star.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64240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532120"/>
            <a:ext cx="73152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60136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Core Management Takeaway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Optimize the holistic equilibrium of COST + SERVICE RELIABILITY + SELLER QUALITY + ROUTE EFFICIENCY. Cutting freight costs blindly destroys delivery speed and damages customer review sentiment.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14 of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Transitioning from Analysis to Executive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Synthesizing operational discoveries into four decision-oriented executive control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Executive Overview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COMMERCIAL &amp; FULFILLMENT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73152" cy="2971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Executive Capabilities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Consolidates high-level revenue and order flow.</a:t>
            </a:r>
            <a:br/>
            <a:r>
              <a:t>- Monitors fulfillment pipeline (93.75% delivered, 4.69% shipped).</a:t>
            </a:r>
            <a:br/>
            <a:r>
              <a:t>- Tracks geographic order volume across customer states.</a:t>
            </a:r>
            <a:br/>
            <a:r>
              <a:t>- Surfaces top-performing categories (Telephony, Computers).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45920"/>
            <a:ext cx="2651760" cy="777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Delivery Efficiency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SERVICE SPEED &amp; SEASONALITY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5848" y="2514600"/>
            <a:ext cx="73152" cy="2971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Executive Capabilities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Evaluates shipment lead times (11.49 days average).</a:t>
            </a:r>
            <a:br/>
            <a:r>
              <a:t>- Identifies monthly seasonality dips (March 86.3%, Nov 89.6%).</a:t>
            </a:r>
            <a:br/>
            <a:r>
              <a:t>- Quantifies delivery lead time impact on customer rating.</a:t>
            </a:r>
            <a:br/>
            <a:r>
              <a:t>- Enables interactive slicing by payment type and order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645920"/>
            <a:ext cx="265176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5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Transportation Cost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FREIGHT &amp; MARGIN OPTIMIZATION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3055" y="2514600"/>
            <a:ext cx="73152" cy="2971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Executive Capabilities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Analyzes R$ 969.23K freight expenditure distribution.</a:t>
            </a:r>
            <a:br/>
            <a:r>
              <a:t>- Diagnoses origin seller state dominance (SP &gt; R$ 0.6M).</a:t>
            </a:r>
            <a:br/>
            <a:r>
              <a:t>- Discovers price vs. freight imbalances across catalog items.</a:t>
            </a:r>
            <a:br/>
            <a:r>
              <a:t>- Pinpoints categories generating disproportionate shipping drain.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1645920"/>
            <a:ext cx="265176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3" y="1691640"/>
            <a:ext cx="246887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 Experience</a:t>
            </a:r>
          </a:p>
          <a:p>
            <a:pPr>
              <a:defRPr sz="950">
                <a:solidFill>
                  <a:srgbClr val="F0FDFA"/>
                </a:solidFill>
                <a:latin typeface="Aptos"/>
              </a:defRPr>
            </a:pPr>
            <a:r>
              <a:t>SENTIMENT &amp; RETENTION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2514600"/>
            <a:ext cx="2651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70263" y="2514600"/>
            <a:ext cx="73152" cy="2971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3" y="2642616"/>
            <a:ext cx="2331720" cy="2715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Executive Capabilities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Tracks 55K customer reviews with 4.07 / 5.0 rating average.</a:t>
            </a:r>
            <a:br/>
            <a:r>
              <a:t>- Analyzes rating mix (57.97% 5-star vs. 12.1% 1-star).</a:t>
            </a:r>
            <a:br/>
            <a:r>
              <a:t>- Maps direct correlation between delivery delays and bad reviews.</a:t>
            </a:r>
            <a:br/>
            <a:r>
              <a:t>- Provides category-specific customer sentiment indicators.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64240" cy="685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73152" cy="685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51576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The Milestone 4 Mandate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Milestone 4 elevates data analytics into an active management dashboard suite, empowering supply chain leaders to balance customer satisfaction against freight spending and carrier turnaround times.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15 of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Executive Overview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Strategic leadership overview monitoring order volume, fulfillment status mix, and state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888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4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85216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64592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73152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173736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R$ 37.59K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State Order Value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Filtered state view (e.g. 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73152" cy="86868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1744" y="1737360"/>
            <a:ext cx="215798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223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State Orders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Customer state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5176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2651760"/>
            <a:ext cx="73152" cy="8686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74320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93.75%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Delivered Status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240 items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65176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2651760"/>
            <a:ext cx="73152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743200"/>
            <a:ext cx="215798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4.69%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In-Transit / Shipped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12 items in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657600"/>
            <a:ext cx="5029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4" y="3730752"/>
            <a:ext cx="47365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FORMULAS — EXECUTIVE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950208"/>
            <a:ext cx="47365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-- 1. Total Order Value (Aggregated Payments)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Order Value = SUM('Table'[payment_value])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-- 2. Total Order Volume (Distinct Orders)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Orders = DISTINCTCOUNT('Table'[order_id])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Operational Analysis &amp; Caution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The dashboard provides rapid visual slicing by customer state (MA displayed) and top product categories (Telephony, Computer Accessories, Health &amp; Beauty).</a:t>
            </a:r>
            <a:br/>
            <a:r>
              <a:t>- Analytical Note: As shown in Power BI Desktop, KPI cards reflect the active customer state filter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16 of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Delivery Efficiency &amp; Seasonality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Tracking on-time fulfillment rates, seasonal volume dips, and delivery lead time correlations.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888736" cy="3511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livery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85216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64592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73152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173736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56K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Total Shipments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Distinct orders fulfilled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73152" cy="8686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1744" y="1737360"/>
            <a:ext cx="215798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94%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On-Time Delivery %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Fulfilled on/before 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65176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2651760"/>
            <a:ext cx="73152" cy="868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743200"/>
            <a:ext cx="2249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11.49 Days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Delivery Time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Purchase to delivery drop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65176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2651760"/>
            <a:ext cx="73152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743200"/>
            <a:ext cx="215798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R$ 17.42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Freight / Shipment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Average shipping charge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657600"/>
            <a:ext cx="50292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4" y="3730752"/>
            <a:ext cx="47365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DAX FORMULAS — DELIVERY EFFICIENCY &amp; TRANSIT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950208"/>
            <a:ext cx="47365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-- 1. On-Time Delivery Percentage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On-Time Delivery %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DIVIDE(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CALCULATE(DISTINCTCOUNT('Dataset'[order_id]), 'Dataset'[delivery_delay] &lt;= 0),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[Total Shipments]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-- 2. Average Lead Time Duration (Days)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 Delivery Time =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AVERAGEX(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FILTER('Dataset', NOT ISBLANK('Dataset'[order_delivered_customer_date])),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    DATEDIFF('Dataset'[order_purchase_timestamp], 'Dataset'[order_delivered_customer_date], DAY)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73152" cy="960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10744200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Operational Insights: Seasonality &amp; Sentiment Impact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Seasonal Performance Curve: On-time delivery drops significantly in March (86.30%) and November (89.60%), but peaks in June (98.66%) and July (97.15%).</a:t>
            </a:r>
            <a:br/>
            <a:r>
              <a:t>- Direct Sentiment Impact: Orders with 1-star reviews suffer an average lead time of ~17.5 days, compared to ~10.1 days for 5-star reviews.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17 of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Transportation Cost Performance &amp;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Integrating logistics expenditure diagnostics with customer satisfaction and rating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431536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4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9632" y="1627632"/>
            <a:ext cx="5431536" cy="2962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4_p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9496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73152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R$ 969.23K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Total Freight Cost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Logistics spend 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4709160"/>
            <a:ext cx="73152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R$ 14.68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Freight / Move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Per-movement freight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0916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4709160"/>
            <a:ext cx="73152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4800600"/>
            <a:ext cx="238658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55K Reviews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Total Customer Reviews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Rating population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470916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4709160"/>
            <a:ext cx="73152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4800600"/>
            <a:ext cx="247802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4.07 / 5.0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Avg Review Score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57.97% 5-star ratings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15000"/>
            <a:ext cx="53949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788152"/>
            <a:ext cx="51023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TRANSPORTATION DAX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007608"/>
            <a:ext cx="51023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Freight Cost = SUM('Table'[freight_value])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 Freight Cost = AVERAGE('Table'[freight_value])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 Product Price = AVERAGE('Table'[price])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715000"/>
            <a:ext cx="53949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5788152"/>
            <a:ext cx="51023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Aptos"/>
              </a:defRPr>
            </a:pPr>
            <a:r>
              <a:t>CUSTOMER EXPERIENCE DAX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6007608"/>
            <a:ext cx="51023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Reviews = DISTINCTCOUNT('Table'[review_id])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Average Review Score = AVERAGE('Table'[review_score])</a:t>
            </a:r>
          </a:p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Total Order Value = SUM('Table'[payment_value])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18 of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ptos"/>
              </a:defRPr>
            </a:pPr>
            <a:r>
              <a:t>SUPPLY CHAIN VISIBILITY &amp; OPTIMISATION  -  MILESTONE 4 - TEAM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STRATEGIC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ptos"/>
              </a:defRPr>
            </a:pPr>
            <a:r>
              <a:t>End-to-End Strategic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Translating analytical milestones into an executive operating cadence for sustainable supply chain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005840" cy="7498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1645920"/>
            <a:ext cx="9921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91640" y="1645920"/>
            <a:ext cx="73152" cy="74980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773936"/>
            <a:ext cx="960120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Supplier Performance Remediation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Establish monthly governance reviews targeting the 109 sellers in Watchlist (52) and Needs Improvement (57). Enforce corrective action plans on the weakest individual quartile metric (Speed, Freight, or Reliability).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005840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514600"/>
            <a:ext cx="9921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1640" y="2514600"/>
            <a:ext cx="73152" cy="7498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20" y="2642616"/>
            <a:ext cx="960120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Route Exception Management Workflow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Deploy automated trigger alerts for shipments exceeding distance-specific lead time thresholds. Establish dedicated escalation protocols for extreme outlier orders (&gt;60 days in transit).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1005840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3383280"/>
            <a:ext cx="9921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1640" y="3383280"/>
            <a:ext cx="73152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3511296"/>
            <a:ext cx="960120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Freight Cost Rationalization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Re-negotiate regional carrier rates in high-spend destination hubs (RJ at R$ 137.94K and MG). Scrutinize catalog items where freight cost represents an excessively high percentage of product retail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51959"/>
            <a:ext cx="1005840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80559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4251959"/>
            <a:ext cx="9921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91640" y="4251959"/>
            <a:ext cx="73152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20" y="4379975"/>
            <a:ext cx="960120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Distance-Tiered Customer Delivery SLAs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Replace monolithic countrywide estimated delivery dates with dynamic distance-band SLAs (e.g., 0-100km, 101-500km, 500-1000km, 1000km+) to prevent false delay alarms and improve customer 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005840" cy="749808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120640"/>
            <a:ext cx="9921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91640" y="5120640"/>
            <a:ext cx="73152" cy="749808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20" y="5248655"/>
            <a:ext cx="9601200" cy="493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Closed-Loop Customer Experience Loop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Direct customer review feedback into vendor scorecards and carrier SLAs. Prioritize immediate customer service follow-ups whenever actual delivery lags promised date by &gt;3 days.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989320"/>
            <a:ext cx="11064240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989320"/>
            <a:ext cx="73152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17336"/>
            <a:ext cx="1074420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Recommended Operating Rhythm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Weekly: Outlier shipment escalations (&gt;60d)  -  Monthly: Seller scorecard reviews  -  Quarterly: Regional freight rate &amp; carrier renegotiations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19 of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  <a:latin typeface="Aptos"/>
              </a:defRPr>
            </a:pPr>
            <a:r>
              <a:t>PROJECT ACHIEVEMENT &amp; CONCLUSION</a:t>
            </a:r>
          </a:p>
          <a:p>
            <a:pPr>
              <a:spcBef>
                <a:spcPts val="600"/>
              </a:spcBef>
              <a:defRPr sz="2600" b="1">
                <a:solidFill>
                  <a:srgbClr val="0F172A"/>
                </a:solidFill>
                <a:latin typeface="Aptos"/>
              </a:defRPr>
            </a:pPr>
            <a:r>
              <a:t>From Transactional Data to Strategic Executive Decision Support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ptos"/>
              </a:defRPr>
            </a:pPr>
            <a:r>
              <a:t>The project successfully establishes a complete end-to-end analytics continuum—transforming raw Brazilian e-commerce logs into clean data assets, a 5-page operational control tower, diagnostic supplier scorecards, and executive decision dashboards.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73152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66,039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Cleaned Records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M1 Data Quality 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56032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2560320"/>
            <a:ext cx="73152" cy="100584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265176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5 Pages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Control Tower Views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M2 Operational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560320"/>
            <a:ext cx="73152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65176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 Streams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Performance Diagnostics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M3 Supplier/Route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56032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2560320"/>
            <a:ext cx="73152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2651760"/>
            <a:ext cx="22494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ptos"/>
              </a:defRPr>
            </a:pPr>
            <a:r>
              <a:t>4 Dashboards</a:t>
            </a:r>
          </a:p>
          <a:p>
            <a:pPr>
              <a:defRPr sz="1050" b="1">
                <a:solidFill>
                  <a:srgbClr val="1F2937"/>
                </a:solidFill>
                <a:latin typeface="Aptos"/>
              </a:defRPr>
            </a:pPr>
            <a:r>
              <a:t>Executive Decision Views</a:t>
            </a:r>
          </a:p>
          <a:p>
            <a:pPr>
              <a:defRPr sz="900">
                <a:solidFill>
                  <a:srgbClr val="64748B"/>
                </a:solidFill>
                <a:latin typeface="Aptos"/>
              </a:defRPr>
            </a:pPr>
            <a:r>
              <a:t>M4 Leadership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7132320" cy="2286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D8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73152" cy="2286000"/>
          </a:xfrm>
          <a:prstGeom prst="roundRect">
            <a:avLst/>
          </a:prstGeom>
          <a:solidFill>
            <a:srgbClr val="00B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68496"/>
            <a:ext cx="6812280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Aptos"/>
              </a:defRPr>
            </a:pPr>
            <a:r>
              <a:t>Project Summary &amp; Business Value Delivered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Aptos"/>
              </a:defRPr>
            </a:pPr>
            <a:r>
              <a:t>- Trustworthy Data Foundation: Addressed multi-item grain inflation and engineered delivery variance metrics.</a:t>
            </a:r>
            <a:br/>
            <a:r>
              <a:t>- Holistic Control Tower: Unlocked product velocity, ABC/FSN movement intelligence, and multi-tier regional drilldowns.</a:t>
            </a:r>
            <a:br/>
            <a:r>
              <a:t>- Defensible Performance Framework: Scored 235 eligible sellers, mapped 304 routes, and isolated carrier handoff lead times.</a:t>
            </a:r>
            <a:br/>
            <a:r>
              <a:t>- Actionable Decision Support: Directly connected fulfillment delays to customer ratings and identified cost optimization targets.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2918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ptos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2563EB"/>
                </a:solidFill>
                <a:latin typeface="Aptos"/>
              </a:defRPr>
            </a:pPr>
            <a:r>
              <a:t>Questions &amp; Discussion</a:t>
            </a:r>
          </a:p>
          <a:p>
            <a:pPr algn="ctr">
              <a:spcBef>
                <a:spcPts val="800"/>
              </a:spcBef>
              <a:defRPr sz="1000">
                <a:solidFill>
                  <a:srgbClr val="64748B"/>
                </a:solidFill>
                <a:latin typeface="Aptos"/>
              </a:defRPr>
            </a:pPr>
            <a:r>
              <a:t>Team 4 - Infosys Springboard Virtual Internship 7.0</a:t>
            </a:r>
            <a:br/>
            <a:r>
              <a:t>Mentor: Sundar Shakthi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Slide 20 of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5455" y="6510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Aptos"/>
              </a:defRPr>
            </a:pPr>
            <a:r>
              <a:t>Final Project Presentation | M1-M4 Complete Journey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