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65" r:id="rId5"/>
    <p:sldId id="257" r:id="rId6"/>
    <p:sldId id="258" r:id="rId7"/>
    <p:sldId id="259" r:id="rId8"/>
    <p:sldId id="260" r:id="rId9"/>
    <p:sldId id="261" r:id="rId10"/>
    <p:sldId id="262" r:id="rId11"/>
    <p:sldId id="263" r:id="rId12"/>
  </p:sldIdLst>
  <p:sldSz cx="18288000" cy="10287000"/>
  <p:notesSz cx="6858000" cy="9144000"/>
  <p:embeddedFontLst>
    <p:embeddedFont>
      <p:font typeface="Georgia" panose="02040502050405020303"/>
      <p:regular r:id="rId16"/>
      <p:bold r:id="rId17"/>
      <p:italic r:id="rId18"/>
      <p:boldItalic r:id="rId19"/>
    </p:embeddedFont>
    <p:embeddedFont>
      <p:font typeface="Aptos Bold" panose="020B0004020202020204"/>
      <p:bold r:id="rId20"/>
    </p:embeddedFont>
    <p:embeddedFont>
      <p:font typeface="Algerian" panose="04020705040A02060702" pitchFamily="82" charset="0"/>
      <p:regular r:id="rId21"/>
    </p:embeddedFont>
    <p:embeddedFont>
      <p:font typeface="Arial Narrow" panose="020B0606020202030204" pitchFamily="34" charset="0"/>
      <p:regular r:id="rId22"/>
      <p:bold r:id="rId23"/>
      <p:italic r:id="rId24"/>
      <p:boldItalic r:id="rId25"/>
    </p:embeddedFont>
    <p:embeddedFont>
      <p:font typeface="Calibri" panose="020F050202020403020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14.fntdata"/><Relationship Id="rId28" Type="http://schemas.openxmlformats.org/officeDocument/2006/relationships/font" Target="fonts/font13.fntdata"/><Relationship Id="rId27" Type="http://schemas.openxmlformats.org/officeDocument/2006/relationships/font" Target="fonts/font12.fntdata"/><Relationship Id="rId26" Type="http://schemas.openxmlformats.org/officeDocument/2006/relationships/font" Target="fonts/font11.fntdata"/><Relationship Id="rId25" Type="http://schemas.openxmlformats.org/officeDocument/2006/relationships/font" Target="fonts/font10.fntdata"/><Relationship Id="rId24" Type="http://schemas.openxmlformats.org/officeDocument/2006/relationships/font" Target="fonts/font9.fntdata"/><Relationship Id="rId23" Type="http://schemas.openxmlformats.org/officeDocument/2006/relationships/font" Target="fonts/font8.fntdata"/><Relationship Id="rId22" Type="http://schemas.openxmlformats.org/officeDocument/2006/relationships/font" Target="fonts/font7.fntdata"/><Relationship Id="rId21" Type="http://schemas.openxmlformats.org/officeDocument/2006/relationships/font" Target="fonts/font6.fntdata"/><Relationship Id="rId20" Type="http://schemas.openxmlformats.org/officeDocument/2006/relationships/font" Target="fonts/font5.fntdata"/><Relationship Id="rId2" Type="http://schemas.openxmlformats.org/officeDocument/2006/relationships/theme" Target="theme/theme1.xml"/><Relationship Id="rId19" Type="http://schemas.openxmlformats.org/officeDocument/2006/relationships/font" Target="fonts/font4.fntdata"/><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9535" y="-9535"/>
            <a:ext cx="7156961" cy="10314108"/>
            <a:chOff x="0" y="0"/>
            <a:chExt cx="9542615" cy="13752144"/>
          </a:xfrm>
        </p:grpSpPr>
        <p:sp>
          <p:nvSpPr>
            <p:cNvPr id="3" name="Freeform 3"/>
            <p:cNvSpPr/>
            <p:nvPr/>
          </p:nvSpPr>
          <p:spPr>
            <a:xfrm>
              <a:off x="0" y="0"/>
              <a:ext cx="9542653" cy="13752195"/>
            </a:xfrm>
            <a:custGeom>
              <a:avLst/>
              <a:gdLst/>
              <a:ahLst/>
              <a:cxnLst/>
              <a:rect l="l" t="t" r="r" b="b"/>
              <a:pathLst>
                <a:path w="9542653" h="13752195">
                  <a:moveTo>
                    <a:pt x="0" y="0"/>
                  </a:moveTo>
                  <a:lnTo>
                    <a:pt x="9542653" y="0"/>
                  </a:lnTo>
                  <a:lnTo>
                    <a:pt x="9542653" y="13752195"/>
                  </a:lnTo>
                  <a:lnTo>
                    <a:pt x="0" y="13752195"/>
                  </a:lnTo>
                  <a:close/>
                </a:path>
              </a:pathLst>
            </a:custGeom>
            <a:solidFill>
              <a:srgbClr val="BFC6F8"/>
            </a:solidFill>
            <a:ln w="19065" cap="sq">
              <a:solidFill>
                <a:srgbClr val="BFC6F8"/>
              </a:solidFill>
              <a:prstDash val="solid"/>
              <a:miter/>
            </a:ln>
          </p:spPr>
        </p:sp>
      </p:grpSp>
      <p:grpSp>
        <p:nvGrpSpPr>
          <p:cNvPr id="4" name="Group 4"/>
          <p:cNvGrpSpPr/>
          <p:nvPr/>
        </p:nvGrpSpPr>
        <p:grpSpPr>
          <a:xfrm>
            <a:off x="892259" y="3806495"/>
            <a:ext cx="5353374" cy="4937427"/>
            <a:chOff x="0" y="0"/>
            <a:chExt cx="14910676" cy="13752144"/>
          </a:xfrm>
        </p:grpSpPr>
        <p:sp>
          <p:nvSpPr>
            <p:cNvPr id="5" name="Freeform 5"/>
            <p:cNvSpPr/>
            <p:nvPr/>
          </p:nvSpPr>
          <p:spPr>
            <a:xfrm>
              <a:off x="0" y="0"/>
              <a:ext cx="14910688" cy="13752195"/>
            </a:xfrm>
            <a:custGeom>
              <a:avLst/>
              <a:gdLst/>
              <a:ahLst/>
              <a:cxnLst/>
              <a:rect l="l" t="t" r="r" b="b"/>
              <a:pathLst>
                <a:path w="14910688" h="13752195">
                  <a:moveTo>
                    <a:pt x="0" y="0"/>
                  </a:moveTo>
                  <a:lnTo>
                    <a:pt x="14910688" y="0"/>
                  </a:lnTo>
                  <a:lnTo>
                    <a:pt x="14910688" y="13752195"/>
                  </a:lnTo>
                  <a:lnTo>
                    <a:pt x="0" y="13752195"/>
                  </a:lnTo>
                  <a:close/>
                </a:path>
              </a:pathLst>
            </a:custGeom>
            <a:blipFill>
              <a:blip r:embed="rId1"/>
              <a:stretch>
                <a:fillRect l="-399" r="-399"/>
              </a:stretch>
            </a:blipFill>
            <a:ln cap="sq">
              <a:noFill/>
              <a:prstDash val="solid"/>
              <a:miter/>
            </a:ln>
          </p:spPr>
        </p:sp>
      </p:grpSp>
      <p:grpSp>
        <p:nvGrpSpPr>
          <p:cNvPr id="6" name="Group 6"/>
          <p:cNvGrpSpPr/>
          <p:nvPr/>
        </p:nvGrpSpPr>
        <p:grpSpPr>
          <a:xfrm>
            <a:off x="8098765" y="1166774"/>
            <a:ext cx="9334176" cy="3019882"/>
            <a:chOff x="0" y="0"/>
            <a:chExt cx="12445568" cy="4026510"/>
          </a:xfrm>
        </p:grpSpPr>
        <p:sp>
          <p:nvSpPr>
            <p:cNvPr id="7" name="Freeform 7"/>
            <p:cNvSpPr/>
            <p:nvPr/>
          </p:nvSpPr>
          <p:spPr>
            <a:xfrm>
              <a:off x="0" y="0"/>
              <a:ext cx="12445563" cy="4026506"/>
            </a:xfrm>
            <a:custGeom>
              <a:avLst/>
              <a:gdLst/>
              <a:ahLst/>
              <a:cxnLst/>
              <a:rect l="l" t="t" r="r" b="b"/>
              <a:pathLst>
                <a:path w="12445563" h="4026506">
                  <a:moveTo>
                    <a:pt x="0" y="0"/>
                  </a:moveTo>
                  <a:lnTo>
                    <a:pt x="12445563" y="0"/>
                  </a:lnTo>
                  <a:lnTo>
                    <a:pt x="12445563" y="4026506"/>
                  </a:lnTo>
                  <a:lnTo>
                    <a:pt x="0" y="4026506"/>
                  </a:lnTo>
                  <a:close/>
                </a:path>
              </a:pathLst>
            </a:custGeom>
            <a:blipFill>
              <a:blip r:embed="rId2">
                <a:alphaModFix amt="0"/>
              </a:blip>
              <a:stretch>
                <a:fillRect t="-10226" b="-10226"/>
              </a:stretch>
            </a:blipFill>
          </p:spPr>
        </p:sp>
        <p:sp>
          <p:nvSpPr>
            <p:cNvPr id="8" name="TextBox 8"/>
            <p:cNvSpPr txBox="1"/>
            <p:nvPr/>
          </p:nvSpPr>
          <p:spPr>
            <a:xfrm>
              <a:off x="0" y="-9525"/>
              <a:ext cx="12445568" cy="4036035"/>
            </a:xfrm>
            <a:prstGeom prst="rect">
              <a:avLst/>
            </a:prstGeom>
          </p:spPr>
          <p:txBody>
            <a:bodyPr lIns="0" tIns="0" rIns="0" bIns="0" rtlCol="0" anchor="ctr"/>
            <a:lstStyle/>
            <a:p>
              <a:pPr algn="l">
                <a:lnSpc>
                  <a:spcPts val="7205"/>
                </a:lnSpc>
              </a:pPr>
              <a:r>
                <a:rPr lang="en-US" sz="6005">
                  <a:solidFill>
                    <a:srgbClr val="FFFFFF"/>
                  </a:solidFill>
                  <a:latin typeface="Georgia" panose="02040502050405020303"/>
                  <a:ea typeface="Georgia" panose="02040502050405020303"/>
                  <a:cs typeface="Georgia" panose="02040502050405020303"/>
                  <a:sym typeface="Georgia" panose="02040502050405020303"/>
                </a:rPr>
                <a:t>Supply Chain</a:t>
              </a:r>
              <a:endParaRPr lang="en-US" sz="6005">
                <a:solidFill>
                  <a:srgbClr val="FFFFFF"/>
                </a:solidFill>
                <a:latin typeface="Georgia" panose="02040502050405020303"/>
                <a:ea typeface="Georgia" panose="02040502050405020303"/>
                <a:cs typeface="Georgia" panose="02040502050405020303"/>
                <a:sym typeface="Georgia" panose="02040502050405020303"/>
              </a:endParaRPr>
            </a:p>
            <a:p>
              <a:pPr algn="l">
                <a:lnSpc>
                  <a:spcPts val="7205"/>
                </a:lnSpc>
              </a:pPr>
              <a:r>
                <a:rPr lang="en-US" sz="6005">
                  <a:solidFill>
                    <a:srgbClr val="FFFFFF"/>
                  </a:solidFill>
                  <a:latin typeface="Georgia" panose="02040502050405020303"/>
                  <a:ea typeface="Georgia" panose="02040502050405020303"/>
                  <a:cs typeface="Georgia" panose="02040502050405020303"/>
                  <a:sym typeface="Georgia" panose="02040502050405020303"/>
                </a:rPr>
                <a:t>Visibility &amp;</a:t>
              </a:r>
              <a:endParaRPr lang="en-US" sz="6005">
                <a:solidFill>
                  <a:srgbClr val="FFFFFF"/>
                </a:solidFill>
                <a:latin typeface="Georgia" panose="02040502050405020303"/>
                <a:ea typeface="Georgia" panose="02040502050405020303"/>
                <a:cs typeface="Georgia" panose="02040502050405020303"/>
                <a:sym typeface="Georgia" panose="02040502050405020303"/>
              </a:endParaRPr>
            </a:p>
            <a:p>
              <a:pPr algn="l">
                <a:lnSpc>
                  <a:spcPts val="7205"/>
                </a:lnSpc>
              </a:pPr>
              <a:r>
                <a:rPr lang="en-US" sz="6005">
                  <a:solidFill>
                    <a:srgbClr val="FFFFFF"/>
                  </a:solidFill>
                  <a:latin typeface="Georgia" panose="02040502050405020303"/>
                  <a:ea typeface="Georgia" panose="02040502050405020303"/>
                  <a:cs typeface="Georgia" panose="02040502050405020303"/>
                  <a:sym typeface="Georgia" panose="02040502050405020303"/>
                </a:rPr>
                <a:t>Optimisation</a:t>
              </a:r>
              <a:endParaRPr lang="en-US" sz="60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9" name="Group 9"/>
          <p:cNvGrpSpPr/>
          <p:nvPr/>
        </p:nvGrpSpPr>
        <p:grpSpPr>
          <a:xfrm>
            <a:off x="8236039" y="4694539"/>
            <a:ext cx="7961500" cy="631431"/>
            <a:chOff x="0" y="0"/>
            <a:chExt cx="10615333" cy="841908"/>
          </a:xfrm>
        </p:grpSpPr>
        <p:sp>
          <p:nvSpPr>
            <p:cNvPr id="10" name="Freeform 10"/>
            <p:cNvSpPr/>
            <p:nvPr/>
          </p:nvSpPr>
          <p:spPr>
            <a:xfrm>
              <a:off x="0" y="0"/>
              <a:ext cx="10615333" cy="841906"/>
            </a:xfrm>
            <a:custGeom>
              <a:avLst/>
              <a:gdLst/>
              <a:ahLst/>
              <a:cxnLst/>
              <a:rect l="l" t="t" r="r" b="b"/>
              <a:pathLst>
                <a:path w="10615333" h="841906">
                  <a:moveTo>
                    <a:pt x="0" y="0"/>
                  </a:moveTo>
                  <a:lnTo>
                    <a:pt x="10615333" y="0"/>
                  </a:lnTo>
                  <a:lnTo>
                    <a:pt x="10615333" y="841906"/>
                  </a:lnTo>
                  <a:lnTo>
                    <a:pt x="0" y="841906"/>
                  </a:lnTo>
                  <a:close/>
                </a:path>
              </a:pathLst>
            </a:custGeom>
            <a:blipFill>
              <a:blip r:embed="rId2">
                <a:alphaModFix amt="0"/>
              </a:blip>
              <a:stretch>
                <a:fillRect t="-195680" b="-195681"/>
              </a:stretch>
            </a:blipFill>
          </p:spPr>
        </p:sp>
        <p:sp>
          <p:nvSpPr>
            <p:cNvPr id="11" name="TextBox 11"/>
            <p:cNvSpPr txBox="1"/>
            <p:nvPr/>
          </p:nvSpPr>
          <p:spPr>
            <a:xfrm>
              <a:off x="0" y="9525"/>
              <a:ext cx="10615333" cy="832383"/>
            </a:xfrm>
            <a:prstGeom prst="rect">
              <a:avLst/>
            </a:prstGeom>
          </p:spPr>
          <p:txBody>
            <a:bodyPr lIns="0" tIns="0" rIns="0" bIns="0" rtlCol="0" anchor="ctr"/>
            <a:lstStyle/>
            <a:p>
              <a:pPr algn="l">
                <a:lnSpc>
                  <a:spcPts val="3965"/>
                </a:lnSpc>
              </a:pPr>
              <a:r>
                <a:rPr lang="en-US" sz="3300" b="1">
                  <a:solidFill>
                    <a:srgbClr val="C6C9F6"/>
                  </a:solidFill>
                  <a:latin typeface="Aptos Bold" panose="020B0004020202020204"/>
                  <a:ea typeface="Aptos Bold" panose="020B0004020202020204"/>
                  <a:cs typeface="Aptos Bold" panose="020B0004020202020204"/>
                  <a:sym typeface="Aptos Bold" panose="020B0004020202020204"/>
                </a:rPr>
                <a:t>Milestone 1: Data Preprocessing</a:t>
              </a:r>
              <a:endParaRPr lang="en-US" sz="3300" b="1">
                <a:solidFill>
                  <a:srgbClr val="C6C9F6"/>
                </a:solidFill>
                <a:latin typeface="Aptos Bold" panose="020B0004020202020204"/>
                <a:ea typeface="Aptos Bold" panose="020B0004020202020204"/>
                <a:cs typeface="Aptos Bold" panose="020B0004020202020204"/>
                <a:sym typeface="Aptos Bold" panose="020B0004020202020204"/>
              </a:endParaRPr>
            </a:p>
          </p:txBody>
        </p:sp>
      </p:grpSp>
      <p:grpSp>
        <p:nvGrpSpPr>
          <p:cNvPr id="12" name="Group 12"/>
          <p:cNvGrpSpPr/>
          <p:nvPr/>
        </p:nvGrpSpPr>
        <p:grpSpPr>
          <a:xfrm>
            <a:off x="8236039" y="5490686"/>
            <a:ext cx="8647833" cy="439255"/>
            <a:chOff x="0" y="0"/>
            <a:chExt cx="11530444" cy="585673"/>
          </a:xfrm>
        </p:grpSpPr>
        <p:sp>
          <p:nvSpPr>
            <p:cNvPr id="13" name="Freeform 13"/>
            <p:cNvSpPr/>
            <p:nvPr/>
          </p:nvSpPr>
          <p:spPr>
            <a:xfrm>
              <a:off x="0" y="0"/>
              <a:ext cx="11530448" cy="585674"/>
            </a:xfrm>
            <a:custGeom>
              <a:avLst/>
              <a:gdLst/>
              <a:ahLst/>
              <a:cxnLst/>
              <a:rect l="l" t="t" r="r" b="b"/>
              <a:pathLst>
                <a:path w="11530448" h="585674">
                  <a:moveTo>
                    <a:pt x="0" y="0"/>
                  </a:moveTo>
                  <a:lnTo>
                    <a:pt x="11530448" y="0"/>
                  </a:lnTo>
                  <a:lnTo>
                    <a:pt x="11530448" y="585674"/>
                  </a:lnTo>
                  <a:lnTo>
                    <a:pt x="0" y="585674"/>
                  </a:lnTo>
                  <a:close/>
                </a:path>
              </a:pathLst>
            </a:custGeom>
            <a:blipFill>
              <a:blip r:embed="rId2">
                <a:alphaModFix amt="0"/>
              </a:blip>
              <a:stretch>
                <a:fillRect t="-333611" b="-333611"/>
              </a:stretch>
            </a:blipFill>
          </p:spPr>
        </p:sp>
        <p:sp>
          <p:nvSpPr>
            <p:cNvPr id="14" name="TextBox 14"/>
            <p:cNvSpPr txBox="1"/>
            <p:nvPr/>
          </p:nvSpPr>
          <p:spPr>
            <a:xfrm>
              <a:off x="0" y="0"/>
              <a:ext cx="11530444" cy="585673"/>
            </a:xfrm>
            <a:prstGeom prst="rect">
              <a:avLst/>
            </a:prstGeom>
          </p:spPr>
          <p:txBody>
            <a:bodyPr lIns="0" tIns="0" rIns="0" bIns="0" rtlCol="0" anchor="ctr"/>
            <a:lstStyle/>
            <a:p>
              <a:pPr algn="l">
                <a:lnSpc>
                  <a:spcPts val="2790"/>
                </a:lnSpc>
              </a:pPr>
              <a:r>
                <a:rPr lang="en-US" sz="2325">
                  <a:solidFill>
                    <a:srgbClr val="D9D7F2"/>
                  </a:solidFill>
                  <a:latin typeface="Aptos"/>
                  <a:ea typeface="Aptos"/>
                  <a:cs typeface="Aptos"/>
                  <a:sym typeface="Aptos"/>
                </a:rPr>
                <a:t>Dataset: Brazilian E-Commerce / Olist merged dataset</a:t>
              </a:r>
              <a:endParaRPr lang="en-US" sz="2325">
                <a:solidFill>
                  <a:srgbClr val="D9D7F2"/>
                </a:solidFill>
                <a:latin typeface="Aptos"/>
                <a:ea typeface="Aptos"/>
                <a:cs typeface="Aptos"/>
                <a:sym typeface="Aptos"/>
              </a:endParaRPr>
            </a:p>
          </p:txBody>
        </p:sp>
      </p:grpSp>
      <p:grpSp>
        <p:nvGrpSpPr>
          <p:cNvPr id="15" name="Group 15"/>
          <p:cNvGrpSpPr/>
          <p:nvPr/>
        </p:nvGrpSpPr>
        <p:grpSpPr>
          <a:xfrm>
            <a:off x="8236039" y="8249755"/>
            <a:ext cx="8510568" cy="494167"/>
            <a:chOff x="0" y="0"/>
            <a:chExt cx="11347425" cy="658889"/>
          </a:xfrm>
        </p:grpSpPr>
        <p:sp>
          <p:nvSpPr>
            <p:cNvPr id="16" name="Freeform 16"/>
            <p:cNvSpPr/>
            <p:nvPr/>
          </p:nvSpPr>
          <p:spPr>
            <a:xfrm>
              <a:off x="0" y="0"/>
              <a:ext cx="11347425" cy="658883"/>
            </a:xfrm>
            <a:custGeom>
              <a:avLst/>
              <a:gdLst/>
              <a:ahLst/>
              <a:cxnLst/>
              <a:rect l="l" t="t" r="r" b="b"/>
              <a:pathLst>
                <a:path w="11347425" h="658883">
                  <a:moveTo>
                    <a:pt x="0" y="0"/>
                  </a:moveTo>
                  <a:lnTo>
                    <a:pt x="11347425" y="0"/>
                  </a:lnTo>
                  <a:lnTo>
                    <a:pt x="11347425" y="658883"/>
                  </a:lnTo>
                  <a:lnTo>
                    <a:pt x="0" y="658883"/>
                  </a:lnTo>
                  <a:close/>
                </a:path>
              </a:pathLst>
            </a:custGeom>
            <a:blipFill>
              <a:blip r:embed="rId2">
                <a:alphaModFix amt="0"/>
              </a:blip>
              <a:stretch>
                <a:fillRect t="-285575" b="-285576"/>
              </a:stretch>
            </a:blipFill>
          </p:spPr>
        </p:sp>
        <p:sp>
          <p:nvSpPr>
            <p:cNvPr id="17" name="TextBox 17"/>
            <p:cNvSpPr txBox="1"/>
            <p:nvPr/>
          </p:nvSpPr>
          <p:spPr>
            <a:xfrm>
              <a:off x="0" y="0"/>
              <a:ext cx="11347425" cy="658889"/>
            </a:xfrm>
            <a:prstGeom prst="rect">
              <a:avLst/>
            </a:prstGeom>
          </p:spPr>
          <p:txBody>
            <a:bodyPr lIns="0" tIns="0" rIns="0" bIns="0" rtlCol="0" anchor="ctr"/>
            <a:lstStyle/>
            <a:p>
              <a:pPr algn="l">
                <a:lnSpc>
                  <a:spcPts val="2880"/>
                </a:lnSpc>
              </a:pPr>
              <a:r>
                <a:rPr lang="en-US" sz="2400" b="1">
                  <a:solidFill>
                    <a:srgbClr val="FFFFFF"/>
                  </a:solidFill>
                  <a:latin typeface="Aptos Bold" panose="020B0004020202020204"/>
                  <a:ea typeface="Aptos Bold" panose="020B0004020202020204"/>
                  <a:cs typeface="Aptos Bold" panose="020B0004020202020204"/>
                  <a:sym typeface="Aptos Bold" panose="020B0004020202020204"/>
                </a:rPr>
                <a:t>Team 4: Mahi · Vishal · Ramya · Abdul Haseeb</a:t>
              </a:r>
              <a:endParaRPr lang="en-US" sz="240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18" name="Group 18"/>
          <p:cNvGrpSpPr/>
          <p:nvPr/>
        </p:nvGrpSpPr>
        <p:grpSpPr>
          <a:xfrm>
            <a:off x="16266166" y="9636157"/>
            <a:ext cx="1441304" cy="411804"/>
            <a:chOff x="0" y="0"/>
            <a:chExt cx="1921739" cy="549072"/>
          </a:xfrm>
        </p:grpSpPr>
        <p:sp>
          <p:nvSpPr>
            <p:cNvPr id="19" name="Freeform 19"/>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2">
                <a:alphaModFix amt="0"/>
              </a:blip>
              <a:stretch>
                <a:fillRect t="-18197" b="-18197"/>
              </a:stretch>
            </a:blipFill>
          </p:spPr>
        </p:sp>
        <p:sp>
          <p:nvSpPr>
            <p:cNvPr id="20" name="TextBox 20"/>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Page:01</a:t>
              </a:r>
              <a:endParaRPr lang="en-US" sz="2100">
                <a:solidFill>
                  <a:srgbClr val="FFFFFF"/>
                </a:solidFill>
                <a:latin typeface="Aptos"/>
                <a:ea typeface="Aptos"/>
                <a:cs typeface="Aptos"/>
                <a:sym typeface="Aptos"/>
              </a:endParaRPr>
            </a:p>
          </p:txBody>
        </p:sp>
      </p:grpSp>
      <p:grpSp>
        <p:nvGrpSpPr>
          <p:cNvPr id="21" name="Group 21"/>
          <p:cNvGrpSpPr/>
          <p:nvPr/>
        </p:nvGrpSpPr>
        <p:grpSpPr>
          <a:xfrm>
            <a:off x="2792102" y="1028700"/>
            <a:ext cx="1553688" cy="1270637"/>
            <a:chOff x="0" y="0"/>
            <a:chExt cx="543719" cy="444664"/>
          </a:xfrm>
        </p:grpSpPr>
        <p:sp>
          <p:nvSpPr>
            <p:cNvPr id="22" name="Freeform 22"/>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3"/>
              <a:stretch>
                <a:fillRect l="-4521" r="-4521"/>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0" y="-27108"/>
            <a:ext cx="7156961" cy="10314108"/>
            <a:chOff x="0" y="0"/>
            <a:chExt cx="9542615" cy="13752144"/>
          </a:xfrm>
        </p:grpSpPr>
        <p:sp>
          <p:nvSpPr>
            <p:cNvPr id="3" name="Freeform 3"/>
            <p:cNvSpPr/>
            <p:nvPr/>
          </p:nvSpPr>
          <p:spPr>
            <a:xfrm>
              <a:off x="0" y="0"/>
              <a:ext cx="9542653" cy="13752195"/>
            </a:xfrm>
            <a:custGeom>
              <a:avLst/>
              <a:gdLst/>
              <a:ahLst/>
              <a:cxnLst/>
              <a:rect l="l" t="t" r="r" b="b"/>
              <a:pathLst>
                <a:path w="9542653" h="13752195">
                  <a:moveTo>
                    <a:pt x="0" y="0"/>
                  </a:moveTo>
                  <a:lnTo>
                    <a:pt x="9542653" y="0"/>
                  </a:lnTo>
                  <a:lnTo>
                    <a:pt x="9542653" y="13752195"/>
                  </a:lnTo>
                  <a:lnTo>
                    <a:pt x="0" y="13752195"/>
                  </a:lnTo>
                  <a:close/>
                </a:path>
              </a:pathLst>
            </a:custGeom>
            <a:solidFill>
              <a:srgbClr val="BFC6F8"/>
            </a:solidFill>
            <a:ln w="19065" cap="sq">
              <a:solidFill>
                <a:srgbClr val="BFC6F8"/>
              </a:solidFill>
              <a:prstDash val="solid"/>
              <a:miter/>
            </a:ln>
          </p:spPr>
        </p:sp>
      </p:grpSp>
      <p:grpSp>
        <p:nvGrpSpPr>
          <p:cNvPr id="6" name="Group 6"/>
          <p:cNvGrpSpPr/>
          <p:nvPr/>
        </p:nvGrpSpPr>
        <p:grpSpPr>
          <a:xfrm>
            <a:off x="10210800" y="239039"/>
            <a:ext cx="9334176" cy="1132563"/>
            <a:chOff x="0" y="0"/>
            <a:chExt cx="12445568" cy="4026510"/>
          </a:xfrm>
        </p:grpSpPr>
        <p:sp>
          <p:nvSpPr>
            <p:cNvPr id="7" name="Freeform 7"/>
            <p:cNvSpPr/>
            <p:nvPr/>
          </p:nvSpPr>
          <p:spPr>
            <a:xfrm>
              <a:off x="0" y="0"/>
              <a:ext cx="12445563" cy="4026506"/>
            </a:xfrm>
            <a:custGeom>
              <a:avLst/>
              <a:gdLst/>
              <a:ahLst/>
              <a:cxnLst/>
              <a:rect l="l" t="t" r="r" b="b"/>
              <a:pathLst>
                <a:path w="12445563" h="4026506">
                  <a:moveTo>
                    <a:pt x="0" y="0"/>
                  </a:moveTo>
                  <a:lnTo>
                    <a:pt x="12445563" y="0"/>
                  </a:lnTo>
                  <a:lnTo>
                    <a:pt x="12445563" y="4026506"/>
                  </a:lnTo>
                  <a:lnTo>
                    <a:pt x="0" y="4026506"/>
                  </a:lnTo>
                  <a:close/>
                </a:path>
              </a:pathLst>
            </a:custGeom>
            <a:blipFill>
              <a:blip r:embed="rId1">
                <a:alphaModFix amt="0"/>
              </a:blip>
              <a:stretch>
                <a:fillRect t="-10226" b="-10226"/>
              </a:stretch>
            </a:blipFill>
          </p:spPr>
          <p:txBody>
            <a:bodyPr/>
            <a:lstStyle/>
            <a:p>
              <a:endParaRPr lang="en-IN" dirty="0"/>
            </a:p>
          </p:txBody>
        </p:sp>
        <p:sp>
          <p:nvSpPr>
            <p:cNvPr id="8" name="TextBox 8"/>
            <p:cNvSpPr txBox="1"/>
            <p:nvPr/>
          </p:nvSpPr>
          <p:spPr>
            <a:xfrm>
              <a:off x="0" y="-9525"/>
              <a:ext cx="12445568" cy="4036035"/>
            </a:xfrm>
            <a:prstGeom prst="rect">
              <a:avLst/>
            </a:prstGeom>
          </p:spPr>
          <p:txBody>
            <a:bodyPr lIns="0" tIns="0" rIns="0" bIns="0" rtlCol="0" anchor="ctr"/>
            <a:lstStyle/>
            <a:p>
              <a:pPr algn="l">
                <a:lnSpc>
                  <a:spcPts val="7205"/>
                </a:lnSpc>
              </a:pPr>
              <a:endParaRPr lang="en-US" sz="6005" dirty="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9" name="Group 9"/>
          <p:cNvGrpSpPr/>
          <p:nvPr/>
        </p:nvGrpSpPr>
        <p:grpSpPr>
          <a:xfrm>
            <a:off x="9601200" y="1524740"/>
            <a:ext cx="7961500" cy="631431"/>
            <a:chOff x="0" y="0"/>
            <a:chExt cx="10615333" cy="841908"/>
          </a:xfrm>
        </p:grpSpPr>
        <p:sp>
          <p:nvSpPr>
            <p:cNvPr id="10" name="Freeform 10"/>
            <p:cNvSpPr>
              <a:spLocks noGrp="1" noRot="1" noMove="1" noResize="1" noEditPoints="1" noAdjustHandles="1" noChangeArrowheads="1" noChangeShapeType="1"/>
            </p:cNvSpPr>
            <p:nvPr/>
          </p:nvSpPr>
          <p:spPr>
            <a:xfrm>
              <a:off x="0" y="0"/>
              <a:ext cx="10615333" cy="841906"/>
            </a:xfrm>
            <a:custGeom>
              <a:avLst/>
              <a:gdLst/>
              <a:ahLst/>
              <a:cxnLst/>
              <a:rect l="l" t="t" r="r" b="b"/>
              <a:pathLst>
                <a:path w="10615333" h="841906">
                  <a:moveTo>
                    <a:pt x="0" y="0"/>
                  </a:moveTo>
                  <a:lnTo>
                    <a:pt x="10615333" y="0"/>
                  </a:lnTo>
                  <a:lnTo>
                    <a:pt x="10615333" y="841906"/>
                  </a:lnTo>
                  <a:lnTo>
                    <a:pt x="0" y="841906"/>
                  </a:lnTo>
                  <a:close/>
                </a:path>
              </a:pathLst>
            </a:custGeom>
            <a:blipFill>
              <a:blip r:embed="rId1">
                <a:alphaModFix amt="0"/>
              </a:blip>
              <a:stretch>
                <a:fillRect t="-195680" b="-195681"/>
              </a:stretch>
            </a:blipFill>
          </p:spPr>
          <p:txBody>
            <a:bodyPr/>
            <a:lstStyle/>
            <a:p>
              <a:r>
                <a:rPr lang="en-IN" sz="4400" b="1" dirty="0">
                  <a:solidFill>
                    <a:schemeClr val="bg1"/>
                  </a:solidFill>
                  <a:latin typeface="Algerian" panose="04020705040A02060702" pitchFamily="82" charset="0"/>
                </a:rPr>
                <a:t>About The Dataset</a:t>
              </a:r>
              <a:endParaRPr lang="en-IN" sz="4400" b="1" dirty="0">
                <a:solidFill>
                  <a:schemeClr val="bg1"/>
                </a:solidFill>
                <a:latin typeface="Algerian" panose="04020705040A02060702" pitchFamily="82" charset="0"/>
              </a:endParaRPr>
            </a:p>
          </p:txBody>
        </p:sp>
        <p:sp>
          <p:nvSpPr>
            <p:cNvPr id="11" name="TextBox 11"/>
            <p:cNvSpPr txBox="1"/>
            <p:nvPr/>
          </p:nvSpPr>
          <p:spPr>
            <a:xfrm>
              <a:off x="0" y="9525"/>
              <a:ext cx="10615333" cy="832383"/>
            </a:xfrm>
            <a:prstGeom prst="rect">
              <a:avLst/>
            </a:prstGeom>
          </p:spPr>
          <p:txBody>
            <a:bodyPr lIns="0" tIns="0" rIns="0" bIns="0" rtlCol="0" anchor="ctr"/>
            <a:lstStyle/>
            <a:p>
              <a:pPr algn="l">
                <a:lnSpc>
                  <a:spcPts val="3965"/>
                </a:lnSpc>
              </a:pPr>
              <a:endParaRPr lang="en-US" sz="3300" b="1" dirty="0">
                <a:solidFill>
                  <a:srgbClr val="C6C9F6"/>
                </a:solidFill>
                <a:latin typeface="Aptos Bold" panose="020B0004020202020204"/>
                <a:ea typeface="Aptos Bold" panose="020B0004020202020204"/>
                <a:cs typeface="Aptos Bold" panose="020B0004020202020204"/>
                <a:sym typeface="Aptos Bold" panose="020B0004020202020204"/>
              </a:endParaRPr>
            </a:p>
          </p:txBody>
        </p:sp>
      </p:grpSp>
      <p:grpSp>
        <p:nvGrpSpPr>
          <p:cNvPr id="12" name="Group 12"/>
          <p:cNvGrpSpPr>
            <a:grpSpLocks noGrp="1" noRot="1" noMove="1" noResize="1" noUngrp="1"/>
          </p:cNvGrpSpPr>
          <p:nvPr/>
        </p:nvGrpSpPr>
        <p:grpSpPr>
          <a:xfrm>
            <a:off x="7618333" y="2320501"/>
            <a:ext cx="10502714" cy="7966495"/>
            <a:chOff x="0" y="0"/>
            <a:chExt cx="11683792" cy="652064"/>
          </a:xfrm>
        </p:grpSpPr>
        <p:sp>
          <p:nvSpPr>
            <p:cNvPr id="13" name="Freeform 13"/>
            <p:cNvSpPr/>
            <p:nvPr/>
          </p:nvSpPr>
          <p:spPr>
            <a:xfrm>
              <a:off x="153344" y="66390"/>
              <a:ext cx="11530448" cy="585674"/>
            </a:xfrm>
            <a:custGeom>
              <a:avLst/>
              <a:gdLst/>
              <a:ahLst/>
              <a:cxnLst/>
              <a:rect l="l" t="t" r="r" b="b"/>
              <a:pathLst>
                <a:path w="11530448" h="585674">
                  <a:moveTo>
                    <a:pt x="0" y="0"/>
                  </a:moveTo>
                  <a:lnTo>
                    <a:pt x="11530448" y="0"/>
                  </a:lnTo>
                  <a:lnTo>
                    <a:pt x="11530448" y="585674"/>
                  </a:lnTo>
                  <a:lnTo>
                    <a:pt x="0" y="585674"/>
                  </a:lnTo>
                  <a:close/>
                </a:path>
              </a:pathLst>
            </a:custGeom>
            <a:blipFill>
              <a:blip r:embed="rId1">
                <a:alphaModFix amt="0"/>
              </a:blip>
              <a:stretch>
                <a:fillRect t="-333611" b="-333611"/>
              </a:stretch>
            </a:blipFill>
          </p:spPr>
          <p:txBody>
            <a:bodyPr/>
            <a:lstStyle/>
            <a:p>
              <a:r>
                <a:rPr lang="en-IN" sz="4000" dirty="0">
                  <a:solidFill>
                    <a:schemeClr val="bg1"/>
                  </a:solidFill>
                  <a:latin typeface="Arial Narrow" panose="020B0606020202030204" pitchFamily="34" charset="0"/>
                </a:rPr>
                <a:t>The Brazilian E-Commerce Public Dataset by </a:t>
              </a:r>
              <a:r>
                <a:rPr lang="en-IN" sz="4000" dirty="0" err="1">
                  <a:solidFill>
                    <a:schemeClr val="bg1"/>
                  </a:solidFill>
                  <a:latin typeface="Arial Narrow" panose="020B0606020202030204" pitchFamily="34" charset="0"/>
                </a:rPr>
                <a:t>Olist</a:t>
              </a:r>
              <a:r>
                <a:rPr lang="en-IN" sz="4000" dirty="0">
                  <a:solidFill>
                    <a:schemeClr val="bg1"/>
                  </a:solidFill>
                  <a:latin typeface="Arial Narrow" panose="020B0606020202030204" pitchFamily="34" charset="0"/>
                </a:rPr>
                <a:t> is a real-world e-commerce dataset containing information on approximately 100,000 customer orders placed between 2016 and 2018 across multiple online marketplaces in Brazil. It includes comprehensive data related to customers, sellers, products, payments, deliveries, and customer reviews, enabling end-to-end analysis of the order lifecycle</a:t>
              </a:r>
              <a:r>
                <a:rPr lang="en-IN" dirty="0">
                  <a:solidFill>
                    <a:schemeClr val="bg1"/>
                  </a:solidFill>
                  <a:latin typeface="Arial Narrow" panose="020B0606020202030204" pitchFamily="34" charset="0"/>
                </a:rPr>
                <a:t>.</a:t>
              </a:r>
              <a:endParaRPr lang="en-IN" dirty="0">
                <a:solidFill>
                  <a:schemeClr val="bg1"/>
                </a:solidFill>
                <a:latin typeface="Arial Narrow" panose="020B0606020202030204" pitchFamily="34" charset="0"/>
              </a:endParaRPr>
            </a:p>
          </p:txBody>
        </p:sp>
        <p:sp>
          <p:nvSpPr>
            <p:cNvPr id="14" name="TextBox 14"/>
            <p:cNvSpPr txBox="1">
              <a:spLocks noGrp="1" noRot="1" noMove="1" noResize="1" noEditPoints="1" noAdjustHandles="1" noChangeArrowheads="1" noChangeShapeType="1"/>
            </p:cNvSpPr>
            <p:nvPr/>
          </p:nvSpPr>
          <p:spPr>
            <a:xfrm>
              <a:off x="0" y="0"/>
              <a:ext cx="11530444" cy="585673"/>
            </a:xfrm>
            <a:prstGeom prst="rect">
              <a:avLst/>
            </a:prstGeom>
          </p:spPr>
          <p:txBody>
            <a:bodyPr lIns="0" tIns="0" rIns="0" bIns="0" rtlCol="0" anchor="ctr"/>
            <a:lstStyle/>
            <a:p>
              <a:pPr algn="l">
                <a:lnSpc>
                  <a:spcPts val="2790"/>
                </a:lnSpc>
              </a:pPr>
              <a:endParaRPr lang="en-US" sz="2325" dirty="0">
                <a:solidFill>
                  <a:srgbClr val="D9D7F2"/>
                </a:solidFill>
                <a:latin typeface="Aptos"/>
                <a:ea typeface="Aptos"/>
                <a:cs typeface="Aptos"/>
                <a:sym typeface="Aptos"/>
              </a:endParaRPr>
            </a:p>
          </p:txBody>
        </p:sp>
      </p:grpSp>
      <p:grpSp>
        <p:nvGrpSpPr>
          <p:cNvPr id="15" name="Group 15"/>
          <p:cNvGrpSpPr>
            <a:grpSpLocks noGrp="1" noRot="1" noMove="1" noResize="1" noUngrp="1"/>
          </p:cNvGrpSpPr>
          <p:nvPr/>
        </p:nvGrpSpPr>
        <p:grpSpPr>
          <a:xfrm>
            <a:off x="8236039" y="8249755"/>
            <a:ext cx="8510568" cy="494167"/>
            <a:chOff x="0" y="0"/>
            <a:chExt cx="11347425" cy="658889"/>
          </a:xfrm>
        </p:grpSpPr>
        <p:sp>
          <p:nvSpPr>
            <p:cNvPr id="16" name="Freeform 16"/>
            <p:cNvSpPr>
              <a:spLocks noGrp="1" noRot="1" noMove="1" noResize="1" noEditPoints="1" noAdjustHandles="1" noChangeArrowheads="1" noChangeShapeType="1"/>
            </p:cNvSpPr>
            <p:nvPr/>
          </p:nvSpPr>
          <p:spPr>
            <a:xfrm>
              <a:off x="0" y="0"/>
              <a:ext cx="11347425" cy="658883"/>
            </a:xfrm>
            <a:custGeom>
              <a:avLst/>
              <a:gdLst/>
              <a:ahLst/>
              <a:cxnLst/>
              <a:rect l="l" t="t" r="r" b="b"/>
              <a:pathLst>
                <a:path w="11347425" h="658883">
                  <a:moveTo>
                    <a:pt x="0" y="0"/>
                  </a:moveTo>
                  <a:lnTo>
                    <a:pt x="11347425" y="0"/>
                  </a:lnTo>
                  <a:lnTo>
                    <a:pt x="11347425" y="658883"/>
                  </a:lnTo>
                  <a:lnTo>
                    <a:pt x="0" y="658883"/>
                  </a:lnTo>
                  <a:close/>
                </a:path>
              </a:pathLst>
            </a:custGeom>
            <a:blipFill>
              <a:blip r:embed="rId1">
                <a:alphaModFix amt="0"/>
              </a:blip>
              <a:stretch>
                <a:fillRect t="-285575" b="-285576"/>
              </a:stretch>
            </a:blipFill>
          </p:spPr>
        </p:sp>
        <p:sp>
          <p:nvSpPr>
            <p:cNvPr id="17" name="TextBox 17"/>
            <p:cNvSpPr txBox="1">
              <a:spLocks noGrp="1" noRot="1" noMove="1" noResize="1" noEditPoints="1" noAdjustHandles="1" noChangeArrowheads="1" noChangeShapeType="1"/>
            </p:cNvSpPr>
            <p:nvPr/>
          </p:nvSpPr>
          <p:spPr>
            <a:xfrm>
              <a:off x="0" y="0"/>
              <a:ext cx="11347425" cy="658889"/>
            </a:xfrm>
            <a:prstGeom prst="rect">
              <a:avLst/>
            </a:prstGeom>
          </p:spPr>
          <p:txBody>
            <a:bodyPr lIns="0" tIns="0" rIns="0" bIns="0" rtlCol="0" anchor="ctr"/>
            <a:lstStyle/>
            <a:p>
              <a:pPr algn="l">
                <a:lnSpc>
                  <a:spcPts val="2880"/>
                </a:lnSpc>
              </a:pPr>
              <a:endParaRPr lang="en-US" sz="2400" b="1" dirty="0">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18" name="Group 18"/>
          <p:cNvGrpSpPr/>
          <p:nvPr/>
        </p:nvGrpSpPr>
        <p:grpSpPr>
          <a:xfrm>
            <a:off x="16266166" y="9636157"/>
            <a:ext cx="1441304" cy="411804"/>
            <a:chOff x="0" y="0"/>
            <a:chExt cx="1921739" cy="549072"/>
          </a:xfrm>
        </p:grpSpPr>
        <p:sp>
          <p:nvSpPr>
            <p:cNvPr id="19" name="Freeform 19"/>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1">
                <a:alphaModFix amt="0"/>
              </a:blip>
              <a:stretch>
                <a:fillRect t="-18197" b="-18197"/>
              </a:stretch>
            </a:blipFill>
          </p:spPr>
        </p:sp>
        <p:sp>
          <p:nvSpPr>
            <p:cNvPr id="20" name="TextBox 20"/>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a:t>
              </a:r>
              <a:r>
                <a:rPr lang="en-IN" altLang="en-US" sz="2100">
                  <a:solidFill>
                    <a:srgbClr val="FFFFFF"/>
                  </a:solidFill>
                  <a:latin typeface="Aptos"/>
                  <a:ea typeface="Aptos"/>
                  <a:cs typeface="Aptos"/>
                  <a:sym typeface="Aptos"/>
                </a:rPr>
                <a:t>2</a:t>
              </a:r>
              <a:endParaRPr lang="en-IN" altLang="en-US" sz="2100">
                <a:solidFill>
                  <a:srgbClr val="FFFFFF"/>
                </a:solidFill>
                <a:latin typeface="Aptos"/>
                <a:ea typeface="Aptos"/>
                <a:cs typeface="Aptos"/>
                <a:sym typeface="Aptos"/>
              </a:endParaRPr>
            </a:p>
          </p:txBody>
        </p:sp>
      </p:grpSp>
      <p:grpSp>
        <p:nvGrpSpPr>
          <p:cNvPr id="21" name="Group 21"/>
          <p:cNvGrpSpPr/>
          <p:nvPr/>
        </p:nvGrpSpPr>
        <p:grpSpPr>
          <a:xfrm>
            <a:off x="2792102" y="1028700"/>
            <a:ext cx="1553688" cy="1270637"/>
            <a:chOff x="0" y="0"/>
            <a:chExt cx="543719" cy="444664"/>
          </a:xfrm>
        </p:grpSpPr>
        <p:sp>
          <p:nvSpPr>
            <p:cNvPr id="22" name="Freeform 22"/>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2"/>
              <a:stretch>
                <a:fillRect l="-4521" r="-4521"/>
              </a:stretch>
            </a:blipFill>
          </p:spPr>
        </p:sp>
      </p:gr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84" y="3220601"/>
            <a:ext cx="5880523" cy="525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9535" y="-9535"/>
            <a:ext cx="18320909" cy="10314108"/>
            <a:chOff x="0" y="0"/>
            <a:chExt cx="24427878" cy="13752144"/>
          </a:xfrm>
        </p:grpSpPr>
        <p:sp>
          <p:nvSpPr>
            <p:cNvPr id="3" name="Freeform 3"/>
            <p:cNvSpPr/>
            <p:nvPr/>
          </p:nvSpPr>
          <p:spPr>
            <a:xfrm>
              <a:off x="0" y="0"/>
              <a:ext cx="24427814" cy="13752195"/>
            </a:xfrm>
            <a:custGeom>
              <a:avLst/>
              <a:gdLst/>
              <a:ahLst/>
              <a:cxnLst/>
              <a:rect l="l" t="t" r="r" b="b"/>
              <a:pathLst>
                <a:path w="24427814" h="13752195">
                  <a:moveTo>
                    <a:pt x="0" y="0"/>
                  </a:moveTo>
                  <a:lnTo>
                    <a:pt x="24427814" y="0"/>
                  </a:lnTo>
                  <a:lnTo>
                    <a:pt x="24427814" y="13752195"/>
                  </a:lnTo>
                  <a:lnTo>
                    <a:pt x="0" y="13752195"/>
                  </a:lnTo>
                  <a:close/>
                </a:path>
              </a:pathLst>
            </a:custGeom>
            <a:solidFill>
              <a:srgbClr val="3B1368"/>
            </a:solidFill>
            <a:ln w="19065" cap="sq">
              <a:solidFill>
                <a:srgbClr val="3B1368"/>
              </a:solidFill>
              <a:prstDash val="solid"/>
              <a:miter/>
            </a:ln>
          </p:spPr>
        </p:sp>
      </p:grpSp>
      <p:grpSp>
        <p:nvGrpSpPr>
          <p:cNvPr id="4" name="Group 4"/>
          <p:cNvGrpSpPr/>
          <p:nvPr/>
        </p:nvGrpSpPr>
        <p:grpSpPr>
          <a:xfrm>
            <a:off x="-9535" y="-13554"/>
            <a:ext cx="4222090" cy="10314108"/>
            <a:chOff x="0" y="0"/>
            <a:chExt cx="5629453" cy="13752144"/>
          </a:xfrm>
        </p:grpSpPr>
        <p:sp>
          <p:nvSpPr>
            <p:cNvPr id="5" name="Freeform 5"/>
            <p:cNvSpPr/>
            <p:nvPr/>
          </p:nvSpPr>
          <p:spPr>
            <a:xfrm>
              <a:off x="0" y="0"/>
              <a:ext cx="5629415" cy="13752195"/>
            </a:xfrm>
            <a:custGeom>
              <a:avLst/>
              <a:gdLst/>
              <a:ahLst/>
              <a:cxnLst/>
              <a:rect l="l" t="t" r="r" b="b"/>
              <a:pathLst>
                <a:path w="5629415" h="13752195">
                  <a:moveTo>
                    <a:pt x="0" y="0"/>
                  </a:moveTo>
                  <a:lnTo>
                    <a:pt x="5629415" y="0"/>
                  </a:lnTo>
                  <a:lnTo>
                    <a:pt x="5629415" y="13752195"/>
                  </a:lnTo>
                  <a:lnTo>
                    <a:pt x="0" y="13752195"/>
                  </a:lnTo>
                  <a:close/>
                </a:path>
              </a:pathLst>
            </a:custGeom>
            <a:solidFill>
              <a:srgbClr val="BFC6F8"/>
            </a:solidFill>
            <a:ln w="19065" cap="sq">
              <a:solidFill>
                <a:srgbClr val="BFC6F8"/>
              </a:solidFill>
              <a:prstDash val="solid"/>
              <a:miter/>
            </a:ln>
          </p:spPr>
        </p:sp>
      </p:grpSp>
      <p:grpSp>
        <p:nvGrpSpPr>
          <p:cNvPr id="6" name="Group 6"/>
          <p:cNvGrpSpPr/>
          <p:nvPr/>
        </p:nvGrpSpPr>
        <p:grpSpPr>
          <a:xfrm>
            <a:off x="4793232" y="9636157"/>
            <a:ext cx="3157147" cy="411804"/>
            <a:chOff x="0" y="0"/>
            <a:chExt cx="4209529" cy="549072"/>
          </a:xfrm>
        </p:grpSpPr>
        <p:sp>
          <p:nvSpPr>
            <p:cNvPr id="7" name="Freeform 7"/>
            <p:cNvSpPr/>
            <p:nvPr/>
          </p:nvSpPr>
          <p:spPr>
            <a:xfrm>
              <a:off x="0" y="0"/>
              <a:ext cx="4209529" cy="549069"/>
            </a:xfrm>
            <a:custGeom>
              <a:avLst/>
              <a:gdLst/>
              <a:ahLst/>
              <a:cxnLst/>
              <a:rect l="l" t="t" r="r" b="b"/>
              <a:pathLst>
                <a:path w="4209529" h="549069">
                  <a:moveTo>
                    <a:pt x="0" y="0"/>
                  </a:moveTo>
                  <a:lnTo>
                    <a:pt x="4209529" y="0"/>
                  </a:lnTo>
                  <a:lnTo>
                    <a:pt x="4209529" y="549069"/>
                  </a:lnTo>
                  <a:lnTo>
                    <a:pt x="0" y="549069"/>
                  </a:lnTo>
                  <a:close/>
                </a:path>
              </a:pathLst>
            </a:custGeom>
            <a:blipFill>
              <a:blip r:embed="rId1">
                <a:alphaModFix amt="0"/>
              </a:blip>
              <a:stretch>
                <a:fillRect t="-99385" b="-99385"/>
              </a:stretch>
            </a:blipFill>
          </p:spPr>
        </p:sp>
        <p:sp>
          <p:nvSpPr>
            <p:cNvPr id="8" name="TextBox 8"/>
            <p:cNvSpPr txBox="1"/>
            <p:nvPr/>
          </p:nvSpPr>
          <p:spPr>
            <a:xfrm>
              <a:off x="0" y="0"/>
              <a:ext cx="4209529" cy="549072"/>
            </a:xfrm>
            <a:prstGeom prst="rect">
              <a:avLst/>
            </a:prstGeom>
          </p:spPr>
          <p:txBody>
            <a:bodyPr lIns="0" tIns="0" rIns="0" bIns="0" rtlCol="0" anchor="ctr"/>
            <a:lstStyle/>
            <a:p>
              <a:pPr algn="l">
                <a:lnSpc>
                  <a:spcPts val="3240"/>
                </a:lnSpc>
              </a:pPr>
              <a:r>
                <a:rPr lang="en-US" sz="2700">
                  <a:solidFill>
                    <a:srgbClr val="FFFFFF"/>
                  </a:solidFill>
                  <a:latin typeface="Aptos"/>
                  <a:ea typeface="Aptos"/>
                  <a:cs typeface="Aptos"/>
                  <a:sym typeface="Aptos"/>
                </a:rPr>
                <a:t>Milestone 1</a:t>
              </a:r>
              <a:endParaRPr lang="en-US" sz="2700">
                <a:solidFill>
                  <a:srgbClr val="FFFFFF"/>
                </a:solidFill>
                <a:latin typeface="Aptos"/>
                <a:ea typeface="Aptos"/>
                <a:cs typeface="Aptos"/>
                <a:sym typeface="Aptos"/>
              </a:endParaRPr>
            </a:p>
          </p:txBody>
        </p:sp>
      </p:grpSp>
      <p:grpSp>
        <p:nvGrpSpPr>
          <p:cNvPr id="9" name="Group 9"/>
          <p:cNvGrpSpPr/>
          <p:nvPr/>
        </p:nvGrpSpPr>
        <p:grpSpPr>
          <a:xfrm>
            <a:off x="16266166" y="9636157"/>
            <a:ext cx="1441304" cy="411804"/>
            <a:chOff x="0" y="0"/>
            <a:chExt cx="1921739" cy="549072"/>
          </a:xfrm>
        </p:grpSpPr>
        <p:sp>
          <p:nvSpPr>
            <p:cNvPr id="10" name="Freeform 10"/>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1">
                <a:alphaModFix amt="0"/>
              </a:blip>
              <a:stretch>
                <a:fillRect t="-18197" b="-18197"/>
              </a:stretch>
            </a:blipFill>
          </p:spPr>
        </p:sp>
        <p:sp>
          <p:nvSpPr>
            <p:cNvPr id="11" name="TextBox 11"/>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a:t>
              </a:r>
              <a:r>
                <a:rPr lang="en-IN" altLang="en-US" sz="2100">
                  <a:solidFill>
                    <a:srgbClr val="FFFFFF"/>
                  </a:solidFill>
                  <a:latin typeface="Aptos"/>
                  <a:ea typeface="Aptos"/>
                  <a:cs typeface="Aptos"/>
                  <a:sym typeface="Aptos"/>
                </a:rPr>
                <a:t>3</a:t>
              </a:r>
              <a:endParaRPr lang="en-IN" altLang="en-US" sz="2100">
                <a:solidFill>
                  <a:srgbClr val="FFFFFF"/>
                </a:solidFill>
                <a:latin typeface="Aptos"/>
                <a:ea typeface="Aptos"/>
                <a:cs typeface="Aptos"/>
                <a:sym typeface="Aptos"/>
              </a:endParaRPr>
            </a:p>
          </p:txBody>
        </p:sp>
      </p:grpSp>
      <p:grpSp>
        <p:nvGrpSpPr>
          <p:cNvPr id="12" name="Group 12"/>
          <p:cNvGrpSpPr/>
          <p:nvPr/>
        </p:nvGrpSpPr>
        <p:grpSpPr>
          <a:xfrm>
            <a:off x="4982299" y="768696"/>
            <a:ext cx="13452186" cy="823608"/>
            <a:chOff x="0" y="0"/>
            <a:chExt cx="17936248" cy="1098144"/>
          </a:xfrm>
        </p:grpSpPr>
        <p:sp>
          <p:nvSpPr>
            <p:cNvPr id="13" name="Freeform 13"/>
            <p:cNvSpPr/>
            <p:nvPr/>
          </p:nvSpPr>
          <p:spPr>
            <a:xfrm>
              <a:off x="0" y="0"/>
              <a:ext cx="17936252" cy="1098138"/>
            </a:xfrm>
            <a:custGeom>
              <a:avLst/>
              <a:gdLst/>
              <a:ahLst/>
              <a:cxnLst/>
              <a:rect l="l" t="t" r="r" b="b"/>
              <a:pathLst>
                <a:path w="17936252" h="1098138">
                  <a:moveTo>
                    <a:pt x="0" y="0"/>
                  </a:moveTo>
                  <a:lnTo>
                    <a:pt x="17936252" y="0"/>
                  </a:lnTo>
                  <a:lnTo>
                    <a:pt x="17936252" y="1098138"/>
                  </a:lnTo>
                  <a:lnTo>
                    <a:pt x="0" y="1098138"/>
                  </a:lnTo>
                  <a:close/>
                </a:path>
              </a:pathLst>
            </a:custGeom>
            <a:blipFill>
              <a:blip r:embed="rId1">
                <a:alphaModFix amt="0"/>
              </a:blip>
              <a:stretch>
                <a:fillRect t="-268255" b="-268255"/>
              </a:stretch>
            </a:blipFill>
          </p:spPr>
        </p:sp>
        <p:sp>
          <p:nvSpPr>
            <p:cNvPr id="14" name="TextBox 14"/>
            <p:cNvSpPr txBox="1"/>
            <p:nvPr/>
          </p:nvSpPr>
          <p:spPr>
            <a:xfrm>
              <a:off x="0" y="-9525"/>
              <a:ext cx="17936248" cy="1107669"/>
            </a:xfrm>
            <a:prstGeom prst="rect">
              <a:avLst/>
            </a:prstGeom>
          </p:spPr>
          <p:txBody>
            <a:bodyPr lIns="0" tIns="0" rIns="0" bIns="0" rtlCol="0" anchor="ctr"/>
            <a:lstStyle/>
            <a:p>
              <a:pPr algn="l">
                <a:lnSpc>
                  <a:spcPts val="7205"/>
                </a:lnSpc>
              </a:pPr>
              <a:r>
                <a:rPr lang="en-US" sz="6005" dirty="0">
                  <a:solidFill>
                    <a:srgbClr val="FFFFFF"/>
                  </a:solidFill>
                  <a:latin typeface="Georgia" panose="02040502050405020303"/>
                  <a:ea typeface="Georgia" panose="02040502050405020303"/>
                  <a:cs typeface="Georgia" panose="02040502050405020303"/>
                  <a:sym typeface="Georgia" panose="02040502050405020303"/>
                </a:rPr>
                <a:t>Dataset Overview</a:t>
              </a:r>
              <a:endParaRPr lang="en-US" sz="6005" dirty="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15" name="Group 15"/>
          <p:cNvGrpSpPr/>
          <p:nvPr/>
        </p:nvGrpSpPr>
        <p:grpSpPr>
          <a:xfrm>
            <a:off x="5023475" y="1811931"/>
            <a:ext cx="12765853" cy="466706"/>
            <a:chOff x="0" y="0"/>
            <a:chExt cx="17021137" cy="622275"/>
          </a:xfrm>
        </p:grpSpPr>
        <p:sp>
          <p:nvSpPr>
            <p:cNvPr id="16" name="Freeform 16"/>
            <p:cNvSpPr/>
            <p:nvPr/>
          </p:nvSpPr>
          <p:spPr>
            <a:xfrm>
              <a:off x="0" y="0"/>
              <a:ext cx="17021138" cy="622278"/>
            </a:xfrm>
            <a:custGeom>
              <a:avLst/>
              <a:gdLst/>
              <a:ahLst/>
              <a:cxnLst/>
              <a:rect l="l" t="t" r="r" b="b"/>
              <a:pathLst>
                <a:path w="17021138" h="622278">
                  <a:moveTo>
                    <a:pt x="0" y="0"/>
                  </a:moveTo>
                  <a:lnTo>
                    <a:pt x="17021138" y="0"/>
                  </a:lnTo>
                  <a:lnTo>
                    <a:pt x="17021138" y="622278"/>
                  </a:lnTo>
                  <a:lnTo>
                    <a:pt x="0" y="622278"/>
                  </a:lnTo>
                  <a:close/>
                </a:path>
              </a:pathLst>
            </a:custGeom>
            <a:blipFill>
              <a:blip r:embed="rId1">
                <a:alphaModFix amt="0"/>
              </a:blip>
              <a:stretch>
                <a:fillRect t="-482973" b="-482972"/>
              </a:stretch>
            </a:blipFill>
          </p:spPr>
        </p:sp>
        <p:sp>
          <p:nvSpPr>
            <p:cNvPr id="17" name="TextBox 17"/>
            <p:cNvSpPr txBox="1"/>
            <p:nvPr/>
          </p:nvSpPr>
          <p:spPr>
            <a:xfrm>
              <a:off x="0" y="0"/>
              <a:ext cx="17021137" cy="622275"/>
            </a:xfrm>
            <a:prstGeom prst="rect">
              <a:avLst/>
            </a:prstGeom>
          </p:spPr>
          <p:txBody>
            <a:bodyPr lIns="0" tIns="0" rIns="0" bIns="0" rtlCol="0" anchor="ctr"/>
            <a:lstStyle/>
            <a:p>
              <a:pPr algn="l">
                <a:lnSpc>
                  <a:spcPts val="3060"/>
                </a:lnSpc>
              </a:pPr>
              <a:r>
                <a:rPr lang="en-US" sz="2550">
                  <a:solidFill>
                    <a:srgbClr val="D9D7F2"/>
                  </a:solidFill>
                  <a:latin typeface="Aptos"/>
                  <a:ea typeface="Aptos"/>
                  <a:cs typeface="Aptos"/>
                  <a:sym typeface="Aptos"/>
                </a:rPr>
                <a:t>Merged e-commerce supply-chain data prepared for visibility, delivery and freight analysis.</a:t>
              </a:r>
              <a:endParaRPr lang="en-US" sz="2550">
                <a:solidFill>
                  <a:srgbClr val="D9D7F2"/>
                </a:solidFill>
                <a:latin typeface="Aptos"/>
                <a:ea typeface="Aptos"/>
                <a:cs typeface="Aptos"/>
                <a:sym typeface="Aptos"/>
              </a:endParaRPr>
            </a:p>
          </p:txBody>
        </p:sp>
      </p:grpSp>
      <p:grpSp>
        <p:nvGrpSpPr>
          <p:cNvPr id="18" name="Group 18"/>
          <p:cNvGrpSpPr/>
          <p:nvPr/>
        </p:nvGrpSpPr>
        <p:grpSpPr>
          <a:xfrm>
            <a:off x="4831680" y="2800636"/>
            <a:ext cx="2909306" cy="1618993"/>
            <a:chOff x="0" y="0"/>
            <a:chExt cx="3879075" cy="2158657"/>
          </a:xfrm>
        </p:grpSpPr>
        <p:sp>
          <p:nvSpPr>
            <p:cNvPr id="19" name="Freeform 19"/>
            <p:cNvSpPr/>
            <p:nvPr/>
          </p:nvSpPr>
          <p:spPr>
            <a:xfrm>
              <a:off x="0" y="0"/>
              <a:ext cx="3879088" cy="2158746"/>
            </a:xfrm>
            <a:custGeom>
              <a:avLst/>
              <a:gdLst/>
              <a:ahLst/>
              <a:cxnLst/>
              <a:rect l="l" t="t" r="r" b="b"/>
              <a:pathLst>
                <a:path w="3879088" h="2158746">
                  <a:moveTo>
                    <a:pt x="0" y="167513"/>
                  </a:moveTo>
                  <a:cubicBezTo>
                    <a:pt x="0" y="74930"/>
                    <a:pt x="74930" y="0"/>
                    <a:pt x="167513" y="0"/>
                  </a:cubicBezTo>
                  <a:lnTo>
                    <a:pt x="3711575" y="0"/>
                  </a:lnTo>
                  <a:cubicBezTo>
                    <a:pt x="3804031" y="0"/>
                    <a:pt x="3879088" y="74930"/>
                    <a:pt x="3879088" y="167513"/>
                  </a:cubicBezTo>
                  <a:lnTo>
                    <a:pt x="3879088" y="1991233"/>
                  </a:lnTo>
                  <a:cubicBezTo>
                    <a:pt x="3879088" y="2083689"/>
                    <a:pt x="3804158" y="2158746"/>
                    <a:pt x="3711575" y="2158746"/>
                  </a:cubicBezTo>
                  <a:lnTo>
                    <a:pt x="167513" y="2158746"/>
                  </a:lnTo>
                  <a:cubicBezTo>
                    <a:pt x="74930" y="2158619"/>
                    <a:pt x="0" y="2083689"/>
                    <a:pt x="0" y="1991106"/>
                  </a:cubicBezTo>
                  <a:close/>
                </a:path>
              </a:pathLst>
            </a:custGeom>
            <a:solidFill>
              <a:srgbClr val="829BDC"/>
            </a:solidFill>
            <a:ln w="26691" cap="sq">
              <a:solidFill>
                <a:srgbClr val="1B0E2C"/>
              </a:solidFill>
              <a:prstDash val="solid"/>
              <a:miter/>
            </a:ln>
          </p:spPr>
        </p:sp>
      </p:grpSp>
      <p:grpSp>
        <p:nvGrpSpPr>
          <p:cNvPr id="20" name="Group 20"/>
          <p:cNvGrpSpPr/>
          <p:nvPr/>
        </p:nvGrpSpPr>
        <p:grpSpPr>
          <a:xfrm>
            <a:off x="5009750" y="3019882"/>
            <a:ext cx="2553167" cy="617706"/>
            <a:chOff x="0" y="0"/>
            <a:chExt cx="3404222" cy="823608"/>
          </a:xfrm>
        </p:grpSpPr>
        <p:sp>
          <p:nvSpPr>
            <p:cNvPr id="21" name="Freeform 21"/>
            <p:cNvSpPr/>
            <p:nvPr/>
          </p:nvSpPr>
          <p:spPr>
            <a:xfrm>
              <a:off x="0" y="0"/>
              <a:ext cx="3404227" cy="823603"/>
            </a:xfrm>
            <a:custGeom>
              <a:avLst/>
              <a:gdLst/>
              <a:ahLst/>
              <a:cxnLst/>
              <a:rect l="l" t="t" r="r" b="b"/>
              <a:pathLst>
                <a:path w="3404227" h="823603">
                  <a:moveTo>
                    <a:pt x="0" y="0"/>
                  </a:moveTo>
                  <a:lnTo>
                    <a:pt x="3404227" y="0"/>
                  </a:lnTo>
                  <a:lnTo>
                    <a:pt x="3404227" y="823603"/>
                  </a:lnTo>
                  <a:lnTo>
                    <a:pt x="0" y="823603"/>
                  </a:lnTo>
                  <a:close/>
                </a:path>
              </a:pathLst>
            </a:custGeom>
            <a:blipFill>
              <a:blip r:embed="rId1">
                <a:alphaModFix amt="0"/>
              </a:blip>
              <a:stretch>
                <a:fillRect t="-30537" b="-30538"/>
              </a:stretch>
            </a:blipFill>
          </p:spPr>
        </p:sp>
        <p:sp>
          <p:nvSpPr>
            <p:cNvPr id="22" name="TextBox 22"/>
            <p:cNvSpPr txBox="1"/>
            <p:nvPr/>
          </p:nvSpPr>
          <p:spPr>
            <a:xfrm>
              <a:off x="0" y="-9525"/>
              <a:ext cx="3404222" cy="833133"/>
            </a:xfrm>
            <a:prstGeom prst="rect">
              <a:avLst/>
            </a:prstGeom>
          </p:spPr>
          <p:txBody>
            <a:bodyPr lIns="0" tIns="0" rIns="0" bIns="0" rtlCol="0" anchor="ctr"/>
            <a:lstStyle/>
            <a:p>
              <a:pPr algn="ctr">
                <a:lnSpc>
                  <a:spcPts val="5045"/>
                </a:lnSpc>
              </a:pPr>
              <a:r>
                <a:rPr lang="en-US" sz="4205">
                  <a:solidFill>
                    <a:srgbClr val="FFFFFF"/>
                  </a:solidFill>
                  <a:latin typeface="Georgia" panose="02040502050405020303"/>
                  <a:ea typeface="Georgia" panose="02040502050405020303"/>
                  <a:cs typeface="Georgia" panose="02040502050405020303"/>
                  <a:sym typeface="Georgia" panose="02040502050405020303"/>
                </a:rPr>
                <a:t>119,143</a:t>
              </a:r>
              <a:endParaRPr lang="en-US" sz="42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23" name="Group 23"/>
          <p:cNvGrpSpPr/>
          <p:nvPr/>
        </p:nvGrpSpPr>
        <p:grpSpPr>
          <a:xfrm>
            <a:off x="5092113" y="3747392"/>
            <a:ext cx="2388451" cy="329441"/>
            <a:chOff x="0" y="0"/>
            <a:chExt cx="3184601" cy="439255"/>
          </a:xfrm>
        </p:grpSpPr>
        <p:sp>
          <p:nvSpPr>
            <p:cNvPr id="24" name="Freeform 24"/>
            <p:cNvSpPr/>
            <p:nvPr/>
          </p:nvSpPr>
          <p:spPr>
            <a:xfrm>
              <a:off x="0" y="0"/>
              <a:ext cx="3184600" cy="439255"/>
            </a:xfrm>
            <a:custGeom>
              <a:avLst/>
              <a:gdLst/>
              <a:ahLst/>
              <a:cxnLst/>
              <a:rect l="l" t="t" r="r" b="b"/>
              <a:pathLst>
                <a:path w="3184600" h="439255">
                  <a:moveTo>
                    <a:pt x="0" y="0"/>
                  </a:moveTo>
                  <a:lnTo>
                    <a:pt x="3184600" y="0"/>
                  </a:lnTo>
                  <a:lnTo>
                    <a:pt x="3184600" y="439255"/>
                  </a:lnTo>
                  <a:lnTo>
                    <a:pt x="0" y="439255"/>
                  </a:lnTo>
                  <a:close/>
                </a:path>
              </a:pathLst>
            </a:custGeom>
            <a:blipFill>
              <a:blip r:embed="rId1">
                <a:alphaModFix amt="0"/>
              </a:blip>
              <a:stretch>
                <a:fillRect t="-91266" b="-91266"/>
              </a:stretch>
            </a:blipFill>
          </p:spPr>
        </p:sp>
        <p:sp>
          <p:nvSpPr>
            <p:cNvPr id="25" name="TextBox 25"/>
            <p:cNvSpPr txBox="1"/>
            <p:nvPr/>
          </p:nvSpPr>
          <p:spPr>
            <a:xfrm>
              <a:off x="0" y="0"/>
              <a:ext cx="3184601" cy="439255"/>
            </a:xfrm>
            <a:prstGeom prst="rect">
              <a:avLst/>
            </a:prstGeom>
          </p:spPr>
          <p:txBody>
            <a:bodyPr lIns="0" tIns="0" rIns="0" bIns="0" rtlCol="0" anchor="ctr"/>
            <a:lstStyle/>
            <a:p>
              <a:pPr algn="ctr">
                <a:lnSpc>
                  <a:spcPts val="2250"/>
                </a:lnSpc>
              </a:pPr>
              <a:r>
                <a:rPr lang="en-US" sz="1875" b="1">
                  <a:solidFill>
                    <a:srgbClr val="FFFFFF"/>
                  </a:solidFill>
                  <a:latin typeface="Aptos Bold" panose="020B0004020202020204"/>
                  <a:ea typeface="Aptos Bold" panose="020B0004020202020204"/>
                  <a:cs typeface="Aptos Bold" panose="020B0004020202020204"/>
                  <a:sym typeface="Aptos Bold" panose="020B0004020202020204"/>
                </a:rPr>
                <a:t>Raw Records</a:t>
              </a:r>
              <a:endParaRPr lang="en-US" sz="18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26" name="Group 26"/>
          <p:cNvGrpSpPr/>
          <p:nvPr/>
        </p:nvGrpSpPr>
        <p:grpSpPr>
          <a:xfrm>
            <a:off x="5092113" y="4090568"/>
            <a:ext cx="2388451" cy="247079"/>
            <a:chOff x="0" y="0"/>
            <a:chExt cx="3184601" cy="329438"/>
          </a:xfrm>
        </p:grpSpPr>
        <p:sp>
          <p:nvSpPr>
            <p:cNvPr id="27" name="Freeform 27"/>
            <p:cNvSpPr/>
            <p:nvPr/>
          </p:nvSpPr>
          <p:spPr>
            <a:xfrm>
              <a:off x="0" y="0"/>
              <a:ext cx="3184600" cy="329441"/>
            </a:xfrm>
            <a:custGeom>
              <a:avLst/>
              <a:gdLst/>
              <a:ahLst/>
              <a:cxnLst/>
              <a:rect l="l" t="t" r="r" b="b"/>
              <a:pathLst>
                <a:path w="3184600" h="329441">
                  <a:moveTo>
                    <a:pt x="0" y="0"/>
                  </a:moveTo>
                  <a:lnTo>
                    <a:pt x="3184600" y="0"/>
                  </a:lnTo>
                  <a:lnTo>
                    <a:pt x="3184600" y="329441"/>
                  </a:lnTo>
                  <a:lnTo>
                    <a:pt x="0" y="329441"/>
                  </a:lnTo>
                  <a:close/>
                </a:path>
              </a:pathLst>
            </a:custGeom>
            <a:blipFill>
              <a:blip r:embed="rId1">
                <a:alphaModFix amt="0"/>
              </a:blip>
              <a:stretch>
                <a:fillRect t="-138355" b="-138354"/>
              </a:stretch>
            </a:blipFill>
          </p:spPr>
        </p:sp>
        <p:sp>
          <p:nvSpPr>
            <p:cNvPr id="28" name="TextBox 28"/>
            <p:cNvSpPr txBox="1"/>
            <p:nvPr/>
          </p:nvSpPr>
          <p:spPr>
            <a:xfrm>
              <a:off x="0" y="-9525"/>
              <a:ext cx="3184601" cy="338963"/>
            </a:xfrm>
            <a:prstGeom prst="rect">
              <a:avLst/>
            </a:prstGeom>
          </p:spPr>
          <p:txBody>
            <a:bodyPr lIns="0" tIns="0" rIns="0" bIns="0" rtlCol="0" anchor="ctr"/>
            <a:lstStyle/>
            <a:p>
              <a:pPr algn="ctr">
                <a:lnSpc>
                  <a:spcPts val="1530"/>
                </a:lnSpc>
              </a:pPr>
              <a:r>
                <a:rPr lang="en-US" sz="1275">
                  <a:solidFill>
                    <a:srgbClr val="D9D7F2"/>
                  </a:solidFill>
                  <a:latin typeface="Aptos"/>
                  <a:ea typeface="Aptos"/>
                  <a:cs typeface="Aptos"/>
                  <a:sym typeface="Aptos"/>
                </a:rPr>
                <a:t>initial rows</a:t>
              </a:r>
              <a:endParaRPr lang="en-US" sz="1275">
                <a:solidFill>
                  <a:srgbClr val="D9D7F2"/>
                </a:solidFill>
                <a:latin typeface="Aptos"/>
                <a:ea typeface="Aptos"/>
                <a:cs typeface="Aptos"/>
                <a:sym typeface="Aptos"/>
              </a:endParaRPr>
            </a:p>
          </p:txBody>
        </p:sp>
      </p:grpSp>
      <p:grpSp>
        <p:nvGrpSpPr>
          <p:cNvPr id="29" name="Group 29"/>
          <p:cNvGrpSpPr/>
          <p:nvPr/>
        </p:nvGrpSpPr>
        <p:grpSpPr>
          <a:xfrm>
            <a:off x="8126101" y="2800636"/>
            <a:ext cx="2909306" cy="1618993"/>
            <a:chOff x="0" y="0"/>
            <a:chExt cx="3879075" cy="2158657"/>
          </a:xfrm>
        </p:grpSpPr>
        <p:sp>
          <p:nvSpPr>
            <p:cNvPr id="30" name="Freeform 30"/>
            <p:cNvSpPr/>
            <p:nvPr/>
          </p:nvSpPr>
          <p:spPr>
            <a:xfrm>
              <a:off x="0" y="0"/>
              <a:ext cx="3879088" cy="2158746"/>
            </a:xfrm>
            <a:custGeom>
              <a:avLst/>
              <a:gdLst/>
              <a:ahLst/>
              <a:cxnLst/>
              <a:rect l="l" t="t" r="r" b="b"/>
              <a:pathLst>
                <a:path w="3879088" h="2158746">
                  <a:moveTo>
                    <a:pt x="0" y="167513"/>
                  </a:moveTo>
                  <a:cubicBezTo>
                    <a:pt x="0" y="74930"/>
                    <a:pt x="74930" y="0"/>
                    <a:pt x="167513" y="0"/>
                  </a:cubicBezTo>
                  <a:lnTo>
                    <a:pt x="3711575" y="0"/>
                  </a:lnTo>
                  <a:cubicBezTo>
                    <a:pt x="3804031" y="0"/>
                    <a:pt x="3879088" y="74930"/>
                    <a:pt x="3879088" y="167513"/>
                  </a:cubicBezTo>
                  <a:lnTo>
                    <a:pt x="3879088" y="1991233"/>
                  </a:lnTo>
                  <a:cubicBezTo>
                    <a:pt x="3879088" y="2083689"/>
                    <a:pt x="3804158" y="2158746"/>
                    <a:pt x="3711575" y="2158746"/>
                  </a:cubicBezTo>
                  <a:lnTo>
                    <a:pt x="167513" y="2158746"/>
                  </a:lnTo>
                  <a:cubicBezTo>
                    <a:pt x="74930" y="2158619"/>
                    <a:pt x="0" y="2083689"/>
                    <a:pt x="0" y="1991106"/>
                  </a:cubicBezTo>
                  <a:close/>
                </a:path>
              </a:pathLst>
            </a:custGeom>
            <a:solidFill>
              <a:srgbClr val="829BDC"/>
            </a:solidFill>
            <a:ln w="26691" cap="sq">
              <a:solidFill>
                <a:srgbClr val="1B0E2C"/>
              </a:solidFill>
              <a:prstDash val="solid"/>
              <a:miter/>
            </a:ln>
          </p:spPr>
        </p:sp>
      </p:grpSp>
      <p:grpSp>
        <p:nvGrpSpPr>
          <p:cNvPr id="31" name="Group 31"/>
          <p:cNvGrpSpPr/>
          <p:nvPr/>
        </p:nvGrpSpPr>
        <p:grpSpPr>
          <a:xfrm>
            <a:off x="8304162" y="3019882"/>
            <a:ext cx="2553167" cy="617706"/>
            <a:chOff x="0" y="0"/>
            <a:chExt cx="3404222" cy="823608"/>
          </a:xfrm>
        </p:grpSpPr>
        <p:sp>
          <p:nvSpPr>
            <p:cNvPr id="32" name="Freeform 32"/>
            <p:cNvSpPr/>
            <p:nvPr/>
          </p:nvSpPr>
          <p:spPr>
            <a:xfrm>
              <a:off x="0" y="0"/>
              <a:ext cx="3404227" cy="823603"/>
            </a:xfrm>
            <a:custGeom>
              <a:avLst/>
              <a:gdLst/>
              <a:ahLst/>
              <a:cxnLst/>
              <a:rect l="l" t="t" r="r" b="b"/>
              <a:pathLst>
                <a:path w="3404227" h="823603">
                  <a:moveTo>
                    <a:pt x="0" y="0"/>
                  </a:moveTo>
                  <a:lnTo>
                    <a:pt x="3404227" y="0"/>
                  </a:lnTo>
                  <a:lnTo>
                    <a:pt x="3404227" y="823603"/>
                  </a:lnTo>
                  <a:lnTo>
                    <a:pt x="0" y="823603"/>
                  </a:lnTo>
                  <a:close/>
                </a:path>
              </a:pathLst>
            </a:custGeom>
            <a:blipFill>
              <a:blip r:embed="rId1">
                <a:alphaModFix amt="0"/>
              </a:blip>
              <a:stretch>
                <a:fillRect t="-30537" b="-30538"/>
              </a:stretch>
            </a:blipFill>
          </p:spPr>
        </p:sp>
        <p:sp>
          <p:nvSpPr>
            <p:cNvPr id="33" name="TextBox 33"/>
            <p:cNvSpPr txBox="1"/>
            <p:nvPr/>
          </p:nvSpPr>
          <p:spPr>
            <a:xfrm>
              <a:off x="0" y="-9525"/>
              <a:ext cx="3404222" cy="833133"/>
            </a:xfrm>
            <a:prstGeom prst="rect">
              <a:avLst/>
            </a:prstGeom>
          </p:spPr>
          <p:txBody>
            <a:bodyPr lIns="0" tIns="0" rIns="0" bIns="0" rtlCol="0" anchor="ctr"/>
            <a:lstStyle/>
            <a:p>
              <a:pPr algn="ctr">
                <a:lnSpc>
                  <a:spcPts val="5045"/>
                </a:lnSpc>
              </a:pPr>
              <a:r>
                <a:rPr lang="en-US" sz="4205">
                  <a:solidFill>
                    <a:srgbClr val="FFFFFF"/>
                  </a:solidFill>
                  <a:latin typeface="Georgia" panose="02040502050405020303"/>
                  <a:ea typeface="Georgia" panose="02040502050405020303"/>
                  <a:cs typeface="Georgia" panose="02040502050405020303"/>
                  <a:sym typeface="Georgia" panose="02040502050405020303"/>
                </a:rPr>
                <a:t>40</a:t>
              </a:r>
              <a:endParaRPr lang="en-US" sz="42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34" name="Group 34"/>
          <p:cNvGrpSpPr/>
          <p:nvPr/>
        </p:nvGrpSpPr>
        <p:grpSpPr>
          <a:xfrm>
            <a:off x="8386524" y="3747392"/>
            <a:ext cx="2388451" cy="329441"/>
            <a:chOff x="0" y="0"/>
            <a:chExt cx="3184601" cy="439255"/>
          </a:xfrm>
        </p:grpSpPr>
        <p:sp>
          <p:nvSpPr>
            <p:cNvPr id="35" name="Freeform 35"/>
            <p:cNvSpPr/>
            <p:nvPr/>
          </p:nvSpPr>
          <p:spPr>
            <a:xfrm>
              <a:off x="0" y="0"/>
              <a:ext cx="3184600" cy="439255"/>
            </a:xfrm>
            <a:custGeom>
              <a:avLst/>
              <a:gdLst/>
              <a:ahLst/>
              <a:cxnLst/>
              <a:rect l="l" t="t" r="r" b="b"/>
              <a:pathLst>
                <a:path w="3184600" h="439255">
                  <a:moveTo>
                    <a:pt x="0" y="0"/>
                  </a:moveTo>
                  <a:lnTo>
                    <a:pt x="3184600" y="0"/>
                  </a:lnTo>
                  <a:lnTo>
                    <a:pt x="3184600" y="439255"/>
                  </a:lnTo>
                  <a:lnTo>
                    <a:pt x="0" y="439255"/>
                  </a:lnTo>
                  <a:close/>
                </a:path>
              </a:pathLst>
            </a:custGeom>
            <a:blipFill>
              <a:blip r:embed="rId1">
                <a:alphaModFix amt="0"/>
              </a:blip>
              <a:stretch>
                <a:fillRect t="-91266" b="-91266"/>
              </a:stretch>
            </a:blipFill>
          </p:spPr>
        </p:sp>
        <p:sp>
          <p:nvSpPr>
            <p:cNvPr id="36" name="TextBox 36"/>
            <p:cNvSpPr txBox="1"/>
            <p:nvPr/>
          </p:nvSpPr>
          <p:spPr>
            <a:xfrm>
              <a:off x="0" y="0"/>
              <a:ext cx="3184601" cy="439255"/>
            </a:xfrm>
            <a:prstGeom prst="rect">
              <a:avLst/>
            </a:prstGeom>
          </p:spPr>
          <p:txBody>
            <a:bodyPr lIns="0" tIns="0" rIns="0" bIns="0" rtlCol="0" anchor="ctr"/>
            <a:lstStyle/>
            <a:p>
              <a:pPr algn="ctr">
                <a:lnSpc>
                  <a:spcPts val="2250"/>
                </a:lnSpc>
              </a:pPr>
              <a:r>
                <a:rPr lang="en-US" sz="1875" b="1">
                  <a:solidFill>
                    <a:srgbClr val="FFFFFF"/>
                  </a:solidFill>
                  <a:latin typeface="Aptos Bold" panose="020B0004020202020204"/>
                  <a:ea typeface="Aptos Bold" panose="020B0004020202020204"/>
                  <a:cs typeface="Aptos Bold" panose="020B0004020202020204"/>
                  <a:sym typeface="Aptos Bold" panose="020B0004020202020204"/>
                </a:rPr>
                <a:t>Raw Columns</a:t>
              </a:r>
              <a:endParaRPr lang="en-US" sz="18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37" name="Group 37"/>
          <p:cNvGrpSpPr/>
          <p:nvPr/>
        </p:nvGrpSpPr>
        <p:grpSpPr>
          <a:xfrm>
            <a:off x="8386524" y="4090568"/>
            <a:ext cx="2388451" cy="247079"/>
            <a:chOff x="0" y="0"/>
            <a:chExt cx="3184601" cy="329438"/>
          </a:xfrm>
        </p:grpSpPr>
        <p:sp>
          <p:nvSpPr>
            <p:cNvPr id="38" name="Freeform 38"/>
            <p:cNvSpPr/>
            <p:nvPr/>
          </p:nvSpPr>
          <p:spPr>
            <a:xfrm>
              <a:off x="0" y="0"/>
              <a:ext cx="3184600" cy="329441"/>
            </a:xfrm>
            <a:custGeom>
              <a:avLst/>
              <a:gdLst/>
              <a:ahLst/>
              <a:cxnLst/>
              <a:rect l="l" t="t" r="r" b="b"/>
              <a:pathLst>
                <a:path w="3184600" h="329441">
                  <a:moveTo>
                    <a:pt x="0" y="0"/>
                  </a:moveTo>
                  <a:lnTo>
                    <a:pt x="3184600" y="0"/>
                  </a:lnTo>
                  <a:lnTo>
                    <a:pt x="3184600" y="329441"/>
                  </a:lnTo>
                  <a:lnTo>
                    <a:pt x="0" y="329441"/>
                  </a:lnTo>
                  <a:close/>
                </a:path>
              </a:pathLst>
            </a:custGeom>
            <a:blipFill>
              <a:blip r:embed="rId1">
                <a:alphaModFix amt="0"/>
              </a:blip>
              <a:stretch>
                <a:fillRect t="-138355" b="-138354"/>
              </a:stretch>
            </a:blipFill>
          </p:spPr>
        </p:sp>
        <p:sp>
          <p:nvSpPr>
            <p:cNvPr id="39" name="TextBox 39"/>
            <p:cNvSpPr txBox="1"/>
            <p:nvPr/>
          </p:nvSpPr>
          <p:spPr>
            <a:xfrm>
              <a:off x="0" y="-9525"/>
              <a:ext cx="3184601" cy="338963"/>
            </a:xfrm>
            <a:prstGeom prst="rect">
              <a:avLst/>
            </a:prstGeom>
          </p:spPr>
          <p:txBody>
            <a:bodyPr lIns="0" tIns="0" rIns="0" bIns="0" rtlCol="0" anchor="ctr"/>
            <a:lstStyle/>
            <a:p>
              <a:pPr algn="ctr">
                <a:lnSpc>
                  <a:spcPts val="1530"/>
                </a:lnSpc>
              </a:pPr>
              <a:r>
                <a:rPr lang="en-US" sz="1275">
                  <a:solidFill>
                    <a:srgbClr val="D9D7F2"/>
                  </a:solidFill>
                  <a:latin typeface="Aptos"/>
                  <a:ea typeface="Aptos"/>
                  <a:cs typeface="Aptos"/>
                  <a:sym typeface="Aptos"/>
                </a:rPr>
                <a:t>features</a:t>
              </a:r>
              <a:endParaRPr lang="en-US" sz="1275">
                <a:solidFill>
                  <a:srgbClr val="D9D7F2"/>
                </a:solidFill>
                <a:latin typeface="Aptos"/>
                <a:ea typeface="Aptos"/>
                <a:cs typeface="Aptos"/>
                <a:sym typeface="Aptos"/>
              </a:endParaRPr>
            </a:p>
          </p:txBody>
        </p:sp>
      </p:grpSp>
      <p:grpSp>
        <p:nvGrpSpPr>
          <p:cNvPr id="40" name="Group 40"/>
          <p:cNvGrpSpPr/>
          <p:nvPr/>
        </p:nvGrpSpPr>
        <p:grpSpPr>
          <a:xfrm>
            <a:off x="11420513" y="2800636"/>
            <a:ext cx="2909306" cy="1618993"/>
            <a:chOff x="0" y="0"/>
            <a:chExt cx="3879075" cy="2158657"/>
          </a:xfrm>
        </p:grpSpPr>
        <p:sp>
          <p:nvSpPr>
            <p:cNvPr id="41" name="Freeform 41"/>
            <p:cNvSpPr/>
            <p:nvPr/>
          </p:nvSpPr>
          <p:spPr>
            <a:xfrm>
              <a:off x="0" y="0"/>
              <a:ext cx="3879088" cy="2158746"/>
            </a:xfrm>
            <a:custGeom>
              <a:avLst/>
              <a:gdLst/>
              <a:ahLst/>
              <a:cxnLst/>
              <a:rect l="l" t="t" r="r" b="b"/>
              <a:pathLst>
                <a:path w="3879088" h="2158746">
                  <a:moveTo>
                    <a:pt x="0" y="167513"/>
                  </a:moveTo>
                  <a:cubicBezTo>
                    <a:pt x="0" y="74930"/>
                    <a:pt x="74930" y="0"/>
                    <a:pt x="167513" y="0"/>
                  </a:cubicBezTo>
                  <a:lnTo>
                    <a:pt x="3711575" y="0"/>
                  </a:lnTo>
                  <a:cubicBezTo>
                    <a:pt x="3804031" y="0"/>
                    <a:pt x="3879088" y="74930"/>
                    <a:pt x="3879088" y="167513"/>
                  </a:cubicBezTo>
                  <a:lnTo>
                    <a:pt x="3879088" y="1991233"/>
                  </a:lnTo>
                  <a:cubicBezTo>
                    <a:pt x="3879088" y="2083689"/>
                    <a:pt x="3804158" y="2158746"/>
                    <a:pt x="3711575" y="2158746"/>
                  </a:cubicBezTo>
                  <a:lnTo>
                    <a:pt x="167513" y="2158746"/>
                  </a:lnTo>
                  <a:cubicBezTo>
                    <a:pt x="74930" y="2158619"/>
                    <a:pt x="0" y="2083689"/>
                    <a:pt x="0" y="1991106"/>
                  </a:cubicBezTo>
                  <a:close/>
                </a:path>
              </a:pathLst>
            </a:custGeom>
            <a:solidFill>
              <a:srgbClr val="829BDC"/>
            </a:solidFill>
            <a:ln w="26691" cap="sq">
              <a:solidFill>
                <a:srgbClr val="1B0E2C"/>
              </a:solidFill>
              <a:prstDash val="solid"/>
              <a:miter/>
            </a:ln>
          </p:spPr>
        </p:sp>
      </p:grpSp>
      <p:grpSp>
        <p:nvGrpSpPr>
          <p:cNvPr id="42" name="Group 42"/>
          <p:cNvGrpSpPr/>
          <p:nvPr/>
        </p:nvGrpSpPr>
        <p:grpSpPr>
          <a:xfrm>
            <a:off x="11598583" y="3019882"/>
            <a:ext cx="2553167" cy="617706"/>
            <a:chOff x="0" y="0"/>
            <a:chExt cx="3404222" cy="823608"/>
          </a:xfrm>
        </p:grpSpPr>
        <p:sp>
          <p:nvSpPr>
            <p:cNvPr id="43" name="Freeform 43"/>
            <p:cNvSpPr/>
            <p:nvPr/>
          </p:nvSpPr>
          <p:spPr>
            <a:xfrm>
              <a:off x="0" y="0"/>
              <a:ext cx="3404227" cy="823603"/>
            </a:xfrm>
            <a:custGeom>
              <a:avLst/>
              <a:gdLst/>
              <a:ahLst/>
              <a:cxnLst/>
              <a:rect l="l" t="t" r="r" b="b"/>
              <a:pathLst>
                <a:path w="3404227" h="823603">
                  <a:moveTo>
                    <a:pt x="0" y="0"/>
                  </a:moveTo>
                  <a:lnTo>
                    <a:pt x="3404227" y="0"/>
                  </a:lnTo>
                  <a:lnTo>
                    <a:pt x="3404227" y="823603"/>
                  </a:lnTo>
                  <a:lnTo>
                    <a:pt x="0" y="823603"/>
                  </a:lnTo>
                  <a:close/>
                </a:path>
              </a:pathLst>
            </a:custGeom>
            <a:blipFill>
              <a:blip r:embed="rId1">
                <a:alphaModFix amt="0"/>
              </a:blip>
              <a:stretch>
                <a:fillRect t="-30537" b="-30538"/>
              </a:stretch>
            </a:blipFill>
          </p:spPr>
        </p:sp>
        <p:sp>
          <p:nvSpPr>
            <p:cNvPr id="44" name="TextBox 44"/>
            <p:cNvSpPr txBox="1"/>
            <p:nvPr/>
          </p:nvSpPr>
          <p:spPr>
            <a:xfrm>
              <a:off x="0" y="-9525"/>
              <a:ext cx="3404222" cy="833133"/>
            </a:xfrm>
            <a:prstGeom prst="rect">
              <a:avLst/>
            </a:prstGeom>
          </p:spPr>
          <p:txBody>
            <a:bodyPr lIns="0" tIns="0" rIns="0" bIns="0" rtlCol="0" anchor="ctr"/>
            <a:lstStyle/>
            <a:p>
              <a:pPr algn="ctr">
                <a:lnSpc>
                  <a:spcPts val="5045"/>
                </a:lnSpc>
              </a:pPr>
              <a:r>
                <a:rPr lang="en-US" sz="4205">
                  <a:solidFill>
                    <a:srgbClr val="FFFFFF"/>
                  </a:solidFill>
                  <a:latin typeface="Georgia" panose="02040502050405020303"/>
                  <a:ea typeface="Georgia" panose="02040502050405020303"/>
                  <a:cs typeface="Georgia" panose="02040502050405020303"/>
                  <a:sym typeface="Georgia" panose="02040502050405020303"/>
                </a:rPr>
                <a:t>0</a:t>
              </a:r>
              <a:endParaRPr lang="en-US" sz="42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45" name="Group 45"/>
          <p:cNvGrpSpPr/>
          <p:nvPr/>
        </p:nvGrpSpPr>
        <p:grpSpPr>
          <a:xfrm>
            <a:off x="11680936" y="3747392"/>
            <a:ext cx="2388451" cy="329441"/>
            <a:chOff x="0" y="0"/>
            <a:chExt cx="3184601" cy="439255"/>
          </a:xfrm>
        </p:grpSpPr>
        <p:sp>
          <p:nvSpPr>
            <p:cNvPr id="46" name="Freeform 46"/>
            <p:cNvSpPr/>
            <p:nvPr/>
          </p:nvSpPr>
          <p:spPr>
            <a:xfrm>
              <a:off x="0" y="0"/>
              <a:ext cx="3184600" cy="439255"/>
            </a:xfrm>
            <a:custGeom>
              <a:avLst/>
              <a:gdLst/>
              <a:ahLst/>
              <a:cxnLst/>
              <a:rect l="l" t="t" r="r" b="b"/>
              <a:pathLst>
                <a:path w="3184600" h="439255">
                  <a:moveTo>
                    <a:pt x="0" y="0"/>
                  </a:moveTo>
                  <a:lnTo>
                    <a:pt x="3184600" y="0"/>
                  </a:lnTo>
                  <a:lnTo>
                    <a:pt x="3184600" y="439255"/>
                  </a:lnTo>
                  <a:lnTo>
                    <a:pt x="0" y="439255"/>
                  </a:lnTo>
                  <a:close/>
                </a:path>
              </a:pathLst>
            </a:custGeom>
            <a:blipFill>
              <a:blip r:embed="rId1">
                <a:alphaModFix amt="0"/>
              </a:blip>
              <a:stretch>
                <a:fillRect t="-91266" b="-91266"/>
              </a:stretch>
            </a:blipFill>
          </p:spPr>
        </p:sp>
        <p:sp>
          <p:nvSpPr>
            <p:cNvPr id="47" name="TextBox 47"/>
            <p:cNvSpPr txBox="1"/>
            <p:nvPr/>
          </p:nvSpPr>
          <p:spPr>
            <a:xfrm>
              <a:off x="0" y="0"/>
              <a:ext cx="3184601" cy="439255"/>
            </a:xfrm>
            <a:prstGeom prst="rect">
              <a:avLst/>
            </a:prstGeom>
          </p:spPr>
          <p:txBody>
            <a:bodyPr lIns="0" tIns="0" rIns="0" bIns="0" rtlCol="0" anchor="ctr"/>
            <a:lstStyle/>
            <a:p>
              <a:pPr algn="ctr">
                <a:lnSpc>
                  <a:spcPts val="2250"/>
                </a:lnSpc>
              </a:pPr>
              <a:r>
                <a:rPr lang="en-US" sz="1875" b="1">
                  <a:solidFill>
                    <a:srgbClr val="FFFFFF"/>
                  </a:solidFill>
                  <a:latin typeface="Aptos Bold" panose="020B0004020202020204"/>
                  <a:ea typeface="Aptos Bold" panose="020B0004020202020204"/>
                  <a:cs typeface="Aptos Bold" panose="020B0004020202020204"/>
                  <a:sym typeface="Aptos Bold" panose="020B0004020202020204"/>
                </a:rPr>
                <a:t>Duplicates</a:t>
              </a:r>
              <a:endParaRPr lang="en-US" sz="18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48" name="Group 48"/>
          <p:cNvGrpSpPr/>
          <p:nvPr/>
        </p:nvGrpSpPr>
        <p:grpSpPr>
          <a:xfrm>
            <a:off x="11680936" y="4090568"/>
            <a:ext cx="2388451" cy="247079"/>
            <a:chOff x="0" y="0"/>
            <a:chExt cx="3184601" cy="329438"/>
          </a:xfrm>
        </p:grpSpPr>
        <p:sp>
          <p:nvSpPr>
            <p:cNvPr id="49" name="Freeform 49"/>
            <p:cNvSpPr/>
            <p:nvPr/>
          </p:nvSpPr>
          <p:spPr>
            <a:xfrm>
              <a:off x="0" y="0"/>
              <a:ext cx="3184600" cy="329441"/>
            </a:xfrm>
            <a:custGeom>
              <a:avLst/>
              <a:gdLst/>
              <a:ahLst/>
              <a:cxnLst/>
              <a:rect l="l" t="t" r="r" b="b"/>
              <a:pathLst>
                <a:path w="3184600" h="329441">
                  <a:moveTo>
                    <a:pt x="0" y="0"/>
                  </a:moveTo>
                  <a:lnTo>
                    <a:pt x="3184600" y="0"/>
                  </a:lnTo>
                  <a:lnTo>
                    <a:pt x="3184600" y="329441"/>
                  </a:lnTo>
                  <a:lnTo>
                    <a:pt x="0" y="329441"/>
                  </a:lnTo>
                  <a:close/>
                </a:path>
              </a:pathLst>
            </a:custGeom>
            <a:blipFill>
              <a:blip r:embed="rId1">
                <a:alphaModFix amt="0"/>
              </a:blip>
              <a:stretch>
                <a:fillRect t="-138355" b="-138354"/>
              </a:stretch>
            </a:blipFill>
          </p:spPr>
        </p:sp>
        <p:sp>
          <p:nvSpPr>
            <p:cNvPr id="50" name="TextBox 50"/>
            <p:cNvSpPr txBox="1"/>
            <p:nvPr/>
          </p:nvSpPr>
          <p:spPr>
            <a:xfrm>
              <a:off x="0" y="-9525"/>
              <a:ext cx="3184601" cy="338963"/>
            </a:xfrm>
            <a:prstGeom prst="rect">
              <a:avLst/>
            </a:prstGeom>
          </p:spPr>
          <p:txBody>
            <a:bodyPr lIns="0" tIns="0" rIns="0" bIns="0" rtlCol="0" anchor="ctr"/>
            <a:lstStyle/>
            <a:p>
              <a:pPr algn="ctr">
                <a:lnSpc>
                  <a:spcPts val="1530"/>
                </a:lnSpc>
              </a:pPr>
              <a:r>
                <a:rPr lang="en-US" sz="1275">
                  <a:solidFill>
                    <a:srgbClr val="D9D7F2"/>
                  </a:solidFill>
                  <a:latin typeface="Aptos"/>
                  <a:ea typeface="Aptos"/>
                  <a:cs typeface="Aptos"/>
                  <a:sym typeface="Aptos"/>
                </a:rPr>
                <a:t>exact rows</a:t>
              </a:r>
              <a:endParaRPr lang="en-US" sz="1275">
                <a:solidFill>
                  <a:srgbClr val="D9D7F2"/>
                </a:solidFill>
                <a:latin typeface="Aptos"/>
                <a:ea typeface="Aptos"/>
                <a:cs typeface="Aptos"/>
                <a:sym typeface="Aptos"/>
              </a:endParaRPr>
            </a:p>
          </p:txBody>
        </p:sp>
      </p:grpSp>
      <p:grpSp>
        <p:nvGrpSpPr>
          <p:cNvPr id="51" name="Group 51"/>
          <p:cNvGrpSpPr/>
          <p:nvPr/>
        </p:nvGrpSpPr>
        <p:grpSpPr>
          <a:xfrm>
            <a:off x="14714925" y="2800636"/>
            <a:ext cx="2909306" cy="1618993"/>
            <a:chOff x="0" y="0"/>
            <a:chExt cx="3879075" cy="2158657"/>
          </a:xfrm>
        </p:grpSpPr>
        <p:sp>
          <p:nvSpPr>
            <p:cNvPr id="52" name="Freeform 52"/>
            <p:cNvSpPr/>
            <p:nvPr/>
          </p:nvSpPr>
          <p:spPr>
            <a:xfrm>
              <a:off x="0" y="0"/>
              <a:ext cx="3879088" cy="2158746"/>
            </a:xfrm>
            <a:custGeom>
              <a:avLst/>
              <a:gdLst/>
              <a:ahLst/>
              <a:cxnLst/>
              <a:rect l="l" t="t" r="r" b="b"/>
              <a:pathLst>
                <a:path w="3879088" h="2158746">
                  <a:moveTo>
                    <a:pt x="0" y="167513"/>
                  </a:moveTo>
                  <a:cubicBezTo>
                    <a:pt x="0" y="74930"/>
                    <a:pt x="74930" y="0"/>
                    <a:pt x="167513" y="0"/>
                  </a:cubicBezTo>
                  <a:lnTo>
                    <a:pt x="3711575" y="0"/>
                  </a:lnTo>
                  <a:cubicBezTo>
                    <a:pt x="3804031" y="0"/>
                    <a:pt x="3879088" y="74930"/>
                    <a:pt x="3879088" y="167513"/>
                  </a:cubicBezTo>
                  <a:lnTo>
                    <a:pt x="3879088" y="1991233"/>
                  </a:lnTo>
                  <a:cubicBezTo>
                    <a:pt x="3879088" y="2083689"/>
                    <a:pt x="3804158" y="2158746"/>
                    <a:pt x="3711575" y="2158746"/>
                  </a:cubicBezTo>
                  <a:lnTo>
                    <a:pt x="167513" y="2158746"/>
                  </a:lnTo>
                  <a:cubicBezTo>
                    <a:pt x="74930" y="2158619"/>
                    <a:pt x="0" y="2083689"/>
                    <a:pt x="0" y="1991106"/>
                  </a:cubicBezTo>
                  <a:close/>
                </a:path>
              </a:pathLst>
            </a:custGeom>
            <a:solidFill>
              <a:srgbClr val="829BDC"/>
            </a:solidFill>
            <a:ln w="26691" cap="sq">
              <a:solidFill>
                <a:srgbClr val="1B0E2C"/>
              </a:solidFill>
              <a:prstDash val="solid"/>
              <a:miter/>
            </a:ln>
          </p:spPr>
        </p:sp>
      </p:grpSp>
      <p:grpSp>
        <p:nvGrpSpPr>
          <p:cNvPr id="53" name="Group 53"/>
          <p:cNvGrpSpPr/>
          <p:nvPr/>
        </p:nvGrpSpPr>
        <p:grpSpPr>
          <a:xfrm>
            <a:off x="14892995" y="3019882"/>
            <a:ext cx="2553167" cy="617706"/>
            <a:chOff x="0" y="0"/>
            <a:chExt cx="3404222" cy="823608"/>
          </a:xfrm>
        </p:grpSpPr>
        <p:sp>
          <p:nvSpPr>
            <p:cNvPr id="54" name="Freeform 54"/>
            <p:cNvSpPr/>
            <p:nvPr/>
          </p:nvSpPr>
          <p:spPr>
            <a:xfrm>
              <a:off x="0" y="0"/>
              <a:ext cx="3404227" cy="823603"/>
            </a:xfrm>
            <a:custGeom>
              <a:avLst/>
              <a:gdLst/>
              <a:ahLst/>
              <a:cxnLst/>
              <a:rect l="l" t="t" r="r" b="b"/>
              <a:pathLst>
                <a:path w="3404227" h="823603">
                  <a:moveTo>
                    <a:pt x="0" y="0"/>
                  </a:moveTo>
                  <a:lnTo>
                    <a:pt x="3404227" y="0"/>
                  </a:lnTo>
                  <a:lnTo>
                    <a:pt x="3404227" y="823603"/>
                  </a:lnTo>
                  <a:lnTo>
                    <a:pt x="0" y="823603"/>
                  </a:lnTo>
                  <a:close/>
                </a:path>
              </a:pathLst>
            </a:custGeom>
            <a:blipFill>
              <a:blip r:embed="rId1">
                <a:alphaModFix amt="0"/>
              </a:blip>
              <a:stretch>
                <a:fillRect t="-30537" b="-30538"/>
              </a:stretch>
            </a:blipFill>
          </p:spPr>
        </p:sp>
        <p:sp>
          <p:nvSpPr>
            <p:cNvPr id="55" name="TextBox 55"/>
            <p:cNvSpPr txBox="1"/>
            <p:nvPr/>
          </p:nvSpPr>
          <p:spPr>
            <a:xfrm>
              <a:off x="0" y="-9525"/>
              <a:ext cx="3404222" cy="833133"/>
            </a:xfrm>
            <a:prstGeom prst="rect">
              <a:avLst/>
            </a:prstGeom>
          </p:spPr>
          <p:txBody>
            <a:bodyPr lIns="0" tIns="0" rIns="0" bIns="0" rtlCol="0" anchor="ctr"/>
            <a:lstStyle/>
            <a:p>
              <a:pPr algn="ctr">
                <a:lnSpc>
                  <a:spcPts val="5045"/>
                </a:lnSpc>
              </a:pPr>
              <a:r>
                <a:rPr lang="en-US" sz="4205">
                  <a:solidFill>
                    <a:srgbClr val="FFFFFF"/>
                  </a:solidFill>
                  <a:latin typeface="Georgia" panose="02040502050405020303"/>
                  <a:ea typeface="Georgia" panose="02040502050405020303"/>
                  <a:cs typeface="Georgia" panose="02040502050405020303"/>
                  <a:sym typeface="Georgia" panose="02040502050405020303"/>
                </a:rPr>
                <a:t>66,039</a:t>
              </a:r>
              <a:endParaRPr lang="en-US" sz="42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56" name="Group 56"/>
          <p:cNvGrpSpPr/>
          <p:nvPr/>
        </p:nvGrpSpPr>
        <p:grpSpPr>
          <a:xfrm>
            <a:off x="14975348" y="3747392"/>
            <a:ext cx="2388451" cy="329441"/>
            <a:chOff x="0" y="0"/>
            <a:chExt cx="3184601" cy="439255"/>
          </a:xfrm>
        </p:grpSpPr>
        <p:sp>
          <p:nvSpPr>
            <p:cNvPr id="57" name="Freeform 57"/>
            <p:cNvSpPr/>
            <p:nvPr/>
          </p:nvSpPr>
          <p:spPr>
            <a:xfrm>
              <a:off x="0" y="0"/>
              <a:ext cx="3184600" cy="439255"/>
            </a:xfrm>
            <a:custGeom>
              <a:avLst/>
              <a:gdLst/>
              <a:ahLst/>
              <a:cxnLst/>
              <a:rect l="l" t="t" r="r" b="b"/>
              <a:pathLst>
                <a:path w="3184600" h="439255">
                  <a:moveTo>
                    <a:pt x="0" y="0"/>
                  </a:moveTo>
                  <a:lnTo>
                    <a:pt x="3184600" y="0"/>
                  </a:lnTo>
                  <a:lnTo>
                    <a:pt x="3184600" y="439255"/>
                  </a:lnTo>
                  <a:lnTo>
                    <a:pt x="0" y="439255"/>
                  </a:lnTo>
                  <a:close/>
                </a:path>
              </a:pathLst>
            </a:custGeom>
            <a:blipFill>
              <a:blip r:embed="rId1">
                <a:alphaModFix amt="0"/>
              </a:blip>
              <a:stretch>
                <a:fillRect t="-91266" b="-91266"/>
              </a:stretch>
            </a:blipFill>
          </p:spPr>
        </p:sp>
        <p:sp>
          <p:nvSpPr>
            <p:cNvPr id="58" name="TextBox 58"/>
            <p:cNvSpPr txBox="1"/>
            <p:nvPr/>
          </p:nvSpPr>
          <p:spPr>
            <a:xfrm>
              <a:off x="0" y="0"/>
              <a:ext cx="3184601" cy="439255"/>
            </a:xfrm>
            <a:prstGeom prst="rect">
              <a:avLst/>
            </a:prstGeom>
          </p:spPr>
          <p:txBody>
            <a:bodyPr lIns="0" tIns="0" rIns="0" bIns="0" rtlCol="0" anchor="ctr"/>
            <a:lstStyle/>
            <a:p>
              <a:pPr algn="ctr">
                <a:lnSpc>
                  <a:spcPts val="2250"/>
                </a:lnSpc>
              </a:pPr>
              <a:r>
                <a:rPr lang="en-US" sz="1875" b="1">
                  <a:solidFill>
                    <a:srgbClr val="FFFFFF"/>
                  </a:solidFill>
                  <a:latin typeface="Aptos Bold" panose="020B0004020202020204"/>
                  <a:ea typeface="Aptos Bold" panose="020B0004020202020204"/>
                  <a:cs typeface="Aptos Bold" panose="020B0004020202020204"/>
                  <a:sym typeface="Aptos Bold" panose="020B0004020202020204"/>
                </a:rPr>
                <a:t>Cleaned Output</a:t>
              </a:r>
              <a:endParaRPr lang="en-US" sz="18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59" name="Group 59"/>
          <p:cNvGrpSpPr/>
          <p:nvPr/>
        </p:nvGrpSpPr>
        <p:grpSpPr>
          <a:xfrm>
            <a:off x="14975348" y="4090568"/>
            <a:ext cx="2388451" cy="247079"/>
            <a:chOff x="0" y="0"/>
            <a:chExt cx="3184601" cy="329438"/>
          </a:xfrm>
        </p:grpSpPr>
        <p:sp>
          <p:nvSpPr>
            <p:cNvPr id="60" name="Freeform 60"/>
            <p:cNvSpPr/>
            <p:nvPr/>
          </p:nvSpPr>
          <p:spPr>
            <a:xfrm>
              <a:off x="0" y="0"/>
              <a:ext cx="3184600" cy="329441"/>
            </a:xfrm>
            <a:custGeom>
              <a:avLst/>
              <a:gdLst/>
              <a:ahLst/>
              <a:cxnLst/>
              <a:rect l="l" t="t" r="r" b="b"/>
              <a:pathLst>
                <a:path w="3184600" h="329441">
                  <a:moveTo>
                    <a:pt x="0" y="0"/>
                  </a:moveTo>
                  <a:lnTo>
                    <a:pt x="3184600" y="0"/>
                  </a:lnTo>
                  <a:lnTo>
                    <a:pt x="3184600" y="329441"/>
                  </a:lnTo>
                  <a:lnTo>
                    <a:pt x="0" y="329441"/>
                  </a:lnTo>
                  <a:close/>
                </a:path>
              </a:pathLst>
            </a:custGeom>
            <a:blipFill>
              <a:blip r:embed="rId1">
                <a:alphaModFix amt="0"/>
              </a:blip>
              <a:stretch>
                <a:fillRect t="-138355" b="-138354"/>
              </a:stretch>
            </a:blipFill>
          </p:spPr>
        </p:sp>
        <p:sp>
          <p:nvSpPr>
            <p:cNvPr id="61" name="TextBox 61"/>
            <p:cNvSpPr txBox="1"/>
            <p:nvPr/>
          </p:nvSpPr>
          <p:spPr>
            <a:xfrm>
              <a:off x="0" y="-9525"/>
              <a:ext cx="3184601" cy="338963"/>
            </a:xfrm>
            <a:prstGeom prst="rect">
              <a:avLst/>
            </a:prstGeom>
          </p:spPr>
          <p:txBody>
            <a:bodyPr lIns="0" tIns="0" rIns="0" bIns="0" rtlCol="0" anchor="ctr"/>
            <a:lstStyle/>
            <a:p>
              <a:pPr algn="ctr">
                <a:lnSpc>
                  <a:spcPts val="1530"/>
                </a:lnSpc>
              </a:pPr>
              <a:r>
                <a:rPr lang="en-US" sz="1275">
                  <a:solidFill>
                    <a:srgbClr val="D9D7F2"/>
                  </a:solidFill>
                  <a:latin typeface="Aptos"/>
                  <a:ea typeface="Aptos"/>
                  <a:cs typeface="Aptos"/>
                  <a:sym typeface="Aptos"/>
                </a:rPr>
                <a:t>rows after IQR</a:t>
              </a:r>
              <a:endParaRPr lang="en-US" sz="1275">
                <a:solidFill>
                  <a:srgbClr val="D9D7F2"/>
                </a:solidFill>
                <a:latin typeface="Aptos"/>
                <a:ea typeface="Aptos"/>
                <a:cs typeface="Aptos"/>
                <a:sym typeface="Aptos"/>
              </a:endParaRPr>
            </a:p>
          </p:txBody>
        </p:sp>
      </p:grpSp>
      <p:grpSp>
        <p:nvGrpSpPr>
          <p:cNvPr id="62" name="Group 62"/>
          <p:cNvGrpSpPr/>
          <p:nvPr/>
        </p:nvGrpSpPr>
        <p:grpSpPr>
          <a:xfrm>
            <a:off x="4831680" y="5161626"/>
            <a:ext cx="12861179" cy="3389738"/>
            <a:chOff x="0" y="0"/>
            <a:chExt cx="17148238" cy="4519651"/>
          </a:xfrm>
        </p:grpSpPr>
        <p:sp>
          <p:nvSpPr>
            <p:cNvPr id="63" name="Freeform 63"/>
            <p:cNvSpPr/>
            <p:nvPr/>
          </p:nvSpPr>
          <p:spPr>
            <a:xfrm>
              <a:off x="0" y="0"/>
              <a:ext cx="17148175" cy="4519676"/>
            </a:xfrm>
            <a:custGeom>
              <a:avLst/>
              <a:gdLst/>
              <a:ahLst/>
              <a:cxnLst/>
              <a:rect l="l" t="t" r="r" b="b"/>
              <a:pathLst>
                <a:path w="17148175" h="4519676">
                  <a:moveTo>
                    <a:pt x="0" y="165989"/>
                  </a:moveTo>
                  <a:cubicBezTo>
                    <a:pt x="0" y="74295"/>
                    <a:pt x="74295" y="0"/>
                    <a:pt x="165989" y="0"/>
                  </a:cubicBezTo>
                  <a:lnTo>
                    <a:pt x="16982187" y="0"/>
                  </a:lnTo>
                  <a:cubicBezTo>
                    <a:pt x="17073880" y="0"/>
                    <a:pt x="17148175" y="74295"/>
                    <a:pt x="17148175" y="165989"/>
                  </a:cubicBezTo>
                  <a:lnTo>
                    <a:pt x="17148175" y="4353687"/>
                  </a:lnTo>
                  <a:cubicBezTo>
                    <a:pt x="17148175" y="4445381"/>
                    <a:pt x="17073880" y="4519676"/>
                    <a:pt x="16982187" y="4519676"/>
                  </a:cubicBezTo>
                  <a:lnTo>
                    <a:pt x="165989" y="4519676"/>
                  </a:lnTo>
                  <a:cubicBezTo>
                    <a:pt x="74295" y="4519676"/>
                    <a:pt x="0" y="4445381"/>
                    <a:pt x="0" y="4353687"/>
                  </a:cubicBezTo>
                  <a:close/>
                </a:path>
              </a:pathLst>
            </a:custGeom>
            <a:solidFill>
              <a:srgbClr val="7356B4"/>
            </a:solidFill>
            <a:ln w="26691" cap="sq">
              <a:solidFill>
                <a:srgbClr val="1B0E2C"/>
              </a:solidFill>
              <a:prstDash val="solid"/>
              <a:miter/>
            </a:ln>
          </p:spPr>
        </p:sp>
      </p:grpSp>
      <p:grpSp>
        <p:nvGrpSpPr>
          <p:cNvPr id="64" name="Group 64"/>
          <p:cNvGrpSpPr/>
          <p:nvPr/>
        </p:nvGrpSpPr>
        <p:grpSpPr>
          <a:xfrm>
            <a:off x="5256828" y="5559323"/>
            <a:ext cx="8236039" cy="452980"/>
            <a:chOff x="0" y="0"/>
            <a:chExt cx="10981385" cy="603974"/>
          </a:xfrm>
        </p:grpSpPr>
        <p:sp>
          <p:nvSpPr>
            <p:cNvPr id="65" name="Freeform 65"/>
            <p:cNvSpPr/>
            <p:nvPr/>
          </p:nvSpPr>
          <p:spPr>
            <a:xfrm>
              <a:off x="0" y="0"/>
              <a:ext cx="10981379" cy="603976"/>
            </a:xfrm>
            <a:custGeom>
              <a:avLst/>
              <a:gdLst/>
              <a:ahLst/>
              <a:cxnLst/>
              <a:rect l="l" t="t" r="r" b="b"/>
              <a:pathLst>
                <a:path w="10981379" h="603976">
                  <a:moveTo>
                    <a:pt x="0" y="0"/>
                  </a:moveTo>
                  <a:lnTo>
                    <a:pt x="10981379" y="0"/>
                  </a:lnTo>
                  <a:lnTo>
                    <a:pt x="10981379" y="603976"/>
                  </a:lnTo>
                  <a:lnTo>
                    <a:pt x="0" y="603976"/>
                  </a:lnTo>
                  <a:close/>
                </a:path>
              </a:pathLst>
            </a:custGeom>
            <a:blipFill>
              <a:blip r:embed="rId1">
                <a:alphaModFix amt="0"/>
              </a:blip>
              <a:stretch>
                <a:fillRect t="-304273" b="-304273"/>
              </a:stretch>
            </a:blipFill>
          </p:spPr>
        </p:sp>
        <p:sp>
          <p:nvSpPr>
            <p:cNvPr id="66" name="TextBox 66"/>
            <p:cNvSpPr txBox="1"/>
            <p:nvPr/>
          </p:nvSpPr>
          <p:spPr>
            <a:xfrm>
              <a:off x="0" y="0"/>
              <a:ext cx="10981385" cy="603974"/>
            </a:xfrm>
            <a:prstGeom prst="rect">
              <a:avLst/>
            </a:prstGeom>
          </p:spPr>
          <p:txBody>
            <a:bodyPr lIns="0" tIns="0" rIns="0" bIns="0" rtlCol="0" anchor="ctr"/>
            <a:lstStyle/>
            <a:p>
              <a:pPr algn="l">
                <a:lnSpc>
                  <a:spcPts val="3060"/>
                </a:lnSpc>
              </a:pPr>
              <a:r>
                <a:rPr lang="en-US" sz="2550" b="1">
                  <a:solidFill>
                    <a:srgbClr val="FFFFFF"/>
                  </a:solidFill>
                  <a:latin typeface="Aptos Bold" panose="020B0004020202020204"/>
                  <a:ea typeface="Aptos Bold" panose="020B0004020202020204"/>
                  <a:cs typeface="Aptos Bold" panose="020B0004020202020204"/>
                  <a:sym typeface="Aptos Bold" panose="020B0004020202020204"/>
                </a:rPr>
                <a:t>Important data areas in the dataset</a:t>
              </a:r>
              <a:endParaRPr lang="en-US" sz="25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67" name="Group 67"/>
          <p:cNvGrpSpPr/>
          <p:nvPr/>
        </p:nvGrpSpPr>
        <p:grpSpPr>
          <a:xfrm>
            <a:off x="5290385" y="6279213"/>
            <a:ext cx="3556749" cy="729044"/>
            <a:chOff x="0" y="0"/>
            <a:chExt cx="4742332" cy="972058"/>
          </a:xfrm>
        </p:grpSpPr>
        <p:sp>
          <p:nvSpPr>
            <p:cNvPr id="68" name="Freeform 68"/>
            <p:cNvSpPr/>
            <p:nvPr/>
          </p:nvSpPr>
          <p:spPr>
            <a:xfrm>
              <a:off x="0" y="0"/>
              <a:ext cx="4742434" cy="972058"/>
            </a:xfrm>
            <a:custGeom>
              <a:avLst/>
              <a:gdLst/>
              <a:ahLst/>
              <a:cxnLst/>
              <a:rect l="l" t="t" r="r" b="b"/>
              <a:pathLst>
                <a:path w="4742434" h="972058">
                  <a:moveTo>
                    <a:pt x="0" y="162052"/>
                  </a:moveTo>
                  <a:cubicBezTo>
                    <a:pt x="0" y="72517"/>
                    <a:pt x="72517" y="0"/>
                    <a:pt x="162052" y="0"/>
                  </a:cubicBezTo>
                  <a:lnTo>
                    <a:pt x="4580382" y="0"/>
                  </a:lnTo>
                  <a:cubicBezTo>
                    <a:pt x="4669917" y="0"/>
                    <a:pt x="4742434" y="72517"/>
                    <a:pt x="4742434" y="162052"/>
                  </a:cubicBezTo>
                  <a:lnTo>
                    <a:pt x="4742434" y="810006"/>
                  </a:lnTo>
                  <a:cubicBezTo>
                    <a:pt x="4742434" y="899541"/>
                    <a:pt x="4669917" y="972058"/>
                    <a:pt x="4580382" y="972058"/>
                  </a:cubicBezTo>
                  <a:lnTo>
                    <a:pt x="162052" y="972058"/>
                  </a:lnTo>
                  <a:cubicBezTo>
                    <a:pt x="72517" y="972058"/>
                    <a:pt x="0" y="899541"/>
                    <a:pt x="0" y="810006"/>
                  </a:cubicBezTo>
                  <a:close/>
                </a:path>
              </a:pathLst>
            </a:custGeom>
            <a:solidFill>
              <a:srgbClr val="FFFFFF">
                <a:alpha val="2353"/>
              </a:srgbClr>
            </a:solidFill>
            <a:ln w="15252" cap="sq">
              <a:solidFill>
                <a:srgbClr val="C6C9F6"/>
              </a:solidFill>
              <a:prstDash val="solid"/>
              <a:miter/>
            </a:ln>
          </p:spPr>
        </p:sp>
      </p:grpSp>
      <p:grpSp>
        <p:nvGrpSpPr>
          <p:cNvPr id="69" name="Group 69"/>
          <p:cNvGrpSpPr/>
          <p:nvPr/>
        </p:nvGrpSpPr>
        <p:grpSpPr>
          <a:xfrm>
            <a:off x="5462730" y="6369196"/>
            <a:ext cx="1262863" cy="247079"/>
            <a:chOff x="0" y="0"/>
            <a:chExt cx="1683817" cy="329438"/>
          </a:xfrm>
        </p:grpSpPr>
        <p:sp>
          <p:nvSpPr>
            <p:cNvPr id="70" name="Freeform 70"/>
            <p:cNvSpPr/>
            <p:nvPr/>
          </p:nvSpPr>
          <p:spPr>
            <a:xfrm>
              <a:off x="0" y="0"/>
              <a:ext cx="1683812" cy="329441"/>
            </a:xfrm>
            <a:custGeom>
              <a:avLst/>
              <a:gdLst/>
              <a:ahLst/>
              <a:cxnLst/>
              <a:rect l="l" t="t" r="r" b="b"/>
              <a:pathLst>
                <a:path w="1683812" h="329441">
                  <a:moveTo>
                    <a:pt x="0" y="0"/>
                  </a:moveTo>
                  <a:lnTo>
                    <a:pt x="1683812" y="0"/>
                  </a:lnTo>
                  <a:lnTo>
                    <a:pt x="1683812" y="329441"/>
                  </a:lnTo>
                  <a:lnTo>
                    <a:pt x="0" y="329441"/>
                  </a:lnTo>
                  <a:close/>
                </a:path>
              </a:pathLst>
            </a:custGeom>
            <a:blipFill>
              <a:blip r:embed="rId1">
                <a:alphaModFix amt="0"/>
              </a:blip>
              <a:stretch>
                <a:fillRect t="-49591" b="-49589"/>
              </a:stretch>
            </a:blipFill>
          </p:spPr>
        </p:sp>
        <p:sp>
          <p:nvSpPr>
            <p:cNvPr id="71" name="TextBox 71"/>
            <p:cNvSpPr txBox="1"/>
            <p:nvPr/>
          </p:nvSpPr>
          <p:spPr>
            <a:xfrm>
              <a:off x="0" y="0"/>
              <a:ext cx="1683817" cy="329438"/>
            </a:xfrm>
            <a:prstGeom prst="rect">
              <a:avLst/>
            </a:prstGeom>
          </p:spPr>
          <p:txBody>
            <a:bodyPr lIns="0" tIns="0" rIns="0" bIns="0" rtlCol="0" anchor="ctr"/>
            <a:lstStyle/>
            <a:p>
              <a:pPr algn="l">
                <a:lnSpc>
                  <a:spcPts val="1890"/>
                </a:lnSpc>
              </a:pPr>
              <a:r>
                <a:rPr lang="en-US" sz="1575" b="1">
                  <a:solidFill>
                    <a:srgbClr val="FFFFFF"/>
                  </a:solidFill>
                  <a:latin typeface="Aptos Bold" panose="020B0004020202020204"/>
                  <a:ea typeface="Aptos Bold" panose="020B0004020202020204"/>
                  <a:cs typeface="Aptos Bold" panose="020B0004020202020204"/>
                  <a:sym typeface="Aptos Bold" panose="020B0004020202020204"/>
                </a:rPr>
                <a:t>Orders</a:t>
              </a:r>
              <a:endParaRPr lang="en-US" sz="15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72" name="Group 72"/>
          <p:cNvGrpSpPr/>
          <p:nvPr/>
        </p:nvGrpSpPr>
        <p:grpSpPr>
          <a:xfrm>
            <a:off x="5462730" y="6657461"/>
            <a:ext cx="3184598" cy="219627"/>
            <a:chOff x="0" y="0"/>
            <a:chExt cx="4246131" cy="292837"/>
          </a:xfrm>
        </p:grpSpPr>
        <p:sp>
          <p:nvSpPr>
            <p:cNvPr id="73" name="Freeform 73"/>
            <p:cNvSpPr/>
            <p:nvPr/>
          </p:nvSpPr>
          <p:spPr>
            <a:xfrm>
              <a:off x="0" y="0"/>
              <a:ext cx="4246133" cy="292837"/>
            </a:xfrm>
            <a:custGeom>
              <a:avLst/>
              <a:gdLst/>
              <a:ahLst/>
              <a:cxnLst/>
              <a:rect l="l" t="t" r="r" b="b"/>
              <a:pathLst>
                <a:path w="4246133" h="292837">
                  <a:moveTo>
                    <a:pt x="0" y="0"/>
                  </a:moveTo>
                  <a:lnTo>
                    <a:pt x="4246133" y="0"/>
                  </a:lnTo>
                  <a:lnTo>
                    <a:pt x="4246133" y="292837"/>
                  </a:lnTo>
                  <a:lnTo>
                    <a:pt x="0" y="292837"/>
                  </a:lnTo>
                  <a:close/>
                </a:path>
              </a:pathLst>
            </a:custGeom>
            <a:blipFill>
              <a:blip r:embed="rId1">
                <a:alphaModFix amt="0"/>
              </a:blip>
              <a:stretch>
                <a:fillRect t="-232532" b="-232532"/>
              </a:stretch>
            </a:blipFill>
          </p:spPr>
        </p:sp>
        <p:sp>
          <p:nvSpPr>
            <p:cNvPr id="74" name="TextBox 74"/>
            <p:cNvSpPr txBox="1"/>
            <p:nvPr/>
          </p:nvSpPr>
          <p:spPr>
            <a:xfrm>
              <a:off x="0" y="-9525"/>
              <a:ext cx="4246131" cy="302362"/>
            </a:xfrm>
            <a:prstGeom prst="rect">
              <a:avLst/>
            </a:prstGeom>
          </p:spPr>
          <p:txBody>
            <a:bodyPr lIns="0" tIns="0" rIns="0" bIns="0" rtlCol="0" anchor="ctr"/>
            <a:lstStyle/>
            <a:p>
              <a:pPr algn="l">
                <a:lnSpc>
                  <a:spcPts val="1405"/>
                </a:lnSpc>
              </a:pPr>
              <a:r>
                <a:rPr lang="en-US" sz="1170">
                  <a:solidFill>
                    <a:srgbClr val="D9D7F2"/>
                  </a:solidFill>
                  <a:latin typeface="Aptos"/>
                  <a:ea typeface="Aptos"/>
                  <a:cs typeface="Aptos"/>
                  <a:sym typeface="Aptos"/>
                </a:rPr>
                <a:t>status, purchase, approval, delivery dates</a:t>
              </a:r>
              <a:endParaRPr lang="en-US" sz="1170">
                <a:solidFill>
                  <a:srgbClr val="D9D7F2"/>
                </a:solidFill>
                <a:latin typeface="Aptos"/>
                <a:ea typeface="Aptos"/>
                <a:cs typeface="Aptos"/>
                <a:sym typeface="Aptos"/>
              </a:endParaRPr>
            </a:p>
          </p:txBody>
        </p:sp>
      </p:grpSp>
      <p:grpSp>
        <p:nvGrpSpPr>
          <p:cNvPr id="75" name="Group 75"/>
          <p:cNvGrpSpPr/>
          <p:nvPr/>
        </p:nvGrpSpPr>
        <p:grpSpPr>
          <a:xfrm>
            <a:off x="9271140" y="6279213"/>
            <a:ext cx="3556749" cy="729044"/>
            <a:chOff x="0" y="0"/>
            <a:chExt cx="4742332" cy="972058"/>
          </a:xfrm>
        </p:grpSpPr>
        <p:sp>
          <p:nvSpPr>
            <p:cNvPr id="76" name="Freeform 76"/>
            <p:cNvSpPr/>
            <p:nvPr/>
          </p:nvSpPr>
          <p:spPr>
            <a:xfrm>
              <a:off x="0" y="0"/>
              <a:ext cx="4742434" cy="972058"/>
            </a:xfrm>
            <a:custGeom>
              <a:avLst/>
              <a:gdLst/>
              <a:ahLst/>
              <a:cxnLst/>
              <a:rect l="l" t="t" r="r" b="b"/>
              <a:pathLst>
                <a:path w="4742434" h="972058">
                  <a:moveTo>
                    <a:pt x="0" y="162052"/>
                  </a:moveTo>
                  <a:cubicBezTo>
                    <a:pt x="0" y="72517"/>
                    <a:pt x="72517" y="0"/>
                    <a:pt x="162052" y="0"/>
                  </a:cubicBezTo>
                  <a:lnTo>
                    <a:pt x="4580382" y="0"/>
                  </a:lnTo>
                  <a:cubicBezTo>
                    <a:pt x="4669917" y="0"/>
                    <a:pt x="4742434" y="72517"/>
                    <a:pt x="4742434" y="162052"/>
                  </a:cubicBezTo>
                  <a:lnTo>
                    <a:pt x="4742434" y="810006"/>
                  </a:lnTo>
                  <a:cubicBezTo>
                    <a:pt x="4742434" y="899541"/>
                    <a:pt x="4669917" y="972058"/>
                    <a:pt x="4580382" y="972058"/>
                  </a:cubicBezTo>
                  <a:lnTo>
                    <a:pt x="162052" y="972058"/>
                  </a:lnTo>
                  <a:cubicBezTo>
                    <a:pt x="72517" y="972058"/>
                    <a:pt x="0" y="899541"/>
                    <a:pt x="0" y="810006"/>
                  </a:cubicBezTo>
                  <a:close/>
                </a:path>
              </a:pathLst>
            </a:custGeom>
            <a:solidFill>
              <a:srgbClr val="FFFFFF">
                <a:alpha val="2353"/>
              </a:srgbClr>
            </a:solidFill>
            <a:ln w="15252" cap="sq">
              <a:solidFill>
                <a:srgbClr val="C6C9F6"/>
              </a:solidFill>
              <a:prstDash val="solid"/>
              <a:miter/>
            </a:ln>
          </p:spPr>
        </p:sp>
      </p:grpSp>
      <p:grpSp>
        <p:nvGrpSpPr>
          <p:cNvPr id="77" name="Group 77"/>
          <p:cNvGrpSpPr/>
          <p:nvPr/>
        </p:nvGrpSpPr>
        <p:grpSpPr>
          <a:xfrm>
            <a:off x="9443485" y="6369196"/>
            <a:ext cx="1262863" cy="247079"/>
            <a:chOff x="0" y="0"/>
            <a:chExt cx="1683817" cy="329438"/>
          </a:xfrm>
        </p:grpSpPr>
        <p:sp>
          <p:nvSpPr>
            <p:cNvPr id="78" name="Freeform 78"/>
            <p:cNvSpPr/>
            <p:nvPr/>
          </p:nvSpPr>
          <p:spPr>
            <a:xfrm>
              <a:off x="0" y="0"/>
              <a:ext cx="1683812" cy="329441"/>
            </a:xfrm>
            <a:custGeom>
              <a:avLst/>
              <a:gdLst/>
              <a:ahLst/>
              <a:cxnLst/>
              <a:rect l="l" t="t" r="r" b="b"/>
              <a:pathLst>
                <a:path w="1683812" h="329441">
                  <a:moveTo>
                    <a:pt x="0" y="0"/>
                  </a:moveTo>
                  <a:lnTo>
                    <a:pt x="1683812" y="0"/>
                  </a:lnTo>
                  <a:lnTo>
                    <a:pt x="1683812" y="329441"/>
                  </a:lnTo>
                  <a:lnTo>
                    <a:pt x="0" y="329441"/>
                  </a:lnTo>
                  <a:close/>
                </a:path>
              </a:pathLst>
            </a:custGeom>
            <a:blipFill>
              <a:blip r:embed="rId1">
                <a:alphaModFix amt="0"/>
              </a:blip>
              <a:stretch>
                <a:fillRect t="-49591" b="-49589"/>
              </a:stretch>
            </a:blipFill>
          </p:spPr>
        </p:sp>
        <p:sp>
          <p:nvSpPr>
            <p:cNvPr id="79" name="TextBox 79"/>
            <p:cNvSpPr txBox="1"/>
            <p:nvPr/>
          </p:nvSpPr>
          <p:spPr>
            <a:xfrm>
              <a:off x="0" y="0"/>
              <a:ext cx="1683817" cy="329438"/>
            </a:xfrm>
            <a:prstGeom prst="rect">
              <a:avLst/>
            </a:prstGeom>
          </p:spPr>
          <p:txBody>
            <a:bodyPr lIns="0" tIns="0" rIns="0" bIns="0" rtlCol="0" anchor="ctr"/>
            <a:lstStyle/>
            <a:p>
              <a:pPr algn="l">
                <a:lnSpc>
                  <a:spcPts val="1890"/>
                </a:lnSpc>
              </a:pPr>
              <a:r>
                <a:rPr lang="en-US" sz="1575" b="1">
                  <a:solidFill>
                    <a:srgbClr val="FFFFFF"/>
                  </a:solidFill>
                  <a:latin typeface="Aptos Bold" panose="020B0004020202020204"/>
                  <a:ea typeface="Aptos Bold" panose="020B0004020202020204"/>
                  <a:cs typeface="Aptos Bold" panose="020B0004020202020204"/>
                  <a:sym typeface="Aptos Bold" panose="020B0004020202020204"/>
                </a:rPr>
                <a:t>Customers</a:t>
              </a:r>
              <a:endParaRPr lang="en-US" sz="15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80" name="Group 80"/>
          <p:cNvGrpSpPr/>
          <p:nvPr/>
        </p:nvGrpSpPr>
        <p:grpSpPr>
          <a:xfrm>
            <a:off x="9443485" y="6657461"/>
            <a:ext cx="3184598" cy="219627"/>
            <a:chOff x="0" y="0"/>
            <a:chExt cx="4246131" cy="292837"/>
          </a:xfrm>
        </p:grpSpPr>
        <p:sp>
          <p:nvSpPr>
            <p:cNvPr id="81" name="Freeform 81"/>
            <p:cNvSpPr/>
            <p:nvPr/>
          </p:nvSpPr>
          <p:spPr>
            <a:xfrm>
              <a:off x="0" y="0"/>
              <a:ext cx="4246133" cy="292837"/>
            </a:xfrm>
            <a:custGeom>
              <a:avLst/>
              <a:gdLst/>
              <a:ahLst/>
              <a:cxnLst/>
              <a:rect l="l" t="t" r="r" b="b"/>
              <a:pathLst>
                <a:path w="4246133" h="292837">
                  <a:moveTo>
                    <a:pt x="0" y="0"/>
                  </a:moveTo>
                  <a:lnTo>
                    <a:pt x="4246133" y="0"/>
                  </a:lnTo>
                  <a:lnTo>
                    <a:pt x="4246133" y="292837"/>
                  </a:lnTo>
                  <a:lnTo>
                    <a:pt x="0" y="292837"/>
                  </a:lnTo>
                  <a:close/>
                </a:path>
              </a:pathLst>
            </a:custGeom>
            <a:blipFill>
              <a:blip r:embed="rId1">
                <a:alphaModFix amt="0"/>
              </a:blip>
              <a:stretch>
                <a:fillRect t="-232532" b="-232532"/>
              </a:stretch>
            </a:blipFill>
          </p:spPr>
        </p:sp>
        <p:sp>
          <p:nvSpPr>
            <p:cNvPr id="82" name="TextBox 82"/>
            <p:cNvSpPr txBox="1"/>
            <p:nvPr/>
          </p:nvSpPr>
          <p:spPr>
            <a:xfrm>
              <a:off x="0" y="-9525"/>
              <a:ext cx="4246131" cy="302362"/>
            </a:xfrm>
            <a:prstGeom prst="rect">
              <a:avLst/>
            </a:prstGeom>
          </p:spPr>
          <p:txBody>
            <a:bodyPr lIns="0" tIns="0" rIns="0" bIns="0" rtlCol="0" anchor="ctr"/>
            <a:lstStyle/>
            <a:p>
              <a:pPr algn="l">
                <a:lnSpc>
                  <a:spcPts val="1405"/>
                </a:lnSpc>
              </a:pPr>
              <a:r>
                <a:rPr lang="en-US" sz="1170">
                  <a:solidFill>
                    <a:srgbClr val="D9D7F2"/>
                  </a:solidFill>
                  <a:latin typeface="Aptos"/>
                  <a:ea typeface="Aptos"/>
                  <a:cs typeface="Aptos"/>
                  <a:sym typeface="Aptos"/>
                </a:rPr>
                <a:t>city and state information</a:t>
              </a:r>
              <a:endParaRPr lang="en-US" sz="1170">
                <a:solidFill>
                  <a:srgbClr val="D9D7F2"/>
                </a:solidFill>
                <a:latin typeface="Aptos"/>
                <a:ea typeface="Aptos"/>
                <a:cs typeface="Aptos"/>
                <a:sym typeface="Aptos"/>
              </a:endParaRPr>
            </a:p>
          </p:txBody>
        </p:sp>
      </p:grpSp>
      <p:grpSp>
        <p:nvGrpSpPr>
          <p:cNvPr id="83" name="Group 83"/>
          <p:cNvGrpSpPr/>
          <p:nvPr/>
        </p:nvGrpSpPr>
        <p:grpSpPr>
          <a:xfrm>
            <a:off x="13251885" y="6279213"/>
            <a:ext cx="3556749" cy="729044"/>
            <a:chOff x="0" y="0"/>
            <a:chExt cx="4742332" cy="972058"/>
          </a:xfrm>
        </p:grpSpPr>
        <p:sp>
          <p:nvSpPr>
            <p:cNvPr id="84" name="Freeform 84"/>
            <p:cNvSpPr/>
            <p:nvPr/>
          </p:nvSpPr>
          <p:spPr>
            <a:xfrm>
              <a:off x="0" y="0"/>
              <a:ext cx="4742434" cy="972058"/>
            </a:xfrm>
            <a:custGeom>
              <a:avLst/>
              <a:gdLst/>
              <a:ahLst/>
              <a:cxnLst/>
              <a:rect l="l" t="t" r="r" b="b"/>
              <a:pathLst>
                <a:path w="4742434" h="972058">
                  <a:moveTo>
                    <a:pt x="0" y="162052"/>
                  </a:moveTo>
                  <a:cubicBezTo>
                    <a:pt x="0" y="72517"/>
                    <a:pt x="72517" y="0"/>
                    <a:pt x="162052" y="0"/>
                  </a:cubicBezTo>
                  <a:lnTo>
                    <a:pt x="4580382" y="0"/>
                  </a:lnTo>
                  <a:cubicBezTo>
                    <a:pt x="4669917" y="0"/>
                    <a:pt x="4742434" y="72517"/>
                    <a:pt x="4742434" y="162052"/>
                  </a:cubicBezTo>
                  <a:lnTo>
                    <a:pt x="4742434" y="810006"/>
                  </a:lnTo>
                  <a:cubicBezTo>
                    <a:pt x="4742434" y="899541"/>
                    <a:pt x="4669917" y="972058"/>
                    <a:pt x="4580382" y="972058"/>
                  </a:cubicBezTo>
                  <a:lnTo>
                    <a:pt x="162052" y="972058"/>
                  </a:lnTo>
                  <a:cubicBezTo>
                    <a:pt x="72517" y="972058"/>
                    <a:pt x="0" y="899541"/>
                    <a:pt x="0" y="810006"/>
                  </a:cubicBezTo>
                  <a:close/>
                </a:path>
              </a:pathLst>
            </a:custGeom>
            <a:solidFill>
              <a:srgbClr val="FFFFFF">
                <a:alpha val="2353"/>
              </a:srgbClr>
            </a:solidFill>
            <a:ln w="15252" cap="sq">
              <a:solidFill>
                <a:srgbClr val="C6C9F6"/>
              </a:solidFill>
              <a:prstDash val="solid"/>
              <a:miter/>
            </a:ln>
          </p:spPr>
        </p:sp>
      </p:grpSp>
      <p:grpSp>
        <p:nvGrpSpPr>
          <p:cNvPr id="85" name="Group 85"/>
          <p:cNvGrpSpPr/>
          <p:nvPr/>
        </p:nvGrpSpPr>
        <p:grpSpPr>
          <a:xfrm>
            <a:off x="13424230" y="6369196"/>
            <a:ext cx="1262863" cy="247079"/>
            <a:chOff x="0" y="0"/>
            <a:chExt cx="1683817" cy="329438"/>
          </a:xfrm>
        </p:grpSpPr>
        <p:sp>
          <p:nvSpPr>
            <p:cNvPr id="86" name="Freeform 86"/>
            <p:cNvSpPr/>
            <p:nvPr/>
          </p:nvSpPr>
          <p:spPr>
            <a:xfrm>
              <a:off x="0" y="0"/>
              <a:ext cx="1683812" cy="329441"/>
            </a:xfrm>
            <a:custGeom>
              <a:avLst/>
              <a:gdLst/>
              <a:ahLst/>
              <a:cxnLst/>
              <a:rect l="l" t="t" r="r" b="b"/>
              <a:pathLst>
                <a:path w="1683812" h="329441">
                  <a:moveTo>
                    <a:pt x="0" y="0"/>
                  </a:moveTo>
                  <a:lnTo>
                    <a:pt x="1683812" y="0"/>
                  </a:lnTo>
                  <a:lnTo>
                    <a:pt x="1683812" y="329441"/>
                  </a:lnTo>
                  <a:lnTo>
                    <a:pt x="0" y="329441"/>
                  </a:lnTo>
                  <a:close/>
                </a:path>
              </a:pathLst>
            </a:custGeom>
            <a:blipFill>
              <a:blip r:embed="rId1">
                <a:alphaModFix amt="0"/>
              </a:blip>
              <a:stretch>
                <a:fillRect t="-49591" b="-49589"/>
              </a:stretch>
            </a:blipFill>
          </p:spPr>
        </p:sp>
        <p:sp>
          <p:nvSpPr>
            <p:cNvPr id="87" name="TextBox 87"/>
            <p:cNvSpPr txBox="1"/>
            <p:nvPr/>
          </p:nvSpPr>
          <p:spPr>
            <a:xfrm>
              <a:off x="0" y="0"/>
              <a:ext cx="1683817" cy="329438"/>
            </a:xfrm>
            <a:prstGeom prst="rect">
              <a:avLst/>
            </a:prstGeom>
          </p:spPr>
          <p:txBody>
            <a:bodyPr lIns="0" tIns="0" rIns="0" bIns="0" rtlCol="0" anchor="ctr"/>
            <a:lstStyle/>
            <a:p>
              <a:pPr algn="l">
                <a:lnSpc>
                  <a:spcPts val="1890"/>
                </a:lnSpc>
              </a:pPr>
              <a:r>
                <a:rPr lang="en-US" sz="1575" b="1">
                  <a:solidFill>
                    <a:srgbClr val="FFFFFF"/>
                  </a:solidFill>
                  <a:latin typeface="Aptos Bold" panose="020B0004020202020204"/>
                  <a:ea typeface="Aptos Bold" panose="020B0004020202020204"/>
                  <a:cs typeface="Aptos Bold" panose="020B0004020202020204"/>
                  <a:sym typeface="Aptos Bold" panose="020B0004020202020204"/>
                </a:rPr>
                <a:t>Sellers</a:t>
              </a:r>
              <a:endParaRPr lang="en-US" sz="15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88" name="Group 88"/>
          <p:cNvGrpSpPr/>
          <p:nvPr/>
        </p:nvGrpSpPr>
        <p:grpSpPr>
          <a:xfrm>
            <a:off x="13424230" y="6657461"/>
            <a:ext cx="3184598" cy="219627"/>
            <a:chOff x="0" y="0"/>
            <a:chExt cx="4246131" cy="292837"/>
          </a:xfrm>
        </p:grpSpPr>
        <p:sp>
          <p:nvSpPr>
            <p:cNvPr id="89" name="Freeform 89"/>
            <p:cNvSpPr/>
            <p:nvPr/>
          </p:nvSpPr>
          <p:spPr>
            <a:xfrm>
              <a:off x="0" y="0"/>
              <a:ext cx="4246133" cy="292837"/>
            </a:xfrm>
            <a:custGeom>
              <a:avLst/>
              <a:gdLst/>
              <a:ahLst/>
              <a:cxnLst/>
              <a:rect l="l" t="t" r="r" b="b"/>
              <a:pathLst>
                <a:path w="4246133" h="292837">
                  <a:moveTo>
                    <a:pt x="0" y="0"/>
                  </a:moveTo>
                  <a:lnTo>
                    <a:pt x="4246133" y="0"/>
                  </a:lnTo>
                  <a:lnTo>
                    <a:pt x="4246133" y="292837"/>
                  </a:lnTo>
                  <a:lnTo>
                    <a:pt x="0" y="292837"/>
                  </a:lnTo>
                  <a:close/>
                </a:path>
              </a:pathLst>
            </a:custGeom>
            <a:blipFill>
              <a:blip r:embed="rId1">
                <a:alphaModFix amt="0"/>
              </a:blip>
              <a:stretch>
                <a:fillRect t="-232532" b="-232532"/>
              </a:stretch>
            </a:blipFill>
          </p:spPr>
        </p:sp>
        <p:sp>
          <p:nvSpPr>
            <p:cNvPr id="90" name="TextBox 90"/>
            <p:cNvSpPr txBox="1"/>
            <p:nvPr/>
          </p:nvSpPr>
          <p:spPr>
            <a:xfrm>
              <a:off x="0" y="-9525"/>
              <a:ext cx="4246131" cy="302362"/>
            </a:xfrm>
            <a:prstGeom prst="rect">
              <a:avLst/>
            </a:prstGeom>
          </p:spPr>
          <p:txBody>
            <a:bodyPr lIns="0" tIns="0" rIns="0" bIns="0" rtlCol="0" anchor="ctr"/>
            <a:lstStyle/>
            <a:p>
              <a:pPr algn="l">
                <a:lnSpc>
                  <a:spcPts val="1405"/>
                </a:lnSpc>
              </a:pPr>
              <a:r>
                <a:rPr lang="en-US" sz="1170">
                  <a:solidFill>
                    <a:srgbClr val="D9D7F2"/>
                  </a:solidFill>
                  <a:latin typeface="Aptos"/>
                  <a:ea typeface="Aptos"/>
                  <a:cs typeface="Aptos"/>
                  <a:sym typeface="Aptos"/>
                </a:rPr>
                <a:t>seller IDs, city and state</a:t>
              </a:r>
              <a:endParaRPr lang="en-US" sz="1170">
                <a:solidFill>
                  <a:srgbClr val="D9D7F2"/>
                </a:solidFill>
                <a:latin typeface="Aptos"/>
                <a:ea typeface="Aptos"/>
                <a:cs typeface="Aptos"/>
                <a:sym typeface="Aptos"/>
              </a:endParaRPr>
            </a:p>
          </p:txBody>
        </p:sp>
      </p:grpSp>
      <p:grpSp>
        <p:nvGrpSpPr>
          <p:cNvPr id="91" name="Group 91"/>
          <p:cNvGrpSpPr/>
          <p:nvPr/>
        </p:nvGrpSpPr>
        <p:grpSpPr>
          <a:xfrm>
            <a:off x="5290385" y="7267537"/>
            <a:ext cx="3556749" cy="729044"/>
            <a:chOff x="0" y="0"/>
            <a:chExt cx="4742332" cy="972058"/>
          </a:xfrm>
        </p:grpSpPr>
        <p:sp>
          <p:nvSpPr>
            <p:cNvPr id="92" name="Freeform 92"/>
            <p:cNvSpPr/>
            <p:nvPr/>
          </p:nvSpPr>
          <p:spPr>
            <a:xfrm>
              <a:off x="0" y="0"/>
              <a:ext cx="4742434" cy="972058"/>
            </a:xfrm>
            <a:custGeom>
              <a:avLst/>
              <a:gdLst/>
              <a:ahLst/>
              <a:cxnLst/>
              <a:rect l="l" t="t" r="r" b="b"/>
              <a:pathLst>
                <a:path w="4742434" h="972058">
                  <a:moveTo>
                    <a:pt x="0" y="162052"/>
                  </a:moveTo>
                  <a:cubicBezTo>
                    <a:pt x="0" y="72517"/>
                    <a:pt x="72517" y="0"/>
                    <a:pt x="162052" y="0"/>
                  </a:cubicBezTo>
                  <a:lnTo>
                    <a:pt x="4580382" y="0"/>
                  </a:lnTo>
                  <a:cubicBezTo>
                    <a:pt x="4669917" y="0"/>
                    <a:pt x="4742434" y="72517"/>
                    <a:pt x="4742434" y="162052"/>
                  </a:cubicBezTo>
                  <a:lnTo>
                    <a:pt x="4742434" y="810006"/>
                  </a:lnTo>
                  <a:cubicBezTo>
                    <a:pt x="4742434" y="899541"/>
                    <a:pt x="4669917" y="972058"/>
                    <a:pt x="4580382" y="972058"/>
                  </a:cubicBezTo>
                  <a:lnTo>
                    <a:pt x="162052" y="972058"/>
                  </a:lnTo>
                  <a:cubicBezTo>
                    <a:pt x="72517" y="972058"/>
                    <a:pt x="0" y="899541"/>
                    <a:pt x="0" y="810006"/>
                  </a:cubicBezTo>
                  <a:close/>
                </a:path>
              </a:pathLst>
            </a:custGeom>
            <a:solidFill>
              <a:srgbClr val="FFFFFF">
                <a:alpha val="2353"/>
              </a:srgbClr>
            </a:solidFill>
            <a:ln w="15252" cap="sq">
              <a:solidFill>
                <a:srgbClr val="C6C9F6"/>
              </a:solidFill>
              <a:prstDash val="solid"/>
              <a:miter/>
            </a:ln>
          </p:spPr>
        </p:sp>
      </p:grpSp>
      <p:grpSp>
        <p:nvGrpSpPr>
          <p:cNvPr id="93" name="Group 93"/>
          <p:cNvGrpSpPr/>
          <p:nvPr/>
        </p:nvGrpSpPr>
        <p:grpSpPr>
          <a:xfrm>
            <a:off x="5462730" y="7357520"/>
            <a:ext cx="1262863" cy="247079"/>
            <a:chOff x="0" y="0"/>
            <a:chExt cx="1683817" cy="329438"/>
          </a:xfrm>
        </p:grpSpPr>
        <p:sp>
          <p:nvSpPr>
            <p:cNvPr id="94" name="Freeform 94"/>
            <p:cNvSpPr/>
            <p:nvPr/>
          </p:nvSpPr>
          <p:spPr>
            <a:xfrm>
              <a:off x="0" y="0"/>
              <a:ext cx="1683812" cy="329441"/>
            </a:xfrm>
            <a:custGeom>
              <a:avLst/>
              <a:gdLst/>
              <a:ahLst/>
              <a:cxnLst/>
              <a:rect l="l" t="t" r="r" b="b"/>
              <a:pathLst>
                <a:path w="1683812" h="329441">
                  <a:moveTo>
                    <a:pt x="0" y="0"/>
                  </a:moveTo>
                  <a:lnTo>
                    <a:pt x="1683812" y="0"/>
                  </a:lnTo>
                  <a:lnTo>
                    <a:pt x="1683812" y="329441"/>
                  </a:lnTo>
                  <a:lnTo>
                    <a:pt x="0" y="329441"/>
                  </a:lnTo>
                  <a:close/>
                </a:path>
              </a:pathLst>
            </a:custGeom>
            <a:blipFill>
              <a:blip r:embed="rId1">
                <a:alphaModFix amt="0"/>
              </a:blip>
              <a:stretch>
                <a:fillRect t="-49591" b="-49589"/>
              </a:stretch>
            </a:blipFill>
          </p:spPr>
        </p:sp>
        <p:sp>
          <p:nvSpPr>
            <p:cNvPr id="95" name="TextBox 95"/>
            <p:cNvSpPr txBox="1"/>
            <p:nvPr/>
          </p:nvSpPr>
          <p:spPr>
            <a:xfrm>
              <a:off x="0" y="0"/>
              <a:ext cx="1683817" cy="329438"/>
            </a:xfrm>
            <a:prstGeom prst="rect">
              <a:avLst/>
            </a:prstGeom>
          </p:spPr>
          <p:txBody>
            <a:bodyPr lIns="0" tIns="0" rIns="0" bIns="0" rtlCol="0" anchor="ctr"/>
            <a:lstStyle/>
            <a:p>
              <a:pPr algn="l">
                <a:lnSpc>
                  <a:spcPts val="1890"/>
                </a:lnSpc>
              </a:pPr>
              <a:r>
                <a:rPr lang="en-US" sz="1575" b="1">
                  <a:solidFill>
                    <a:srgbClr val="FFFFFF"/>
                  </a:solidFill>
                  <a:latin typeface="Aptos Bold" panose="020B0004020202020204"/>
                  <a:ea typeface="Aptos Bold" panose="020B0004020202020204"/>
                  <a:cs typeface="Aptos Bold" panose="020B0004020202020204"/>
                  <a:sym typeface="Aptos Bold" panose="020B0004020202020204"/>
                </a:rPr>
                <a:t>Products</a:t>
              </a:r>
              <a:endParaRPr lang="en-US" sz="15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96" name="Group 96"/>
          <p:cNvGrpSpPr/>
          <p:nvPr/>
        </p:nvGrpSpPr>
        <p:grpSpPr>
          <a:xfrm>
            <a:off x="5462730" y="7645784"/>
            <a:ext cx="3184598" cy="219627"/>
            <a:chOff x="0" y="0"/>
            <a:chExt cx="4246131" cy="292837"/>
          </a:xfrm>
        </p:grpSpPr>
        <p:sp>
          <p:nvSpPr>
            <p:cNvPr id="97" name="Freeform 97"/>
            <p:cNvSpPr/>
            <p:nvPr/>
          </p:nvSpPr>
          <p:spPr>
            <a:xfrm>
              <a:off x="0" y="0"/>
              <a:ext cx="4246133" cy="292837"/>
            </a:xfrm>
            <a:custGeom>
              <a:avLst/>
              <a:gdLst/>
              <a:ahLst/>
              <a:cxnLst/>
              <a:rect l="l" t="t" r="r" b="b"/>
              <a:pathLst>
                <a:path w="4246133" h="292837">
                  <a:moveTo>
                    <a:pt x="0" y="0"/>
                  </a:moveTo>
                  <a:lnTo>
                    <a:pt x="4246133" y="0"/>
                  </a:lnTo>
                  <a:lnTo>
                    <a:pt x="4246133" y="292837"/>
                  </a:lnTo>
                  <a:lnTo>
                    <a:pt x="0" y="292837"/>
                  </a:lnTo>
                  <a:close/>
                </a:path>
              </a:pathLst>
            </a:custGeom>
            <a:blipFill>
              <a:blip r:embed="rId1">
                <a:alphaModFix amt="0"/>
              </a:blip>
              <a:stretch>
                <a:fillRect t="-232532" b="-232532"/>
              </a:stretch>
            </a:blipFill>
          </p:spPr>
        </p:sp>
        <p:sp>
          <p:nvSpPr>
            <p:cNvPr id="98" name="TextBox 98"/>
            <p:cNvSpPr txBox="1"/>
            <p:nvPr/>
          </p:nvSpPr>
          <p:spPr>
            <a:xfrm>
              <a:off x="0" y="-9525"/>
              <a:ext cx="4246131" cy="302362"/>
            </a:xfrm>
            <a:prstGeom prst="rect">
              <a:avLst/>
            </a:prstGeom>
          </p:spPr>
          <p:txBody>
            <a:bodyPr lIns="0" tIns="0" rIns="0" bIns="0" rtlCol="0" anchor="ctr"/>
            <a:lstStyle/>
            <a:p>
              <a:pPr algn="l">
                <a:lnSpc>
                  <a:spcPts val="1405"/>
                </a:lnSpc>
              </a:pPr>
              <a:r>
                <a:rPr lang="en-US" sz="1170">
                  <a:solidFill>
                    <a:srgbClr val="D9D7F2"/>
                  </a:solidFill>
                  <a:latin typeface="Aptos"/>
                  <a:ea typeface="Aptos"/>
                  <a:cs typeface="Aptos"/>
                  <a:sym typeface="Aptos"/>
                </a:rPr>
                <a:t>category, dimensions and weight</a:t>
              </a:r>
              <a:endParaRPr lang="en-US" sz="1170">
                <a:solidFill>
                  <a:srgbClr val="D9D7F2"/>
                </a:solidFill>
                <a:latin typeface="Aptos"/>
                <a:ea typeface="Aptos"/>
                <a:cs typeface="Aptos"/>
                <a:sym typeface="Aptos"/>
              </a:endParaRPr>
            </a:p>
          </p:txBody>
        </p:sp>
      </p:grpSp>
      <p:grpSp>
        <p:nvGrpSpPr>
          <p:cNvPr id="99" name="Group 99"/>
          <p:cNvGrpSpPr/>
          <p:nvPr/>
        </p:nvGrpSpPr>
        <p:grpSpPr>
          <a:xfrm>
            <a:off x="9271140" y="7267537"/>
            <a:ext cx="3556749" cy="729044"/>
            <a:chOff x="0" y="0"/>
            <a:chExt cx="4742332" cy="972058"/>
          </a:xfrm>
        </p:grpSpPr>
        <p:sp>
          <p:nvSpPr>
            <p:cNvPr id="100" name="Freeform 100"/>
            <p:cNvSpPr/>
            <p:nvPr/>
          </p:nvSpPr>
          <p:spPr>
            <a:xfrm>
              <a:off x="0" y="0"/>
              <a:ext cx="4742434" cy="972058"/>
            </a:xfrm>
            <a:custGeom>
              <a:avLst/>
              <a:gdLst/>
              <a:ahLst/>
              <a:cxnLst/>
              <a:rect l="l" t="t" r="r" b="b"/>
              <a:pathLst>
                <a:path w="4742434" h="972058">
                  <a:moveTo>
                    <a:pt x="0" y="162052"/>
                  </a:moveTo>
                  <a:cubicBezTo>
                    <a:pt x="0" y="72517"/>
                    <a:pt x="72517" y="0"/>
                    <a:pt x="162052" y="0"/>
                  </a:cubicBezTo>
                  <a:lnTo>
                    <a:pt x="4580382" y="0"/>
                  </a:lnTo>
                  <a:cubicBezTo>
                    <a:pt x="4669917" y="0"/>
                    <a:pt x="4742434" y="72517"/>
                    <a:pt x="4742434" y="162052"/>
                  </a:cubicBezTo>
                  <a:lnTo>
                    <a:pt x="4742434" y="810006"/>
                  </a:lnTo>
                  <a:cubicBezTo>
                    <a:pt x="4742434" y="899541"/>
                    <a:pt x="4669917" y="972058"/>
                    <a:pt x="4580382" y="972058"/>
                  </a:cubicBezTo>
                  <a:lnTo>
                    <a:pt x="162052" y="972058"/>
                  </a:lnTo>
                  <a:cubicBezTo>
                    <a:pt x="72517" y="972058"/>
                    <a:pt x="0" y="899541"/>
                    <a:pt x="0" y="810006"/>
                  </a:cubicBezTo>
                  <a:close/>
                </a:path>
              </a:pathLst>
            </a:custGeom>
            <a:solidFill>
              <a:srgbClr val="FFFFFF">
                <a:alpha val="2353"/>
              </a:srgbClr>
            </a:solidFill>
            <a:ln w="15252" cap="sq">
              <a:solidFill>
                <a:srgbClr val="C6C9F6"/>
              </a:solidFill>
              <a:prstDash val="solid"/>
              <a:miter/>
            </a:ln>
          </p:spPr>
        </p:sp>
      </p:grpSp>
      <p:grpSp>
        <p:nvGrpSpPr>
          <p:cNvPr id="101" name="Group 101"/>
          <p:cNvGrpSpPr/>
          <p:nvPr/>
        </p:nvGrpSpPr>
        <p:grpSpPr>
          <a:xfrm>
            <a:off x="9443485" y="7357520"/>
            <a:ext cx="1262863" cy="247079"/>
            <a:chOff x="0" y="0"/>
            <a:chExt cx="1683817" cy="329438"/>
          </a:xfrm>
        </p:grpSpPr>
        <p:sp>
          <p:nvSpPr>
            <p:cNvPr id="102" name="Freeform 102"/>
            <p:cNvSpPr/>
            <p:nvPr/>
          </p:nvSpPr>
          <p:spPr>
            <a:xfrm>
              <a:off x="0" y="0"/>
              <a:ext cx="1683812" cy="329441"/>
            </a:xfrm>
            <a:custGeom>
              <a:avLst/>
              <a:gdLst/>
              <a:ahLst/>
              <a:cxnLst/>
              <a:rect l="l" t="t" r="r" b="b"/>
              <a:pathLst>
                <a:path w="1683812" h="329441">
                  <a:moveTo>
                    <a:pt x="0" y="0"/>
                  </a:moveTo>
                  <a:lnTo>
                    <a:pt x="1683812" y="0"/>
                  </a:lnTo>
                  <a:lnTo>
                    <a:pt x="1683812" y="329441"/>
                  </a:lnTo>
                  <a:lnTo>
                    <a:pt x="0" y="329441"/>
                  </a:lnTo>
                  <a:close/>
                </a:path>
              </a:pathLst>
            </a:custGeom>
            <a:blipFill>
              <a:blip r:embed="rId1">
                <a:alphaModFix amt="0"/>
              </a:blip>
              <a:stretch>
                <a:fillRect t="-49591" b="-49589"/>
              </a:stretch>
            </a:blipFill>
          </p:spPr>
        </p:sp>
        <p:sp>
          <p:nvSpPr>
            <p:cNvPr id="103" name="TextBox 103"/>
            <p:cNvSpPr txBox="1"/>
            <p:nvPr/>
          </p:nvSpPr>
          <p:spPr>
            <a:xfrm>
              <a:off x="0" y="0"/>
              <a:ext cx="1683817" cy="329438"/>
            </a:xfrm>
            <a:prstGeom prst="rect">
              <a:avLst/>
            </a:prstGeom>
          </p:spPr>
          <p:txBody>
            <a:bodyPr lIns="0" tIns="0" rIns="0" bIns="0" rtlCol="0" anchor="ctr"/>
            <a:lstStyle/>
            <a:p>
              <a:pPr algn="l">
                <a:lnSpc>
                  <a:spcPts val="1890"/>
                </a:lnSpc>
              </a:pPr>
              <a:r>
                <a:rPr lang="en-US" sz="1575" b="1">
                  <a:solidFill>
                    <a:srgbClr val="FFFFFF"/>
                  </a:solidFill>
                  <a:latin typeface="Aptos Bold" panose="020B0004020202020204"/>
                  <a:ea typeface="Aptos Bold" panose="020B0004020202020204"/>
                  <a:cs typeface="Aptos Bold" panose="020B0004020202020204"/>
                  <a:sym typeface="Aptos Bold" panose="020B0004020202020204"/>
                </a:rPr>
                <a:t>Payments</a:t>
              </a:r>
              <a:endParaRPr lang="en-US" sz="15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104" name="Group 104"/>
          <p:cNvGrpSpPr/>
          <p:nvPr/>
        </p:nvGrpSpPr>
        <p:grpSpPr>
          <a:xfrm>
            <a:off x="9443485" y="7645784"/>
            <a:ext cx="3184598" cy="219627"/>
            <a:chOff x="0" y="0"/>
            <a:chExt cx="4246131" cy="292837"/>
          </a:xfrm>
        </p:grpSpPr>
        <p:sp>
          <p:nvSpPr>
            <p:cNvPr id="105" name="Freeform 105"/>
            <p:cNvSpPr/>
            <p:nvPr/>
          </p:nvSpPr>
          <p:spPr>
            <a:xfrm>
              <a:off x="0" y="0"/>
              <a:ext cx="4246133" cy="292837"/>
            </a:xfrm>
            <a:custGeom>
              <a:avLst/>
              <a:gdLst/>
              <a:ahLst/>
              <a:cxnLst/>
              <a:rect l="l" t="t" r="r" b="b"/>
              <a:pathLst>
                <a:path w="4246133" h="292837">
                  <a:moveTo>
                    <a:pt x="0" y="0"/>
                  </a:moveTo>
                  <a:lnTo>
                    <a:pt x="4246133" y="0"/>
                  </a:lnTo>
                  <a:lnTo>
                    <a:pt x="4246133" y="292837"/>
                  </a:lnTo>
                  <a:lnTo>
                    <a:pt x="0" y="292837"/>
                  </a:lnTo>
                  <a:close/>
                </a:path>
              </a:pathLst>
            </a:custGeom>
            <a:blipFill>
              <a:blip r:embed="rId1">
                <a:alphaModFix amt="0"/>
              </a:blip>
              <a:stretch>
                <a:fillRect t="-232532" b="-232532"/>
              </a:stretch>
            </a:blipFill>
          </p:spPr>
        </p:sp>
        <p:sp>
          <p:nvSpPr>
            <p:cNvPr id="106" name="TextBox 106"/>
            <p:cNvSpPr txBox="1"/>
            <p:nvPr/>
          </p:nvSpPr>
          <p:spPr>
            <a:xfrm>
              <a:off x="0" y="-9525"/>
              <a:ext cx="4246131" cy="302362"/>
            </a:xfrm>
            <a:prstGeom prst="rect">
              <a:avLst/>
            </a:prstGeom>
          </p:spPr>
          <p:txBody>
            <a:bodyPr lIns="0" tIns="0" rIns="0" bIns="0" rtlCol="0" anchor="ctr"/>
            <a:lstStyle/>
            <a:p>
              <a:pPr algn="l">
                <a:lnSpc>
                  <a:spcPts val="1405"/>
                </a:lnSpc>
              </a:pPr>
              <a:r>
                <a:rPr lang="en-US" sz="1170">
                  <a:solidFill>
                    <a:srgbClr val="D9D7F2"/>
                  </a:solidFill>
                  <a:latin typeface="Aptos"/>
                  <a:ea typeface="Aptos"/>
                  <a:cs typeface="Aptos"/>
                  <a:sym typeface="Aptos"/>
                </a:rPr>
                <a:t>type, installments and value</a:t>
              </a:r>
              <a:endParaRPr lang="en-US" sz="1170">
                <a:solidFill>
                  <a:srgbClr val="D9D7F2"/>
                </a:solidFill>
                <a:latin typeface="Aptos"/>
                <a:ea typeface="Aptos"/>
                <a:cs typeface="Aptos"/>
                <a:sym typeface="Aptos"/>
              </a:endParaRPr>
            </a:p>
          </p:txBody>
        </p:sp>
      </p:grpSp>
      <p:grpSp>
        <p:nvGrpSpPr>
          <p:cNvPr id="107" name="Group 107"/>
          <p:cNvGrpSpPr/>
          <p:nvPr/>
        </p:nvGrpSpPr>
        <p:grpSpPr>
          <a:xfrm>
            <a:off x="13251885" y="7267537"/>
            <a:ext cx="3556749" cy="729044"/>
            <a:chOff x="0" y="0"/>
            <a:chExt cx="4742332" cy="972058"/>
          </a:xfrm>
        </p:grpSpPr>
        <p:sp>
          <p:nvSpPr>
            <p:cNvPr id="108" name="Freeform 108"/>
            <p:cNvSpPr/>
            <p:nvPr/>
          </p:nvSpPr>
          <p:spPr>
            <a:xfrm>
              <a:off x="0" y="0"/>
              <a:ext cx="4742434" cy="972058"/>
            </a:xfrm>
            <a:custGeom>
              <a:avLst/>
              <a:gdLst/>
              <a:ahLst/>
              <a:cxnLst/>
              <a:rect l="l" t="t" r="r" b="b"/>
              <a:pathLst>
                <a:path w="4742434" h="972058">
                  <a:moveTo>
                    <a:pt x="0" y="162052"/>
                  </a:moveTo>
                  <a:cubicBezTo>
                    <a:pt x="0" y="72517"/>
                    <a:pt x="72517" y="0"/>
                    <a:pt x="162052" y="0"/>
                  </a:cubicBezTo>
                  <a:lnTo>
                    <a:pt x="4580382" y="0"/>
                  </a:lnTo>
                  <a:cubicBezTo>
                    <a:pt x="4669917" y="0"/>
                    <a:pt x="4742434" y="72517"/>
                    <a:pt x="4742434" y="162052"/>
                  </a:cubicBezTo>
                  <a:lnTo>
                    <a:pt x="4742434" y="810006"/>
                  </a:lnTo>
                  <a:cubicBezTo>
                    <a:pt x="4742434" y="899541"/>
                    <a:pt x="4669917" y="972058"/>
                    <a:pt x="4580382" y="972058"/>
                  </a:cubicBezTo>
                  <a:lnTo>
                    <a:pt x="162052" y="972058"/>
                  </a:lnTo>
                  <a:cubicBezTo>
                    <a:pt x="72517" y="972058"/>
                    <a:pt x="0" y="899541"/>
                    <a:pt x="0" y="810006"/>
                  </a:cubicBezTo>
                  <a:close/>
                </a:path>
              </a:pathLst>
            </a:custGeom>
            <a:solidFill>
              <a:srgbClr val="FFFFFF">
                <a:alpha val="2353"/>
              </a:srgbClr>
            </a:solidFill>
            <a:ln w="15252" cap="sq">
              <a:solidFill>
                <a:srgbClr val="C6C9F6"/>
              </a:solidFill>
              <a:prstDash val="solid"/>
              <a:miter/>
            </a:ln>
          </p:spPr>
        </p:sp>
      </p:grpSp>
      <p:grpSp>
        <p:nvGrpSpPr>
          <p:cNvPr id="109" name="Group 109"/>
          <p:cNvGrpSpPr/>
          <p:nvPr/>
        </p:nvGrpSpPr>
        <p:grpSpPr>
          <a:xfrm>
            <a:off x="13424230" y="7357520"/>
            <a:ext cx="1262863" cy="247079"/>
            <a:chOff x="0" y="0"/>
            <a:chExt cx="1683817" cy="329438"/>
          </a:xfrm>
        </p:grpSpPr>
        <p:sp>
          <p:nvSpPr>
            <p:cNvPr id="110" name="Freeform 110"/>
            <p:cNvSpPr/>
            <p:nvPr/>
          </p:nvSpPr>
          <p:spPr>
            <a:xfrm>
              <a:off x="0" y="0"/>
              <a:ext cx="1683812" cy="329441"/>
            </a:xfrm>
            <a:custGeom>
              <a:avLst/>
              <a:gdLst/>
              <a:ahLst/>
              <a:cxnLst/>
              <a:rect l="l" t="t" r="r" b="b"/>
              <a:pathLst>
                <a:path w="1683812" h="329441">
                  <a:moveTo>
                    <a:pt x="0" y="0"/>
                  </a:moveTo>
                  <a:lnTo>
                    <a:pt x="1683812" y="0"/>
                  </a:lnTo>
                  <a:lnTo>
                    <a:pt x="1683812" y="329441"/>
                  </a:lnTo>
                  <a:lnTo>
                    <a:pt x="0" y="329441"/>
                  </a:lnTo>
                  <a:close/>
                </a:path>
              </a:pathLst>
            </a:custGeom>
            <a:blipFill>
              <a:blip r:embed="rId1">
                <a:alphaModFix amt="0"/>
              </a:blip>
              <a:stretch>
                <a:fillRect t="-49591" b="-49589"/>
              </a:stretch>
            </a:blipFill>
          </p:spPr>
        </p:sp>
        <p:sp>
          <p:nvSpPr>
            <p:cNvPr id="111" name="TextBox 111"/>
            <p:cNvSpPr txBox="1"/>
            <p:nvPr/>
          </p:nvSpPr>
          <p:spPr>
            <a:xfrm>
              <a:off x="0" y="0"/>
              <a:ext cx="1683817" cy="329438"/>
            </a:xfrm>
            <a:prstGeom prst="rect">
              <a:avLst/>
            </a:prstGeom>
          </p:spPr>
          <p:txBody>
            <a:bodyPr lIns="0" tIns="0" rIns="0" bIns="0" rtlCol="0" anchor="ctr"/>
            <a:lstStyle/>
            <a:p>
              <a:pPr algn="l">
                <a:lnSpc>
                  <a:spcPts val="1890"/>
                </a:lnSpc>
              </a:pPr>
              <a:r>
                <a:rPr lang="en-US" sz="1575" b="1">
                  <a:solidFill>
                    <a:srgbClr val="FFFFFF"/>
                  </a:solidFill>
                  <a:latin typeface="Aptos Bold" panose="020B0004020202020204"/>
                  <a:ea typeface="Aptos Bold" panose="020B0004020202020204"/>
                  <a:cs typeface="Aptos Bold" panose="020B0004020202020204"/>
                  <a:sym typeface="Aptos Bold" panose="020B0004020202020204"/>
                </a:rPr>
                <a:t>Reviews</a:t>
              </a:r>
              <a:endParaRPr lang="en-US" sz="157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112" name="Group 112"/>
          <p:cNvGrpSpPr/>
          <p:nvPr/>
        </p:nvGrpSpPr>
        <p:grpSpPr>
          <a:xfrm>
            <a:off x="13424230" y="7645784"/>
            <a:ext cx="3184598" cy="219627"/>
            <a:chOff x="0" y="0"/>
            <a:chExt cx="4246131" cy="292837"/>
          </a:xfrm>
        </p:grpSpPr>
        <p:sp>
          <p:nvSpPr>
            <p:cNvPr id="113" name="Freeform 113"/>
            <p:cNvSpPr/>
            <p:nvPr/>
          </p:nvSpPr>
          <p:spPr>
            <a:xfrm>
              <a:off x="0" y="0"/>
              <a:ext cx="4246133" cy="292837"/>
            </a:xfrm>
            <a:custGeom>
              <a:avLst/>
              <a:gdLst/>
              <a:ahLst/>
              <a:cxnLst/>
              <a:rect l="l" t="t" r="r" b="b"/>
              <a:pathLst>
                <a:path w="4246133" h="292837">
                  <a:moveTo>
                    <a:pt x="0" y="0"/>
                  </a:moveTo>
                  <a:lnTo>
                    <a:pt x="4246133" y="0"/>
                  </a:lnTo>
                  <a:lnTo>
                    <a:pt x="4246133" y="292837"/>
                  </a:lnTo>
                  <a:lnTo>
                    <a:pt x="0" y="292837"/>
                  </a:lnTo>
                  <a:close/>
                </a:path>
              </a:pathLst>
            </a:custGeom>
            <a:blipFill>
              <a:blip r:embed="rId1">
                <a:alphaModFix amt="0"/>
              </a:blip>
              <a:stretch>
                <a:fillRect t="-232532" b="-232532"/>
              </a:stretch>
            </a:blipFill>
          </p:spPr>
        </p:sp>
        <p:sp>
          <p:nvSpPr>
            <p:cNvPr id="114" name="TextBox 114"/>
            <p:cNvSpPr txBox="1"/>
            <p:nvPr/>
          </p:nvSpPr>
          <p:spPr>
            <a:xfrm>
              <a:off x="0" y="-9525"/>
              <a:ext cx="4246131" cy="302362"/>
            </a:xfrm>
            <a:prstGeom prst="rect">
              <a:avLst/>
            </a:prstGeom>
          </p:spPr>
          <p:txBody>
            <a:bodyPr lIns="0" tIns="0" rIns="0" bIns="0" rtlCol="0" anchor="ctr"/>
            <a:lstStyle/>
            <a:p>
              <a:pPr algn="l">
                <a:lnSpc>
                  <a:spcPts val="1405"/>
                </a:lnSpc>
              </a:pPr>
              <a:r>
                <a:rPr lang="en-US" sz="1170">
                  <a:solidFill>
                    <a:srgbClr val="D9D7F2"/>
                  </a:solidFill>
                  <a:latin typeface="Aptos"/>
                  <a:ea typeface="Aptos"/>
                  <a:cs typeface="Aptos"/>
                  <a:sym typeface="Aptos"/>
                </a:rPr>
                <a:t>score, creation and answer time</a:t>
              </a:r>
              <a:endParaRPr lang="en-US" sz="1170">
                <a:solidFill>
                  <a:srgbClr val="D9D7F2"/>
                </a:solidFill>
                <a:latin typeface="Aptos"/>
                <a:ea typeface="Aptos"/>
                <a:cs typeface="Aptos"/>
                <a:sym typeface="Aptos"/>
              </a:endParaRPr>
            </a:p>
          </p:txBody>
        </p:sp>
      </p:grpSp>
      <p:grpSp>
        <p:nvGrpSpPr>
          <p:cNvPr id="115" name="Group 115"/>
          <p:cNvGrpSpPr/>
          <p:nvPr/>
        </p:nvGrpSpPr>
        <p:grpSpPr>
          <a:xfrm>
            <a:off x="4835500" y="8775573"/>
            <a:ext cx="12853549" cy="677951"/>
            <a:chOff x="0" y="0"/>
            <a:chExt cx="17138066" cy="903935"/>
          </a:xfrm>
        </p:grpSpPr>
        <p:sp>
          <p:nvSpPr>
            <p:cNvPr id="116" name="Freeform 116"/>
            <p:cNvSpPr/>
            <p:nvPr/>
          </p:nvSpPr>
          <p:spPr>
            <a:xfrm>
              <a:off x="0" y="0"/>
              <a:ext cx="17138014" cy="903859"/>
            </a:xfrm>
            <a:custGeom>
              <a:avLst/>
              <a:gdLst/>
              <a:ahLst/>
              <a:cxnLst/>
              <a:rect l="l" t="t" r="r" b="b"/>
              <a:pathLst>
                <a:path w="17138014" h="903859">
                  <a:moveTo>
                    <a:pt x="0" y="150622"/>
                  </a:moveTo>
                  <a:cubicBezTo>
                    <a:pt x="0" y="67437"/>
                    <a:pt x="67437" y="0"/>
                    <a:pt x="150622" y="0"/>
                  </a:cubicBezTo>
                  <a:lnTo>
                    <a:pt x="16987393" y="0"/>
                  </a:lnTo>
                  <a:cubicBezTo>
                    <a:pt x="17070578" y="0"/>
                    <a:pt x="17138014" y="67437"/>
                    <a:pt x="17138014" y="150622"/>
                  </a:cubicBezTo>
                  <a:lnTo>
                    <a:pt x="17138014" y="753237"/>
                  </a:lnTo>
                  <a:cubicBezTo>
                    <a:pt x="17138014" y="836422"/>
                    <a:pt x="17070578" y="903859"/>
                    <a:pt x="16987393" y="903859"/>
                  </a:cubicBezTo>
                  <a:lnTo>
                    <a:pt x="150622" y="903859"/>
                  </a:lnTo>
                  <a:cubicBezTo>
                    <a:pt x="67437" y="903986"/>
                    <a:pt x="0" y="836422"/>
                    <a:pt x="0" y="753237"/>
                  </a:cubicBezTo>
                  <a:close/>
                </a:path>
              </a:pathLst>
            </a:custGeom>
            <a:solidFill>
              <a:srgbClr val="FFFFFF">
                <a:alpha val="1176"/>
              </a:srgbClr>
            </a:solidFill>
            <a:ln w="19065" cap="sq">
              <a:solidFill>
                <a:srgbClr val="C6C9F6"/>
              </a:solidFill>
              <a:prstDash val="solid"/>
              <a:miter/>
            </a:ln>
          </p:spPr>
        </p:sp>
      </p:grpSp>
      <p:grpSp>
        <p:nvGrpSpPr>
          <p:cNvPr id="117" name="Group 117"/>
          <p:cNvGrpSpPr/>
          <p:nvPr/>
        </p:nvGrpSpPr>
        <p:grpSpPr>
          <a:xfrm>
            <a:off x="5009750" y="8894921"/>
            <a:ext cx="12505049" cy="439255"/>
            <a:chOff x="0" y="0"/>
            <a:chExt cx="16673398" cy="585673"/>
          </a:xfrm>
        </p:grpSpPr>
        <p:sp>
          <p:nvSpPr>
            <p:cNvPr id="118" name="Freeform 118"/>
            <p:cNvSpPr/>
            <p:nvPr/>
          </p:nvSpPr>
          <p:spPr>
            <a:xfrm>
              <a:off x="0" y="0"/>
              <a:ext cx="16673395" cy="585674"/>
            </a:xfrm>
            <a:custGeom>
              <a:avLst/>
              <a:gdLst/>
              <a:ahLst/>
              <a:cxnLst/>
              <a:rect l="l" t="t" r="r" b="b"/>
              <a:pathLst>
                <a:path w="16673395" h="585674">
                  <a:moveTo>
                    <a:pt x="0" y="0"/>
                  </a:moveTo>
                  <a:lnTo>
                    <a:pt x="16673395" y="0"/>
                  </a:lnTo>
                  <a:lnTo>
                    <a:pt x="16673395" y="585674"/>
                  </a:lnTo>
                  <a:lnTo>
                    <a:pt x="0" y="585674"/>
                  </a:lnTo>
                  <a:close/>
                </a:path>
              </a:pathLst>
            </a:custGeom>
            <a:blipFill>
              <a:blip r:embed="rId1">
                <a:alphaModFix amt="0"/>
              </a:blip>
              <a:stretch>
                <a:fillRect t="-504714" b="-504714"/>
              </a:stretch>
            </a:blipFill>
          </p:spPr>
        </p:sp>
        <p:sp>
          <p:nvSpPr>
            <p:cNvPr id="119" name="TextBox 119"/>
            <p:cNvSpPr txBox="1"/>
            <p:nvPr/>
          </p:nvSpPr>
          <p:spPr>
            <a:xfrm>
              <a:off x="0" y="0"/>
              <a:ext cx="16673398" cy="585673"/>
            </a:xfrm>
            <a:prstGeom prst="rect">
              <a:avLst/>
            </a:prstGeom>
          </p:spPr>
          <p:txBody>
            <a:bodyPr lIns="0" tIns="0" rIns="0" bIns="0" rtlCol="0" anchor="ctr"/>
            <a:lstStyle/>
            <a:p>
              <a:pPr algn="l">
                <a:lnSpc>
                  <a:spcPts val="1945"/>
                </a:lnSpc>
              </a:pPr>
              <a:r>
                <a:rPr lang="en-US" sz="1620">
                  <a:solidFill>
                    <a:srgbClr val="D9D7F2"/>
                  </a:solidFill>
                  <a:latin typeface="Aptos"/>
                  <a:ea typeface="Aptos"/>
                  <a:cs typeface="Aptos"/>
                  <a:sym typeface="Aptos"/>
                </a:rPr>
                <a:t>Milestone 1 focuses only on preparing the dataset: checking quality, cleaning missing values, validating columns and saving the cleaned file.</a:t>
              </a:r>
              <a:endParaRPr lang="en-US" sz="1620">
                <a:solidFill>
                  <a:srgbClr val="D9D7F2"/>
                </a:solidFill>
                <a:latin typeface="Aptos"/>
                <a:ea typeface="Aptos"/>
                <a:cs typeface="Aptos"/>
                <a:sym typeface="Aptos"/>
              </a:endParaRPr>
            </a:p>
          </p:txBody>
        </p:sp>
      </p:grpSp>
      <p:grpSp>
        <p:nvGrpSpPr>
          <p:cNvPr id="120" name="Group 120"/>
          <p:cNvGrpSpPr/>
          <p:nvPr/>
        </p:nvGrpSpPr>
        <p:grpSpPr>
          <a:xfrm>
            <a:off x="746624" y="4731816"/>
            <a:ext cx="2709772" cy="4552881"/>
            <a:chOff x="0" y="0"/>
            <a:chExt cx="483760" cy="812800"/>
          </a:xfrm>
        </p:grpSpPr>
        <p:sp>
          <p:nvSpPr>
            <p:cNvPr id="121" name="Freeform 121"/>
            <p:cNvSpPr/>
            <p:nvPr/>
          </p:nvSpPr>
          <p:spPr>
            <a:xfrm flipH="1">
              <a:off x="0" y="0"/>
              <a:ext cx="483760" cy="812800"/>
            </a:xfrm>
            <a:custGeom>
              <a:avLst/>
              <a:gdLst/>
              <a:ahLst/>
              <a:cxnLst/>
              <a:rect l="l" t="t" r="r" b="b"/>
              <a:pathLst>
                <a:path w="483760" h="812800">
                  <a:moveTo>
                    <a:pt x="418048" y="0"/>
                  </a:moveTo>
                  <a:lnTo>
                    <a:pt x="65712" y="0"/>
                  </a:lnTo>
                  <a:cubicBezTo>
                    <a:pt x="48284" y="0"/>
                    <a:pt x="31570" y="6923"/>
                    <a:pt x="19247" y="19247"/>
                  </a:cubicBezTo>
                  <a:cubicBezTo>
                    <a:pt x="6923" y="31570"/>
                    <a:pt x="0" y="48284"/>
                    <a:pt x="0" y="65712"/>
                  </a:cubicBezTo>
                  <a:lnTo>
                    <a:pt x="0" y="747088"/>
                  </a:lnTo>
                  <a:cubicBezTo>
                    <a:pt x="0" y="764516"/>
                    <a:pt x="6923" y="781230"/>
                    <a:pt x="19247" y="793553"/>
                  </a:cubicBezTo>
                  <a:cubicBezTo>
                    <a:pt x="31570" y="805877"/>
                    <a:pt x="48284" y="812800"/>
                    <a:pt x="65712" y="812800"/>
                  </a:cubicBezTo>
                  <a:lnTo>
                    <a:pt x="418048" y="812800"/>
                  </a:lnTo>
                  <a:cubicBezTo>
                    <a:pt x="435476" y="812800"/>
                    <a:pt x="452190" y="805877"/>
                    <a:pt x="464514" y="793553"/>
                  </a:cubicBezTo>
                  <a:cubicBezTo>
                    <a:pt x="476837" y="781230"/>
                    <a:pt x="483760" y="764516"/>
                    <a:pt x="483760" y="747088"/>
                  </a:cubicBezTo>
                  <a:lnTo>
                    <a:pt x="483760" y="65712"/>
                  </a:lnTo>
                  <a:cubicBezTo>
                    <a:pt x="483760" y="48284"/>
                    <a:pt x="476837" y="31570"/>
                    <a:pt x="464514" y="19247"/>
                  </a:cubicBezTo>
                  <a:cubicBezTo>
                    <a:pt x="452190" y="6923"/>
                    <a:pt x="435476" y="0"/>
                    <a:pt x="418048" y="0"/>
                  </a:cubicBezTo>
                  <a:close/>
                </a:path>
              </a:pathLst>
            </a:custGeom>
            <a:blipFill>
              <a:blip r:embed="rId2"/>
              <a:stretch>
                <a:fillRect l="-34008" r="-44733"/>
              </a:stretch>
            </a:blipFill>
          </p:spPr>
        </p:sp>
      </p:grpSp>
      <p:grpSp>
        <p:nvGrpSpPr>
          <p:cNvPr id="122" name="Group 122"/>
          <p:cNvGrpSpPr/>
          <p:nvPr/>
        </p:nvGrpSpPr>
        <p:grpSpPr>
          <a:xfrm>
            <a:off x="1324666" y="1180500"/>
            <a:ext cx="1553688" cy="1270637"/>
            <a:chOff x="0" y="0"/>
            <a:chExt cx="543719" cy="444664"/>
          </a:xfrm>
        </p:grpSpPr>
        <p:sp>
          <p:nvSpPr>
            <p:cNvPr id="123" name="Freeform 123"/>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3"/>
              <a:stretch>
                <a:fillRect l="-4521" r="-4521"/>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9535" y="-9535"/>
            <a:ext cx="18320909" cy="10314108"/>
            <a:chOff x="0" y="0"/>
            <a:chExt cx="24427878" cy="13752144"/>
          </a:xfrm>
        </p:grpSpPr>
        <p:sp>
          <p:nvSpPr>
            <p:cNvPr id="3" name="Freeform 3"/>
            <p:cNvSpPr/>
            <p:nvPr/>
          </p:nvSpPr>
          <p:spPr>
            <a:xfrm>
              <a:off x="0" y="0"/>
              <a:ext cx="24427814" cy="13752195"/>
            </a:xfrm>
            <a:custGeom>
              <a:avLst/>
              <a:gdLst/>
              <a:ahLst/>
              <a:cxnLst/>
              <a:rect l="l" t="t" r="r" b="b"/>
              <a:pathLst>
                <a:path w="24427814" h="13752195">
                  <a:moveTo>
                    <a:pt x="0" y="0"/>
                  </a:moveTo>
                  <a:lnTo>
                    <a:pt x="24427814" y="0"/>
                  </a:lnTo>
                  <a:lnTo>
                    <a:pt x="24427814" y="13752195"/>
                  </a:lnTo>
                  <a:lnTo>
                    <a:pt x="0" y="13752195"/>
                  </a:lnTo>
                  <a:close/>
                </a:path>
              </a:pathLst>
            </a:custGeom>
            <a:solidFill>
              <a:srgbClr val="3B1368"/>
            </a:solidFill>
            <a:ln w="19065" cap="sq">
              <a:solidFill>
                <a:srgbClr val="3B1368"/>
              </a:solidFill>
              <a:prstDash val="solid"/>
              <a:miter/>
            </a:ln>
          </p:spPr>
        </p:sp>
      </p:grpSp>
      <p:grpSp>
        <p:nvGrpSpPr>
          <p:cNvPr id="4" name="Group 4"/>
          <p:cNvGrpSpPr/>
          <p:nvPr/>
        </p:nvGrpSpPr>
        <p:grpSpPr>
          <a:xfrm>
            <a:off x="-9535" y="-9535"/>
            <a:ext cx="3420979" cy="10314108"/>
            <a:chOff x="0" y="0"/>
            <a:chExt cx="4561305" cy="13752144"/>
          </a:xfrm>
        </p:grpSpPr>
        <p:sp>
          <p:nvSpPr>
            <p:cNvPr id="5" name="Freeform 5"/>
            <p:cNvSpPr/>
            <p:nvPr/>
          </p:nvSpPr>
          <p:spPr>
            <a:xfrm>
              <a:off x="0" y="0"/>
              <a:ext cx="4561275" cy="13752195"/>
            </a:xfrm>
            <a:custGeom>
              <a:avLst/>
              <a:gdLst/>
              <a:ahLst/>
              <a:cxnLst/>
              <a:rect l="l" t="t" r="r" b="b"/>
              <a:pathLst>
                <a:path w="4561275" h="13752195">
                  <a:moveTo>
                    <a:pt x="0" y="0"/>
                  </a:moveTo>
                  <a:lnTo>
                    <a:pt x="4561275" y="0"/>
                  </a:lnTo>
                  <a:lnTo>
                    <a:pt x="4561275" y="13752195"/>
                  </a:lnTo>
                  <a:lnTo>
                    <a:pt x="0" y="13752195"/>
                  </a:lnTo>
                  <a:close/>
                </a:path>
              </a:pathLst>
            </a:custGeom>
            <a:solidFill>
              <a:srgbClr val="BFC6F8"/>
            </a:solidFill>
            <a:ln w="19065" cap="sq">
              <a:solidFill>
                <a:srgbClr val="BFC6F8"/>
              </a:solidFill>
              <a:prstDash val="solid"/>
              <a:miter/>
            </a:ln>
          </p:spPr>
        </p:sp>
      </p:grpSp>
      <p:grpSp>
        <p:nvGrpSpPr>
          <p:cNvPr id="6" name="Group 6"/>
          <p:cNvGrpSpPr/>
          <p:nvPr/>
        </p:nvGrpSpPr>
        <p:grpSpPr>
          <a:xfrm>
            <a:off x="3948673" y="9636157"/>
            <a:ext cx="3157147" cy="411804"/>
            <a:chOff x="0" y="0"/>
            <a:chExt cx="4209529" cy="549072"/>
          </a:xfrm>
        </p:grpSpPr>
        <p:sp>
          <p:nvSpPr>
            <p:cNvPr id="7" name="Freeform 7"/>
            <p:cNvSpPr/>
            <p:nvPr/>
          </p:nvSpPr>
          <p:spPr>
            <a:xfrm>
              <a:off x="0" y="0"/>
              <a:ext cx="4209529" cy="549069"/>
            </a:xfrm>
            <a:custGeom>
              <a:avLst/>
              <a:gdLst/>
              <a:ahLst/>
              <a:cxnLst/>
              <a:rect l="l" t="t" r="r" b="b"/>
              <a:pathLst>
                <a:path w="4209529" h="549069">
                  <a:moveTo>
                    <a:pt x="0" y="0"/>
                  </a:moveTo>
                  <a:lnTo>
                    <a:pt x="4209529" y="0"/>
                  </a:lnTo>
                  <a:lnTo>
                    <a:pt x="4209529" y="549069"/>
                  </a:lnTo>
                  <a:lnTo>
                    <a:pt x="0" y="549069"/>
                  </a:lnTo>
                  <a:close/>
                </a:path>
              </a:pathLst>
            </a:custGeom>
            <a:blipFill>
              <a:blip r:embed="rId1">
                <a:alphaModFix amt="0"/>
              </a:blip>
              <a:stretch>
                <a:fillRect t="-99385" b="-99385"/>
              </a:stretch>
            </a:blipFill>
          </p:spPr>
        </p:sp>
        <p:sp>
          <p:nvSpPr>
            <p:cNvPr id="8" name="TextBox 8"/>
            <p:cNvSpPr txBox="1"/>
            <p:nvPr/>
          </p:nvSpPr>
          <p:spPr>
            <a:xfrm>
              <a:off x="0" y="0"/>
              <a:ext cx="4209529" cy="549072"/>
            </a:xfrm>
            <a:prstGeom prst="rect">
              <a:avLst/>
            </a:prstGeom>
          </p:spPr>
          <p:txBody>
            <a:bodyPr lIns="0" tIns="0" rIns="0" bIns="0" rtlCol="0" anchor="ctr"/>
            <a:lstStyle/>
            <a:p>
              <a:pPr algn="l">
                <a:lnSpc>
                  <a:spcPts val="3240"/>
                </a:lnSpc>
              </a:pPr>
              <a:r>
                <a:rPr lang="en-US" sz="2700">
                  <a:solidFill>
                    <a:srgbClr val="FFFFFF"/>
                  </a:solidFill>
                  <a:latin typeface="Aptos"/>
                  <a:ea typeface="Aptos"/>
                  <a:cs typeface="Aptos"/>
                  <a:sym typeface="Aptos"/>
                </a:rPr>
                <a:t>Milestone 1</a:t>
              </a:r>
              <a:endParaRPr lang="en-US" sz="2700">
                <a:solidFill>
                  <a:srgbClr val="FFFFFF"/>
                </a:solidFill>
                <a:latin typeface="Aptos"/>
                <a:ea typeface="Aptos"/>
                <a:cs typeface="Aptos"/>
                <a:sym typeface="Aptos"/>
              </a:endParaRPr>
            </a:p>
          </p:txBody>
        </p:sp>
      </p:grpSp>
      <p:grpSp>
        <p:nvGrpSpPr>
          <p:cNvPr id="9" name="Group 9"/>
          <p:cNvGrpSpPr/>
          <p:nvPr/>
        </p:nvGrpSpPr>
        <p:grpSpPr>
          <a:xfrm>
            <a:off x="16266166" y="9636157"/>
            <a:ext cx="1441304" cy="411804"/>
            <a:chOff x="0" y="0"/>
            <a:chExt cx="1921739" cy="549072"/>
          </a:xfrm>
        </p:grpSpPr>
        <p:sp>
          <p:nvSpPr>
            <p:cNvPr id="10" name="Freeform 10"/>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1">
                <a:alphaModFix amt="0"/>
              </a:blip>
              <a:stretch>
                <a:fillRect t="-18197" b="-18197"/>
              </a:stretch>
            </a:blipFill>
          </p:spPr>
        </p:sp>
        <p:sp>
          <p:nvSpPr>
            <p:cNvPr id="11" name="TextBox 11"/>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a:t>
              </a:r>
              <a:r>
                <a:rPr lang="en-IN" altLang="en-US" sz="2100">
                  <a:solidFill>
                    <a:srgbClr val="FFFFFF"/>
                  </a:solidFill>
                  <a:latin typeface="Aptos"/>
                  <a:ea typeface="Aptos"/>
                  <a:cs typeface="Aptos"/>
                  <a:sym typeface="Aptos"/>
                </a:rPr>
                <a:t>4</a:t>
              </a:r>
              <a:endParaRPr lang="en-IN" altLang="en-US" sz="2100">
                <a:solidFill>
                  <a:srgbClr val="FFFFFF"/>
                </a:solidFill>
                <a:latin typeface="Aptos"/>
                <a:ea typeface="Aptos"/>
                <a:cs typeface="Aptos"/>
                <a:sym typeface="Aptos"/>
              </a:endParaRPr>
            </a:p>
          </p:txBody>
        </p:sp>
      </p:grpSp>
      <p:grpSp>
        <p:nvGrpSpPr>
          <p:cNvPr id="12" name="Group 12"/>
          <p:cNvGrpSpPr/>
          <p:nvPr/>
        </p:nvGrpSpPr>
        <p:grpSpPr>
          <a:xfrm>
            <a:off x="3948673" y="754971"/>
            <a:ext cx="14001255" cy="823608"/>
            <a:chOff x="0" y="0"/>
            <a:chExt cx="18668340" cy="1098144"/>
          </a:xfrm>
        </p:grpSpPr>
        <p:sp>
          <p:nvSpPr>
            <p:cNvPr id="13" name="Freeform 13"/>
            <p:cNvSpPr/>
            <p:nvPr/>
          </p:nvSpPr>
          <p:spPr>
            <a:xfrm>
              <a:off x="0" y="0"/>
              <a:ext cx="18668344" cy="1098138"/>
            </a:xfrm>
            <a:custGeom>
              <a:avLst/>
              <a:gdLst/>
              <a:ahLst/>
              <a:cxnLst/>
              <a:rect l="l" t="t" r="r" b="b"/>
              <a:pathLst>
                <a:path w="18668344" h="1098138">
                  <a:moveTo>
                    <a:pt x="0" y="0"/>
                  </a:moveTo>
                  <a:lnTo>
                    <a:pt x="18668344" y="0"/>
                  </a:lnTo>
                  <a:lnTo>
                    <a:pt x="18668344" y="1098138"/>
                  </a:lnTo>
                  <a:lnTo>
                    <a:pt x="0" y="1098138"/>
                  </a:lnTo>
                  <a:close/>
                </a:path>
              </a:pathLst>
            </a:custGeom>
            <a:blipFill>
              <a:blip r:embed="rId1">
                <a:alphaModFix amt="0"/>
              </a:blip>
              <a:stretch>
                <a:fillRect t="-281245" b="-281245"/>
              </a:stretch>
            </a:blipFill>
          </p:spPr>
        </p:sp>
        <p:sp>
          <p:nvSpPr>
            <p:cNvPr id="14" name="TextBox 14"/>
            <p:cNvSpPr txBox="1"/>
            <p:nvPr/>
          </p:nvSpPr>
          <p:spPr>
            <a:xfrm>
              <a:off x="0" y="-9525"/>
              <a:ext cx="18668340" cy="1107669"/>
            </a:xfrm>
            <a:prstGeom prst="rect">
              <a:avLst/>
            </a:prstGeom>
          </p:spPr>
          <p:txBody>
            <a:bodyPr lIns="0" tIns="0" rIns="0" bIns="0" rtlCol="0" anchor="ctr"/>
            <a:lstStyle/>
            <a:p>
              <a:pPr algn="l">
                <a:lnSpc>
                  <a:spcPts val="6845"/>
                </a:lnSpc>
              </a:pPr>
              <a:r>
                <a:rPr lang="en-US" sz="5705">
                  <a:solidFill>
                    <a:srgbClr val="FFFFFF"/>
                  </a:solidFill>
                  <a:latin typeface="Georgia" panose="02040502050405020303"/>
                  <a:ea typeface="Georgia" panose="02040502050405020303"/>
                  <a:cs typeface="Georgia" panose="02040502050405020303"/>
                  <a:sym typeface="Georgia" panose="02040502050405020303"/>
                </a:rPr>
                <a:t>Initial Data Quality Check</a:t>
              </a:r>
              <a:endParaRPr lang="en-US" sz="57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15" name="Group 15"/>
          <p:cNvGrpSpPr/>
          <p:nvPr/>
        </p:nvGrpSpPr>
        <p:grpSpPr>
          <a:xfrm>
            <a:off x="3989850" y="1990373"/>
            <a:ext cx="12903117" cy="466706"/>
            <a:chOff x="0" y="0"/>
            <a:chExt cx="17204157" cy="622275"/>
          </a:xfrm>
        </p:grpSpPr>
        <p:sp>
          <p:nvSpPr>
            <p:cNvPr id="16" name="Freeform 16"/>
            <p:cNvSpPr/>
            <p:nvPr/>
          </p:nvSpPr>
          <p:spPr>
            <a:xfrm>
              <a:off x="0" y="0"/>
              <a:ext cx="17204161" cy="622278"/>
            </a:xfrm>
            <a:custGeom>
              <a:avLst/>
              <a:gdLst/>
              <a:ahLst/>
              <a:cxnLst/>
              <a:rect l="l" t="t" r="r" b="b"/>
              <a:pathLst>
                <a:path w="17204161" h="622278">
                  <a:moveTo>
                    <a:pt x="0" y="0"/>
                  </a:moveTo>
                  <a:lnTo>
                    <a:pt x="17204161" y="0"/>
                  </a:lnTo>
                  <a:lnTo>
                    <a:pt x="17204161" y="622278"/>
                  </a:lnTo>
                  <a:lnTo>
                    <a:pt x="0" y="622278"/>
                  </a:lnTo>
                  <a:close/>
                </a:path>
              </a:pathLst>
            </a:custGeom>
            <a:blipFill>
              <a:blip r:embed="rId1">
                <a:alphaModFix amt="0"/>
              </a:blip>
              <a:stretch>
                <a:fillRect t="-488704" b="-488703"/>
              </a:stretch>
            </a:blipFill>
          </p:spPr>
        </p:sp>
        <p:sp>
          <p:nvSpPr>
            <p:cNvPr id="17" name="TextBox 17"/>
            <p:cNvSpPr txBox="1"/>
            <p:nvPr/>
          </p:nvSpPr>
          <p:spPr>
            <a:xfrm>
              <a:off x="0" y="0"/>
              <a:ext cx="17204157" cy="622275"/>
            </a:xfrm>
            <a:prstGeom prst="rect">
              <a:avLst/>
            </a:prstGeom>
          </p:spPr>
          <p:txBody>
            <a:bodyPr lIns="0" tIns="0" rIns="0" bIns="0" rtlCol="0" anchor="ctr"/>
            <a:lstStyle/>
            <a:p>
              <a:pPr algn="l">
                <a:lnSpc>
                  <a:spcPts val="3060"/>
                </a:lnSpc>
              </a:pPr>
              <a:r>
                <a:rPr lang="en-US" sz="2550">
                  <a:solidFill>
                    <a:srgbClr val="D9D7F2"/>
                  </a:solidFill>
                  <a:latin typeface="Aptos"/>
                  <a:ea typeface="Aptos"/>
                  <a:cs typeface="Aptos"/>
                  <a:sym typeface="Aptos"/>
                </a:rPr>
                <a:t>The raw dataset was inspected using shape, info, duplicates and missing-value analysis.</a:t>
              </a:r>
              <a:endParaRPr lang="en-US" sz="2550">
                <a:solidFill>
                  <a:srgbClr val="D9D7F2"/>
                </a:solidFill>
                <a:latin typeface="Aptos"/>
                <a:ea typeface="Aptos"/>
                <a:cs typeface="Aptos"/>
                <a:sym typeface="Aptos"/>
              </a:endParaRPr>
            </a:p>
          </p:txBody>
        </p:sp>
      </p:grpSp>
      <p:grpSp>
        <p:nvGrpSpPr>
          <p:cNvPr id="18" name="Group 18"/>
          <p:cNvGrpSpPr/>
          <p:nvPr/>
        </p:nvGrpSpPr>
        <p:grpSpPr>
          <a:xfrm>
            <a:off x="3935319" y="2567283"/>
            <a:ext cx="4419238" cy="6684150"/>
            <a:chOff x="0" y="0"/>
            <a:chExt cx="5892317" cy="8912200"/>
          </a:xfrm>
        </p:grpSpPr>
        <p:sp>
          <p:nvSpPr>
            <p:cNvPr id="19" name="Freeform 19"/>
            <p:cNvSpPr/>
            <p:nvPr/>
          </p:nvSpPr>
          <p:spPr>
            <a:xfrm>
              <a:off x="0" y="0"/>
              <a:ext cx="5892292" cy="8912225"/>
            </a:xfrm>
            <a:custGeom>
              <a:avLst/>
              <a:gdLst/>
              <a:ahLst/>
              <a:cxnLst/>
              <a:rect l="l" t="t" r="r" b="b"/>
              <a:pathLst>
                <a:path w="5892292" h="8912225">
                  <a:moveTo>
                    <a:pt x="0" y="165735"/>
                  </a:moveTo>
                  <a:cubicBezTo>
                    <a:pt x="0" y="74168"/>
                    <a:pt x="74168" y="0"/>
                    <a:pt x="165735" y="0"/>
                  </a:cubicBezTo>
                  <a:lnTo>
                    <a:pt x="5726557" y="0"/>
                  </a:lnTo>
                  <a:cubicBezTo>
                    <a:pt x="5818124" y="0"/>
                    <a:pt x="5892292" y="74168"/>
                    <a:pt x="5892292" y="165735"/>
                  </a:cubicBezTo>
                  <a:lnTo>
                    <a:pt x="5892292" y="8746490"/>
                  </a:lnTo>
                  <a:cubicBezTo>
                    <a:pt x="5892292" y="8838057"/>
                    <a:pt x="5818124" y="8912225"/>
                    <a:pt x="5726557" y="8912225"/>
                  </a:cubicBezTo>
                  <a:lnTo>
                    <a:pt x="165735" y="8912225"/>
                  </a:lnTo>
                  <a:cubicBezTo>
                    <a:pt x="74168" y="8912225"/>
                    <a:pt x="0" y="8838057"/>
                    <a:pt x="0" y="8746490"/>
                  </a:cubicBezTo>
                  <a:close/>
                </a:path>
              </a:pathLst>
            </a:custGeom>
            <a:solidFill>
              <a:srgbClr val="7356B4"/>
            </a:solidFill>
            <a:ln w="26691" cap="sq">
              <a:solidFill>
                <a:srgbClr val="1B0E2C"/>
              </a:solidFill>
              <a:prstDash val="solid"/>
              <a:miter/>
            </a:ln>
          </p:spPr>
        </p:sp>
      </p:grpSp>
      <p:grpSp>
        <p:nvGrpSpPr>
          <p:cNvPr id="20" name="Group 20"/>
          <p:cNvGrpSpPr/>
          <p:nvPr/>
        </p:nvGrpSpPr>
        <p:grpSpPr>
          <a:xfrm>
            <a:off x="4319291" y="2910068"/>
            <a:ext cx="3637578" cy="411804"/>
            <a:chOff x="0" y="0"/>
            <a:chExt cx="4850105" cy="549072"/>
          </a:xfrm>
        </p:grpSpPr>
        <p:sp>
          <p:nvSpPr>
            <p:cNvPr id="21" name="Freeform 21"/>
            <p:cNvSpPr/>
            <p:nvPr/>
          </p:nvSpPr>
          <p:spPr>
            <a:xfrm>
              <a:off x="0" y="0"/>
              <a:ext cx="4850109" cy="549069"/>
            </a:xfrm>
            <a:custGeom>
              <a:avLst/>
              <a:gdLst/>
              <a:ahLst/>
              <a:cxnLst/>
              <a:rect l="l" t="t" r="r" b="b"/>
              <a:pathLst>
                <a:path w="4850109" h="549069">
                  <a:moveTo>
                    <a:pt x="0" y="0"/>
                  </a:moveTo>
                  <a:lnTo>
                    <a:pt x="4850109" y="0"/>
                  </a:lnTo>
                  <a:lnTo>
                    <a:pt x="4850109" y="549069"/>
                  </a:lnTo>
                  <a:lnTo>
                    <a:pt x="0" y="549069"/>
                  </a:lnTo>
                  <a:close/>
                </a:path>
              </a:pathLst>
            </a:custGeom>
            <a:blipFill>
              <a:blip r:embed="rId1">
                <a:alphaModFix amt="0"/>
              </a:blip>
              <a:stretch>
                <a:fillRect t="-122117" b="-122117"/>
              </a:stretch>
            </a:blipFill>
          </p:spPr>
        </p:sp>
        <p:sp>
          <p:nvSpPr>
            <p:cNvPr id="22" name="TextBox 22"/>
            <p:cNvSpPr txBox="1"/>
            <p:nvPr/>
          </p:nvSpPr>
          <p:spPr>
            <a:xfrm>
              <a:off x="0" y="0"/>
              <a:ext cx="4850105" cy="549072"/>
            </a:xfrm>
            <a:prstGeom prst="rect">
              <a:avLst/>
            </a:prstGeom>
          </p:spPr>
          <p:txBody>
            <a:bodyPr lIns="0" tIns="0" rIns="0" bIns="0" rtlCol="0" anchor="ctr"/>
            <a:lstStyle/>
            <a:p>
              <a:pPr algn="l">
                <a:lnSpc>
                  <a:spcPts val="2880"/>
                </a:lnSpc>
              </a:pPr>
              <a:r>
                <a:rPr lang="en-US" sz="2400" b="1">
                  <a:solidFill>
                    <a:srgbClr val="FFFFFF"/>
                  </a:solidFill>
                  <a:latin typeface="Aptos Bold" panose="020B0004020202020204"/>
                  <a:ea typeface="Aptos Bold" panose="020B0004020202020204"/>
                  <a:cs typeface="Aptos Bold" panose="020B0004020202020204"/>
                  <a:sym typeface="Aptos Bold" panose="020B0004020202020204"/>
                </a:rPr>
                <a:t>Key Checks Performed</a:t>
              </a:r>
              <a:endParaRPr lang="en-US" sz="240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23" name="Group 23"/>
          <p:cNvGrpSpPr/>
          <p:nvPr/>
        </p:nvGrpSpPr>
        <p:grpSpPr>
          <a:xfrm>
            <a:off x="4319291" y="3623853"/>
            <a:ext cx="3500314" cy="3431681"/>
            <a:chOff x="0" y="0"/>
            <a:chExt cx="4667085" cy="4575575"/>
          </a:xfrm>
        </p:grpSpPr>
        <p:sp>
          <p:nvSpPr>
            <p:cNvPr id="24" name="Freeform 24"/>
            <p:cNvSpPr/>
            <p:nvPr/>
          </p:nvSpPr>
          <p:spPr>
            <a:xfrm>
              <a:off x="0" y="0"/>
              <a:ext cx="4667086" cy="4575580"/>
            </a:xfrm>
            <a:custGeom>
              <a:avLst/>
              <a:gdLst/>
              <a:ahLst/>
              <a:cxnLst/>
              <a:rect l="l" t="t" r="r" b="b"/>
              <a:pathLst>
                <a:path w="4667086" h="4575580">
                  <a:moveTo>
                    <a:pt x="0" y="0"/>
                  </a:moveTo>
                  <a:lnTo>
                    <a:pt x="4667086" y="0"/>
                  </a:lnTo>
                  <a:lnTo>
                    <a:pt x="4667086" y="4575580"/>
                  </a:lnTo>
                  <a:lnTo>
                    <a:pt x="0" y="4575580"/>
                  </a:lnTo>
                  <a:close/>
                </a:path>
              </a:pathLst>
            </a:custGeom>
            <a:blipFill>
              <a:blip r:embed="rId1">
                <a:alphaModFix amt="0"/>
              </a:blip>
              <a:stretch>
                <a:fillRect l="-75787" r="-75787"/>
              </a:stretch>
            </a:blipFill>
          </p:spPr>
        </p:sp>
        <p:sp>
          <p:nvSpPr>
            <p:cNvPr id="25" name="TextBox 25"/>
            <p:cNvSpPr txBox="1"/>
            <p:nvPr/>
          </p:nvSpPr>
          <p:spPr>
            <a:xfrm>
              <a:off x="0" y="-57150"/>
              <a:ext cx="4667085" cy="4632725"/>
            </a:xfrm>
            <a:prstGeom prst="rect">
              <a:avLst/>
            </a:prstGeom>
          </p:spPr>
          <p:txBody>
            <a:bodyPr lIns="0" tIns="0" rIns="0" bIns="0" rtlCol="0" anchor="ctr"/>
            <a:lstStyle/>
            <a:p>
              <a:pPr marL="414655" lvl="1" indent="-207645" algn="just">
                <a:lnSpc>
                  <a:spcPts val="2960"/>
                </a:lnSpc>
                <a:buFont typeface="Arial" panose="020B0604020202020204"/>
                <a:buChar char="•"/>
              </a:pPr>
              <a:r>
                <a:rPr lang="en-US" sz="1920">
                  <a:solidFill>
                    <a:srgbClr val="FFFFFF"/>
                  </a:solidFill>
                  <a:latin typeface="Aptos"/>
                  <a:ea typeface="Aptos"/>
                  <a:cs typeface="Aptos"/>
                  <a:sym typeface="Aptos"/>
                </a:rPr>
                <a:t>Viewed first and last records</a:t>
              </a:r>
              <a:endParaRPr lang="en-US" sz="1920">
                <a:solidFill>
                  <a:srgbClr val="FFFFFF"/>
                </a:solidFill>
                <a:latin typeface="Aptos"/>
                <a:ea typeface="Aptos"/>
                <a:cs typeface="Aptos"/>
                <a:sym typeface="Aptos"/>
              </a:endParaRPr>
            </a:p>
            <a:p>
              <a:pPr marL="414655" lvl="1" indent="-207645" algn="just">
                <a:lnSpc>
                  <a:spcPts val="2960"/>
                </a:lnSpc>
                <a:buFont typeface="Arial" panose="020B0604020202020204"/>
                <a:buChar char="•"/>
              </a:pPr>
              <a:r>
                <a:rPr lang="en-US" sz="1920">
                  <a:solidFill>
                    <a:srgbClr val="FFFFFF"/>
                  </a:solidFill>
                  <a:latin typeface="Aptos"/>
                  <a:ea typeface="Aptos"/>
                  <a:cs typeface="Aptos"/>
                  <a:sym typeface="Aptos"/>
                </a:rPr>
                <a:t>Checked row/column count</a:t>
              </a:r>
              <a:endParaRPr lang="en-US" sz="1920">
                <a:solidFill>
                  <a:srgbClr val="FFFFFF"/>
                </a:solidFill>
                <a:latin typeface="Aptos"/>
                <a:ea typeface="Aptos"/>
                <a:cs typeface="Aptos"/>
                <a:sym typeface="Aptos"/>
              </a:endParaRPr>
            </a:p>
            <a:p>
              <a:pPr marL="414655" lvl="1" indent="-207645" algn="just">
                <a:lnSpc>
                  <a:spcPts val="2960"/>
                </a:lnSpc>
                <a:buFont typeface="Arial" panose="020B0604020202020204"/>
                <a:buChar char="•"/>
              </a:pPr>
              <a:r>
                <a:rPr lang="en-US" sz="1920">
                  <a:solidFill>
                    <a:srgbClr val="FFFFFF"/>
                  </a:solidFill>
                  <a:latin typeface="Aptos"/>
                  <a:ea typeface="Aptos"/>
                  <a:cs typeface="Aptos"/>
                  <a:sym typeface="Aptos"/>
                </a:rPr>
                <a:t>Checked data types with info()</a:t>
              </a:r>
              <a:endParaRPr lang="en-US" sz="1920">
                <a:solidFill>
                  <a:srgbClr val="FFFFFF"/>
                </a:solidFill>
                <a:latin typeface="Aptos"/>
                <a:ea typeface="Aptos"/>
                <a:cs typeface="Aptos"/>
                <a:sym typeface="Aptos"/>
              </a:endParaRPr>
            </a:p>
            <a:p>
              <a:pPr marL="414655" lvl="1" indent="-207645" algn="just">
                <a:lnSpc>
                  <a:spcPts val="2960"/>
                </a:lnSpc>
                <a:buFont typeface="Arial" panose="020B0604020202020204"/>
                <a:buChar char="•"/>
              </a:pPr>
              <a:r>
                <a:rPr lang="en-US" sz="1920">
                  <a:solidFill>
                    <a:srgbClr val="FFFFFF"/>
                  </a:solidFill>
                  <a:latin typeface="Aptos"/>
                  <a:ea typeface="Aptos"/>
                  <a:cs typeface="Aptos"/>
                  <a:sym typeface="Aptos"/>
                </a:rPr>
                <a:t>Checked exact duplicate rows</a:t>
              </a:r>
              <a:endParaRPr lang="en-US" sz="1920">
                <a:solidFill>
                  <a:srgbClr val="FFFFFF"/>
                </a:solidFill>
                <a:latin typeface="Aptos"/>
                <a:ea typeface="Aptos"/>
                <a:cs typeface="Aptos"/>
                <a:sym typeface="Aptos"/>
              </a:endParaRPr>
            </a:p>
            <a:p>
              <a:pPr marL="414655" lvl="1" indent="-207645" algn="just">
                <a:lnSpc>
                  <a:spcPts val="2960"/>
                </a:lnSpc>
                <a:buFont typeface="Arial" panose="020B0604020202020204"/>
                <a:buChar char="•"/>
              </a:pPr>
              <a:r>
                <a:rPr lang="en-US" sz="1920">
                  <a:solidFill>
                    <a:srgbClr val="FFFFFF"/>
                  </a:solidFill>
                  <a:latin typeface="Aptos"/>
                  <a:ea typeface="Aptos"/>
                  <a:cs typeface="Aptos"/>
                  <a:sym typeface="Aptos"/>
                </a:rPr>
                <a:t>Calculated missing-value counts and percentages</a:t>
              </a:r>
              <a:endParaRPr lang="en-US" sz="1920">
                <a:solidFill>
                  <a:srgbClr val="FFFFFF"/>
                </a:solidFill>
                <a:latin typeface="Aptos"/>
                <a:ea typeface="Aptos"/>
                <a:cs typeface="Aptos"/>
                <a:sym typeface="Aptos"/>
              </a:endParaRPr>
            </a:p>
          </p:txBody>
        </p:sp>
      </p:grpSp>
      <p:grpSp>
        <p:nvGrpSpPr>
          <p:cNvPr id="26" name="Group 26"/>
          <p:cNvGrpSpPr/>
          <p:nvPr/>
        </p:nvGrpSpPr>
        <p:grpSpPr>
          <a:xfrm>
            <a:off x="4309757" y="7746063"/>
            <a:ext cx="3519383" cy="870118"/>
            <a:chOff x="0" y="0"/>
            <a:chExt cx="4692510" cy="1160158"/>
          </a:xfrm>
        </p:grpSpPr>
        <p:sp>
          <p:nvSpPr>
            <p:cNvPr id="27" name="Freeform 27"/>
            <p:cNvSpPr/>
            <p:nvPr/>
          </p:nvSpPr>
          <p:spPr>
            <a:xfrm>
              <a:off x="0" y="0"/>
              <a:ext cx="4692523" cy="1160272"/>
            </a:xfrm>
            <a:custGeom>
              <a:avLst/>
              <a:gdLst/>
              <a:ahLst/>
              <a:cxnLst/>
              <a:rect l="l" t="t" r="r" b="b"/>
              <a:pathLst>
                <a:path w="4692523" h="1160272">
                  <a:moveTo>
                    <a:pt x="0" y="193421"/>
                  </a:moveTo>
                  <a:cubicBezTo>
                    <a:pt x="0" y="86614"/>
                    <a:pt x="86614" y="0"/>
                    <a:pt x="193421" y="0"/>
                  </a:cubicBezTo>
                  <a:lnTo>
                    <a:pt x="4499102" y="0"/>
                  </a:lnTo>
                  <a:cubicBezTo>
                    <a:pt x="4605909" y="0"/>
                    <a:pt x="4692523" y="86614"/>
                    <a:pt x="4692523" y="193421"/>
                  </a:cubicBezTo>
                  <a:lnTo>
                    <a:pt x="4692523" y="966851"/>
                  </a:lnTo>
                  <a:cubicBezTo>
                    <a:pt x="4692523" y="1073658"/>
                    <a:pt x="4605909" y="1160272"/>
                    <a:pt x="4499102" y="1160272"/>
                  </a:cubicBezTo>
                  <a:lnTo>
                    <a:pt x="193421" y="1160272"/>
                  </a:lnTo>
                  <a:cubicBezTo>
                    <a:pt x="86614" y="1160145"/>
                    <a:pt x="0" y="1073531"/>
                    <a:pt x="0" y="966851"/>
                  </a:cubicBezTo>
                  <a:close/>
                </a:path>
              </a:pathLst>
            </a:custGeom>
            <a:solidFill>
              <a:srgbClr val="829BDC"/>
            </a:solidFill>
            <a:ln w="19065" cap="sq">
              <a:solidFill>
                <a:srgbClr val="1B0E2C"/>
              </a:solidFill>
              <a:prstDash val="solid"/>
              <a:miter/>
            </a:ln>
          </p:spPr>
        </p:sp>
      </p:grpSp>
      <p:grpSp>
        <p:nvGrpSpPr>
          <p:cNvPr id="28" name="Group 28"/>
          <p:cNvGrpSpPr/>
          <p:nvPr/>
        </p:nvGrpSpPr>
        <p:grpSpPr>
          <a:xfrm>
            <a:off x="4538919" y="8030137"/>
            <a:ext cx="3088510" cy="274539"/>
            <a:chOff x="0" y="0"/>
            <a:chExt cx="4118013" cy="366052"/>
          </a:xfrm>
        </p:grpSpPr>
        <p:sp>
          <p:nvSpPr>
            <p:cNvPr id="29" name="Freeform 29"/>
            <p:cNvSpPr/>
            <p:nvPr/>
          </p:nvSpPr>
          <p:spPr>
            <a:xfrm>
              <a:off x="0" y="0"/>
              <a:ext cx="4118017" cy="366046"/>
            </a:xfrm>
            <a:custGeom>
              <a:avLst/>
              <a:gdLst/>
              <a:ahLst/>
              <a:cxnLst/>
              <a:rect l="l" t="t" r="r" b="b"/>
              <a:pathLst>
                <a:path w="4118017" h="366046">
                  <a:moveTo>
                    <a:pt x="0" y="0"/>
                  </a:moveTo>
                  <a:lnTo>
                    <a:pt x="4118017" y="0"/>
                  </a:lnTo>
                  <a:lnTo>
                    <a:pt x="4118017" y="366046"/>
                  </a:lnTo>
                  <a:lnTo>
                    <a:pt x="0" y="366046"/>
                  </a:lnTo>
                  <a:close/>
                </a:path>
              </a:pathLst>
            </a:custGeom>
            <a:blipFill>
              <a:blip r:embed="rId1">
                <a:alphaModFix amt="0"/>
              </a:blip>
              <a:stretch>
                <a:fillRect t="-169205" b="-169207"/>
              </a:stretch>
            </a:blipFill>
          </p:spPr>
        </p:sp>
        <p:sp>
          <p:nvSpPr>
            <p:cNvPr id="30" name="TextBox 30"/>
            <p:cNvSpPr txBox="1"/>
            <p:nvPr/>
          </p:nvSpPr>
          <p:spPr>
            <a:xfrm>
              <a:off x="0" y="0"/>
              <a:ext cx="4118013" cy="366052"/>
            </a:xfrm>
            <a:prstGeom prst="rect">
              <a:avLst/>
            </a:prstGeom>
          </p:spPr>
          <p:txBody>
            <a:bodyPr lIns="0" tIns="0" rIns="0" bIns="0" rtlCol="0" anchor="ctr"/>
            <a:lstStyle/>
            <a:p>
              <a:pPr algn="ctr">
                <a:lnSpc>
                  <a:spcPts val="2070"/>
                </a:lnSpc>
              </a:pPr>
              <a:r>
                <a:rPr lang="en-US" sz="1725" b="1">
                  <a:solidFill>
                    <a:srgbClr val="FFFFFF"/>
                  </a:solidFill>
                  <a:latin typeface="Aptos Bold" panose="020B0004020202020204"/>
                  <a:ea typeface="Aptos Bold" panose="020B0004020202020204"/>
                  <a:cs typeface="Aptos Bold" panose="020B0004020202020204"/>
                  <a:sym typeface="Aptos Bold" panose="020B0004020202020204"/>
                </a:rPr>
                <a:t>No exact duplicate rows found</a:t>
              </a:r>
              <a:endParaRPr lang="en-US" sz="172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pic>
        <p:nvPicPr>
          <p:cNvPr id="31" name="Picture 31"/>
          <p:cNvPicPr>
            <a:picLocks noChangeAspect="1"/>
          </p:cNvPicPr>
          <p:nvPr/>
        </p:nvPicPr>
        <p:blipFill>
          <a:blip r:embed="rId2"/>
          <a:stretch>
            <a:fillRect/>
          </a:stretch>
        </p:blipFill>
        <p:spPr>
          <a:xfrm>
            <a:off x="7993477" y="1680003"/>
            <a:ext cx="10647365" cy="7622487"/>
          </a:xfrm>
          <a:prstGeom prst="rect">
            <a:avLst/>
          </a:prstGeom>
        </p:spPr>
      </p:pic>
      <p:grpSp>
        <p:nvGrpSpPr>
          <p:cNvPr id="32" name="Group 32"/>
          <p:cNvGrpSpPr/>
          <p:nvPr/>
        </p:nvGrpSpPr>
        <p:grpSpPr>
          <a:xfrm>
            <a:off x="8880757" y="8569671"/>
            <a:ext cx="8872804" cy="774030"/>
            <a:chOff x="0" y="0"/>
            <a:chExt cx="11830406" cy="1032040"/>
          </a:xfrm>
        </p:grpSpPr>
        <p:sp>
          <p:nvSpPr>
            <p:cNvPr id="33" name="Freeform 33"/>
            <p:cNvSpPr/>
            <p:nvPr/>
          </p:nvSpPr>
          <p:spPr>
            <a:xfrm>
              <a:off x="0" y="0"/>
              <a:ext cx="11830303" cy="1032002"/>
            </a:xfrm>
            <a:custGeom>
              <a:avLst/>
              <a:gdLst/>
              <a:ahLst/>
              <a:cxnLst/>
              <a:rect l="l" t="t" r="r" b="b"/>
              <a:pathLst>
                <a:path w="11830303" h="1032002">
                  <a:moveTo>
                    <a:pt x="0" y="171958"/>
                  </a:moveTo>
                  <a:cubicBezTo>
                    <a:pt x="0" y="76962"/>
                    <a:pt x="76962" y="0"/>
                    <a:pt x="171958" y="0"/>
                  </a:cubicBezTo>
                  <a:lnTo>
                    <a:pt x="11658346" y="0"/>
                  </a:lnTo>
                  <a:cubicBezTo>
                    <a:pt x="11753342" y="0"/>
                    <a:pt x="11830303" y="76962"/>
                    <a:pt x="11830303" y="171958"/>
                  </a:cubicBezTo>
                  <a:lnTo>
                    <a:pt x="11830303" y="860044"/>
                  </a:lnTo>
                  <a:cubicBezTo>
                    <a:pt x="11830303" y="955040"/>
                    <a:pt x="11753342" y="1032002"/>
                    <a:pt x="11658346" y="1032002"/>
                  </a:cubicBezTo>
                  <a:lnTo>
                    <a:pt x="171958" y="1032002"/>
                  </a:lnTo>
                  <a:cubicBezTo>
                    <a:pt x="76962" y="1032002"/>
                    <a:pt x="0" y="955040"/>
                    <a:pt x="0" y="860044"/>
                  </a:cubicBezTo>
                  <a:close/>
                </a:path>
              </a:pathLst>
            </a:custGeom>
            <a:solidFill>
              <a:srgbClr val="FFFFFF">
                <a:alpha val="1176"/>
              </a:srgbClr>
            </a:solidFill>
            <a:ln w="19065" cap="sq">
              <a:solidFill>
                <a:srgbClr val="C6C9F6"/>
              </a:solidFill>
              <a:prstDash val="solid"/>
              <a:miter/>
            </a:ln>
          </p:spPr>
        </p:sp>
      </p:grpSp>
      <p:grpSp>
        <p:nvGrpSpPr>
          <p:cNvPr id="34" name="Group 34"/>
          <p:cNvGrpSpPr/>
          <p:nvPr/>
        </p:nvGrpSpPr>
        <p:grpSpPr>
          <a:xfrm>
            <a:off x="9055007" y="8689019"/>
            <a:ext cx="8524294" cy="535343"/>
            <a:chOff x="0" y="0"/>
            <a:chExt cx="11365725" cy="713791"/>
          </a:xfrm>
        </p:grpSpPr>
        <p:sp>
          <p:nvSpPr>
            <p:cNvPr id="35" name="Freeform 35"/>
            <p:cNvSpPr/>
            <p:nvPr/>
          </p:nvSpPr>
          <p:spPr>
            <a:xfrm>
              <a:off x="0" y="0"/>
              <a:ext cx="11365727" cy="713790"/>
            </a:xfrm>
            <a:custGeom>
              <a:avLst/>
              <a:gdLst/>
              <a:ahLst/>
              <a:cxnLst/>
              <a:rect l="l" t="t" r="r" b="b"/>
              <a:pathLst>
                <a:path w="11365727" h="713790">
                  <a:moveTo>
                    <a:pt x="0" y="0"/>
                  </a:moveTo>
                  <a:lnTo>
                    <a:pt x="11365727" y="0"/>
                  </a:lnTo>
                  <a:lnTo>
                    <a:pt x="11365727" y="713790"/>
                  </a:lnTo>
                  <a:lnTo>
                    <a:pt x="0" y="713790"/>
                  </a:lnTo>
                  <a:close/>
                </a:path>
              </a:pathLst>
            </a:custGeom>
            <a:blipFill>
              <a:blip r:embed="rId1">
                <a:alphaModFix amt="0"/>
              </a:blip>
              <a:stretch>
                <a:fillRect t="-260261" b="-260261"/>
              </a:stretch>
            </a:blipFill>
          </p:spPr>
        </p:sp>
        <p:sp>
          <p:nvSpPr>
            <p:cNvPr id="36" name="TextBox 36"/>
            <p:cNvSpPr txBox="1"/>
            <p:nvPr/>
          </p:nvSpPr>
          <p:spPr>
            <a:xfrm>
              <a:off x="0" y="0"/>
              <a:ext cx="11365725" cy="713791"/>
            </a:xfrm>
            <a:prstGeom prst="rect">
              <a:avLst/>
            </a:prstGeom>
          </p:spPr>
          <p:txBody>
            <a:bodyPr lIns="0" tIns="0" rIns="0" bIns="0" rtlCol="0" anchor="ctr"/>
            <a:lstStyle/>
            <a:p>
              <a:pPr algn="l">
                <a:lnSpc>
                  <a:spcPts val="1945"/>
                </a:lnSpc>
              </a:pPr>
              <a:r>
                <a:rPr lang="en-US" sz="1620">
                  <a:solidFill>
                    <a:srgbClr val="D9D7F2"/>
                  </a:solidFill>
                  <a:latin typeface="Aptos"/>
                  <a:ea typeface="Aptos"/>
                  <a:cs typeface="Aptos"/>
                  <a:sym typeface="Aptos"/>
                </a:rPr>
                <a:t>Observation: Review text fields had very high missing values, so they were removed. Delivery-date missing values were kept meaningful for order-status analysis.</a:t>
              </a:r>
              <a:endParaRPr lang="en-US" sz="1620">
                <a:solidFill>
                  <a:srgbClr val="D9D7F2"/>
                </a:solidFill>
                <a:latin typeface="Aptos"/>
                <a:ea typeface="Aptos"/>
                <a:cs typeface="Aptos"/>
                <a:sym typeface="Aptos"/>
              </a:endParaRPr>
            </a:p>
          </p:txBody>
        </p:sp>
      </p:grpSp>
      <p:sp>
        <p:nvSpPr>
          <p:cNvPr id="37" name="Freeform 37"/>
          <p:cNvSpPr/>
          <p:nvPr/>
        </p:nvSpPr>
        <p:spPr>
          <a:xfrm>
            <a:off x="370628" y="6030201"/>
            <a:ext cx="2507417" cy="3194162"/>
          </a:xfrm>
          <a:custGeom>
            <a:avLst/>
            <a:gdLst/>
            <a:ahLst/>
            <a:cxnLst/>
            <a:rect l="l" t="t" r="r" b="b"/>
            <a:pathLst>
              <a:path w="2507417" h="3194162">
                <a:moveTo>
                  <a:pt x="0" y="0"/>
                </a:moveTo>
                <a:lnTo>
                  <a:pt x="2507416" y="0"/>
                </a:lnTo>
                <a:lnTo>
                  <a:pt x="2507416" y="3194161"/>
                </a:lnTo>
                <a:lnTo>
                  <a:pt x="0" y="31941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8" name="Group 38"/>
          <p:cNvGrpSpPr/>
          <p:nvPr/>
        </p:nvGrpSpPr>
        <p:grpSpPr>
          <a:xfrm>
            <a:off x="924111" y="1186442"/>
            <a:ext cx="1553688" cy="1270637"/>
            <a:chOff x="0" y="0"/>
            <a:chExt cx="543719" cy="444664"/>
          </a:xfrm>
        </p:grpSpPr>
        <p:sp>
          <p:nvSpPr>
            <p:cNvPr id="39" name="Freeform 39"/>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5"/>
              <a:stretch>
                <a:fillRect l="-4521" r="-4521"/>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9535" y="-9535"/>
            <a:ext cx="18320909" cy="10314108"/>
            <a:chOff x="0" y="0"/>
            <a:chExt cx="24427878" cy="13752144"/>
          </a:xfrm>
        </p:grpSpPr>
        <p:sp>
          <p:nvSpPr>
            <p:cNvPr id="3" name="Freeform 3"/>
            <p:cNvSpPr/>
            <p:nvPr/>
          </p:nvSpPr>
          <p:spPr>
            <a:xfrm>
              <a:off x="0" y="0"/>
              <a:ext cx="24427814" cy="13752195"/>
            </a:xfrm>
            <a:custGeom>
              <a:avLst/>
              <a:gdLst/>
              <a:ahLst/>
              <a:cxnLst/>
              <a:rect l="l" t="t" r="r" b="b"/>
              <a:pathLst>
                <a:path w="24427814" h="13752195">
                  <a:moveTo>
                    <a:pt x="0" y="0"/>
                  </a:moveTo>
                  <a:lnTo>
                    <a:pt x="24427814" y="0"/>
                  </a:lnTo>
                  <a:lnTo>
                    <a:pt x="24427814" y="13752195"/>
                  </a:lnTo>
                  <a:lnTo>
                    <a:pt x="0" y="13752195"/>
                  </a:lnTo>
                  <a:close/>
                </a:path>
              </a:pathLst>
            </a:custGeom>
            <a:solidFill>
              <a:srgbClr val="3B1368"/>
            </a:solidFill>
            <a:ln w="19065" cap="sq">
              <a:solidFill>
                <a:srgbClr val="3B1368"/>
              </a:solidFill>
              <a:prstDash val="solid"/>
              <a:miter/>
            </a:ln>
          </p:spPr>
        </p:sp>
      </p:grpSp>
      <p:grpSp>
        <p:nvGrpSpPr>
          <p:cNvPr id="4" name="Group 4"/>
          <p:cNvGrpSpPr/>
          <p:nvPr/>
        </p:nvGrpSpPr>
        <p:grpSpPr>
          <a:xfrm>
            <a:off x="-9535" y="-9535"/>
            <a:ext cx="3441983" cy="10314108"/>
            <a:chOff x="0" y="0"/>
            <a:chExt cx="4589310" cy="13752144"/>
          </a:xfrm>
        </p:grpSpPr>
        <p:sp>
          <p:nvSpPr>
            <p:cNvPr id="5" name="Freeform 5"/>
            <p:cNvSpPr/>
            <p:nvPr/>
          </p:nvSpPr>
          <p:spPr>
            <a:xfrm>
              <a:off x="0" y="0"/>
              <a:ext cx="4589279" cy="13752195"/>
            </a:xfrm>
            <a:custGeom>
              <a:avLst/>
              <a:gdLst/>
              <a:ahLst/>
              <a:cxnLst/>
              <a:rect l="l" t="t" r="r" b="b"/>
              <a:pathLst>
                <a:path w="4589279" h="13752195">
                  <a:moveTo>
                    <a:pt x="0" y="0"/>
                  </a:moveTo>
                  <a:lnTo>
                    <a:pt x="4589279" y="0"/>
                  </a:lnTo>
                  <a:lnTo>
                    <a:pt x="4589279" y="13752195"/>
                  </a:lnTo>
                  <a:lnTo>
                    <a:pt x="0" y="13752195"/>
                  </a:lnTo>
                  <a:close/>
                </a:path>
              </a:pathLst>
            </a:custGeom>
            <a:solidFill>
              <a:srgbClr val="BFC6F8"/>
            </a:solidFill>
            <a:ln w="19065" cap="sq">
              <a:solidFill>
                <a:srgbClr val="BFC6F8"/>
              </a:solidFill>
              <a:prstDash val="solid"/>
              <a:miter/>
            </a:ln>
          </p:spPr>
        </p:sp>
      </p:grpSp>
      <p:grpSp>
        <p:nvGrpSpPr>
          <p:cNvPr id="6" name="Group 6"/>
          <p:cNvGrpSpPr/>
          <p:nvPr/>
        </p:nvGrpSpPr>
        <p:grpSpPr>
          <a:xfrm>
            <a:off x="4102665" y="9636157"/>
            <a:ext cx="3157147" cy="411804"/>
            <a:chOff x="0" y="0"/>
            <a:chExt cx="4209529" cy="549072"/>
          </a:xfrm>
        </p:grpSpPr>
        <p:sp>
          <p:nvSpPr>
            <p:cNvPr id="7" name="Freeform 7"/>
            <p:cNvSpPr/>
            <p:nvPr/>
          </p:nvSpPr>
          <p:spPr>
            <a:xfrm>
              <a:off x="0" y="0"/>
              <a:ext cx="4209529" cy="549069"/>
            </a:xfrm>
            <a:custGeom>
              <a:avLst/>
              <a:gdLst/>
              <a:ahLst/>
              <a:cxnLst/>
              <a:rect l="l" t="t" r="r" b="b"/>
              <a:pathLst>
                <a:path w="4209529" h="549069">
                  <a:moveTo>
                    <a:pt x="0" y="0"/>
                  </a:moveTo>
                  <a:lnTo>
                    <a:pt x="4209529" y="0"/>
                  </a:lnTo>
                  <a:lnTo>
                    <a:pt x="4209529" y="549069"/>
                  </a:lnTo>
                  <a:lnTo>
                    <a:pt x="0" y="549069"/>
                  </a:lnTo>
                  <a:close/>
                </a:path>
              </a:pathLst>
            </a:custGeom>
            <a:blipFill>
              <a:blip r:embed="rId1">
                <a:alphaModFix amt="0"/>
              </a:blip>
              <a:stretch>
                <a:fillRect t="-99385" b="-99385"/>
              </a:stretch>
            </a:blipFill>
          </p:spPr>
        </p:sp>
        <p:sp>
          <p:nvSpPr>
            <p:cNvPr id="8" name="TextBox 8"/>
            <p:cNvSpPr txBox="1"/>
            <p:nvPr/>
          </p:nvSpPr>
          <p:spPr>
            <a:xfrm>
              <a:off x="0" y="0"/>
              <a:ext cx="4209529" cy="549072"/>
            </a:xfrm>
            <a:prstGeom prst="rect">
              <a:avLst/>
            </a:prstGeom>
          </p:spPr>
          <p:txBody>
            <a:bodyPr lIns="0" tIns="0" rIns="0" bIns="0" rtlCol="0" anchor="ctr"/>
            <a:lstStyle/>
            <a:p>
              <a:pPr algn="l">
                <a:lnSpc>
                  <a:spcPts val="3240"/>
                </a:lnSpc>
              </a:pPr>
              <a:r>
                <a:rPr lang="en-US" sz="2700">
                  <a:solidFill>
                    <a:srgbClr val="FFFFFF"/>
                  </a:solidFill>
                  <a:latin typeface="Aptos"/>
                  <a:ea typeface="Aptos"/>
                  <a:cs typeface="Aptos"/>
                  <a:sym typeface="Aptos"/>
                </a:rPr>
                <a:t>Milestone 1</a:t>
              </a:r>
              <a:endParaRPr lang="en-US" sz="2700">
                <a:solidFill>
                  <a:srgbClr val="FFFFFF"/>
                </a:solidFill>
                <a:latin typeface="Aptos"/>
                <a:ea typeface="Aptos"/>
                <a:cs typeface="Aptos"/>
                <a:sym typeface="Aptos"/>
              </a:endParaRPr>
            </a:p>
          </p:txBody>
        </p:sp>
      </p:grpSp>
      <p:grpSp>
        <p:nvGrpSpPr>
          <p:cNvPr id="9" name="Group 9"/>
          <p:cNvGrpSpPr/>
          <p:nvPr/>
        </p:nvGrpSpPr>
        <p:grpSpPr>
          <a:xfrm>
            <a:off x="16266166" y="9636157"/>
            <a:ext cx="1441304" cy="411804"/>
            <a:chOff x="0" y="0"/>
            <a:chExt cx="1921739" cy="549072"/>
          </a:xfrm>
        </p:grpSpPr>
        <p:sp>
          <p:nvSpPr>
            <p:cNvPr id="10" name="Freeform 10"/>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1">
                <a:alphaModFix amt="0"/>
              </a:blip>
              <a:stretch>
                <a:fillRect t="-18197" b="-18197"/>
              </a:stretch>
            </a:blipFill>
          </p:spPr>
        </p:sp>
        <p:sp>
          <p:nvSpPr>
            <p:cNvPr id="11" name="TextBox 11"/>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a:t>
              </a:r>
              <a:r>
                <a:rPr lang="en-IN" altLang="en-US" sz="2100">
                  <a:solidFill>
                    <a:srgbClr val="FFFFFF"/>
                  </a:solidFill>
                  <a:latin typeface="Aptos"/>
                  <a:ea typeface="Aptos"/>
                  <a:cs typeface="Aptos"/>
                  <a:sym typeface="Aptos"/>
                </a:rPr>
                <a:t>5</a:t>
              </a:r>
              <a:endParaRPr lang="en-IN" altLang="en-US" sz="2100">
                <a:solidFill>
                  <a:srgbClr val="FFFFFF"/>
                </a:solidFill>
                <a:latin typeface="Aptos"/>
                <a:ea typeface="Aptos"/>
                <a:cs typeface="Aptos"/>
                <a:sym typeface="Aptos"/>
              </a:endParaRPr>
            </a:p>
          </p:txBody>
        </p:sp>
      </p:grpSp>
      <p:grpSp>
        <p:nvGrpSpPr>
          <p:cNvPr id="12" name="Group 12"/>
          <p:cNvGrpSpPr/>
          <p:nvPr/>
        </p:nvGrpSpPr>
        <p:grpSpPr>
          <a:xfrm>
            <a:off x="4206959" y="625495"/>
            <a:ext cx="13082251" cy="1082558"/>
            <a:chOff x="0" y="0"/>
            <a:chExt cx="17443002" cy="1443411"/>
          </a:xfrm>
        </p:grpSpPr>
        <p:sp>
          <p:nvSpPr>
            <p:cNvPr id="13" name="Freeform 13"/>
            <p:cNvSpPr/>
            <p:nvPr/>
          </p:nvSpPr>
          <p:spPr>
            <a:xfrm>
              <a:off x="0" y="0"/>
              <a:ext cx="17443000" cy="1443404"/>
            </a:xfrm>
            <a:custGeom>
              <a:avLst/>
              <a:gdLst/>
              <a:ahLst/>
              <a:cxnLst/>
              <a:rect l="l" t="t" r="r" b="b"/>
              <a:pathLst>
                <a:path w="17443000" h="1443404">
                  <a:moveTo>
                    <a:pt x="0" y="0"/>
                  </a:moveTo>
                  <a:lnTo>
                    <a:pt x="17443000" y="0"/>
                  </a:lnTo>
                  <a:lnTo>
                    <a:pt x="17443000" y="1443404"/>
                  </a:lnTo>
                  <a:lnTo>
                    <a:pt x="0" y="1443404"/>
                  </a:lnTo>
                  <a:close/>
                </a:path>
              </a:pathLst>
            </a:custGeom>
            <a:blipFill>
              <a:blip r:embed="rId1">
                <a:alphaModFix amt="0"/>
              </a:blip>
              <a:stretch>
                <a:fillRect t="-209029" r="-4926" b="-185109"/>
              </a:stretch>
            </a:blipFill>
          </p:spPr>
        </p:sp>
        <p:sp>
          <p:nvSpPr>
            <p:cNvPr id="14" name="TextBox 14"/>
            <p:cNvSpPr txBox="1"/>
            <p:nvPr/>
          </p:nvSpPr>
          <p:spPr>
            <a:xfrm>
              <a:off x="0" y="-9525"/>
              <a:ext cx="17443002" cy="1452936"/>
            </a:xfrm>
            <a:prstGeom prst="rect">
              <a:avLst/>
            </a:prstGeom>
          </p:spPr>
          <p:txBody>
            <a:bodyPr lIns="0" tIns="0" rIns="0" bIns="0" rtlCol="0" anchor="ctr"/>
            <a:lstStyle/>
            <a:p>
              <a:pPr algn="l">
                <a:lnSpc>
                  <a:spcPts val="6845"/>
                </a:lnSpc>
              </a:pPr>
              <a:r>
                <a:rPr lang="en-US" sz="5705">
                  <a:solidFill>
                    <a:srgbClr val="FFFFFF"/>
                  </a:solidFill>
                  <a:latin typeface="Georgia" panose="02040502050405020303"/>
                  <a:ea typeface="Georgia" panose="02040502050405020303"/>
                  <a:cs typeface="Georgia" panose="02040502050405020303"/>
                  <a:sym typeface="Georgia" panose="02040502050405020303"/>
                </a:rPr>
                <a:t>Cleaning Actions Performed</a:t>
              </a:r>
              <a:endParaRPr lang="en-US" sz="57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15" name="Group 15"/>
          <p:cNvGrpSpPr/>
          <p:nvPr/>
        </p:nvGrpSpPr>
        <p:grpSpPr>
          <a:xfrm>
            <a:off x="4246203" y="1985987"/>
            <a:ext cx="12297312" cy="475477"/>
            <a:chOff x="0" y="0"/>
            <a:chExt cx="16396416" cy="633970"/>
          </a:xfrm>
        </p:grpSpPr>
        <p:sp>
          <p:nvSpPr>
            <p:cNvPr id="16" name="Freeform 16"/>
            <p:cNvSpPr/>
            <p:nvPr/>
          </p:nvSpPr>
          <p:spPr>
            <a:xfrm>
              <a:off x="0" y="0"/>
              <a:ext cx="16396421" cy="633973"/>
            </a:xfrm>
            <a:custGeom>
              <a:avLst/>
              <a:gdLst/>
              <a:ahLst/>
              <a:cxnLst/>
              <a:rect l="l" t="t" r="r" b="b"/>
              <a:pathLst>
                <a:path w="16396421" h="633973">
                  <a:moveTo>
                    <a:pt x="0" y="0"/>
                  </a:moveTo>
                  <a:lnTo>
                    <a:pt x="16396421" y="0"/>
                  </a:lnTo>
                  <a:lnTo>
                    <a:pt x="16396421" y="633973"/>
                  </a:lnTo>
                  <a:lnTo>
                    <a:pt x="0" y="633973"/>
                  </a:lnTo>
                  <a:close/>
                </a:path>
              </a:pathLst>
            </a:custGeom>
            <a:blipFill>
              <a:blip r:embed="rId1">
                <a:alphaModFix amt="0"/>
              </a:blip>
              <a:stretch>
                <a:fillRect t="-479688" r="-4926" b="-477843"/>
              </a:stretch>
            </a:blipFill>
          </p:spPr>
        </p:sp>
        <p:sp>
          <p:nvSpPr>
            <p:cNvPr id="17" name="TextBox 17"/>
            <p:cNvSpPr txBox="1"/>
            <p:nvPr/>
          </p:nvSpPr>
          <p:spPr>
            <a:xfrm>
              <a:off x="0" y="0"/>
              <a:ext cx="16396416" cy="633970"/>
            </a:xfrm>
            <a:prstGeom prst="rect">
              <a:avLst/>
            </a:prstGeom>
          </p:spPr>
          <p:txBody>
            <a:bodyPr lIns="0" tIns="0" rIns="0" bIns="0" rtlCol="0" anchor="ctr"/>
            <a:lstStyle/>
            <a:p>
              <a:pPr algn="l">
                <a:lnSpc>
                  <a:spcPts val="3060"/>
                </a:lnSpc>
              </a:pPr>
              <a:r>
                <a:rPr lang="en-US" sz="2550">
                  <a:solidFill>
                    <a:srgbClr val="D9D7F2"/>
                  </a:solidFill>
                  <a:latin typeface="Aptos"/>
                  <a:ea typeface="Aptos"/>
                  <a:cs typeface="Aptos"/>
                  <a:sym typeface="Aptos"/>
                </a:rPr>
                <a:t>The notebook cleaned the dataset in a simple and structured order.</a:t>
              </a:r>
              <a:endParaRPr lang="en-US" sz="2550">
                <a:solidFill>
                  <a:srgbClr val="D9D7F2"/>
                </a:solidFill>
                <a:latin typeface="Aptos"/>
                <a:ea typeface="Aptos"/>
                <a:cs typeface="Aptos"/>
                <a:sym typeface="Aptos"/>
              </a:endParaRPr>
            </a:p>
          </p:txBody>
        </p:sp>
      </p:grpSp>
      <p:grpSp>
        <p:nvGrpSpPr>
          <p:cNvPr id="18" name="Group 18"/>
          <p:cNvGrpSpPr/>
          <p:nvPr/>
        </p:nvGrpSpPr>
        <p:grpSpPr>
          <a:xfrm>
            <a:off x="4102665" y="2649636"/>
            <a:ext cx="4080933" cy="2579865"/>
            <a:chOff x="0" y="0"/>
            <a:chExt cx="5441244" cy="3439820"/>
          </a:xfrm>
        </p:grpSpPr>
        <p:sp>
          <p:nvSpPr>
            <p:cNvPr id="19" name="Freeform 19"/>
            <p:cNvSpPr/>
            <p:nvPr/>
          </p:nvSpPr>
          <p:spPr>
            <a:xfrm>
              <a:off x="0" y="0"/>
              <a:ext cx="5441232" cy="3439922"/>
            </a:xfrm>
            <a:custGeom>
              <a:avLst/>
              <a:gdLst/>
              <a:ahLst/>
              <a:cxnLst/>
              <a:rect l="l" t="t" r="r" b="b"/>
              <a:pathLst>
                <a:path w="5441232" h="3439922">
                  <a:moveTo>
                    <a:pt x="0" y="166497"/>
                  </a:moveTo>
                  <a:cubicBezTo>
                    <a:pt x="0" y="74549"/>
                    <a:pt x="71049" y="0"/>
                    <a:pt x="158680" y="0"/>
                  </a:cubicBezTo>
                  <a:lnTo>
                    <a:pt x="5282552" y="0"/>
                  </a:lnTo>
                  <a:cubicBezTo>
                    <a:pt x="5370183" y="0"/>
                    <a:pt x="5441232" y="74549"/>
                    <a:pt x="5441232" y="166497"/>
                  </a:cubicBezTo>
                  <a:lnTo>
                    <a:pt x="5441232" y="3273425"/>
                  </a:lnTo>
                  <a:cubicBezTo>
                    <a:pt x="5441232" y="3365373"/>
                    <a:pt x="5370183" y="3439922"/>
                    <a:pt x="5282552" y="3439922"/>
                  </a:cubicBezTo>
                  <a:lnTo>
                    <a:pt x="158680" y="3439922"/>
                  </a:lnTo>
                  <a:cubicBezTo>
                    <a:pt x="71049" y="3439795"/>
                    <a:pt x="0" y="3365246"/>
                    <a:pt x="0" y="3273425"/>
                  </a:cubicBezTo>
                  <a:close/>
                </a:path>
              </a:pathLst>
            </a:custGeom>
            <a:solidFill>
              <a:srgbClr val="829BDC"/>
            </a:solidFill>
            <a:ln w="26691" cap="sq">
              <a:solidFill>
                <a:srgbClr val="1B0E2C"/>
              </a:solidFill>
              <a:prstDash val="solid"/>
              <a:miter/>
            </a:ln>
          </p:spPr>
        </p:sp>
      </p:grpSp>
      <p:grpSp>
        <p:nvGrpSpPr>
          <p:cNvPr id="20" name="Group 20"/>
          <p:cNvGrpSpPr/>
          <p:nvPr/>
        </p:nvGrpSpPr>
        <p:grpSpPr>
          <a:xfrm>
            <a:off x="4311617" y="2709769"/>
            <a:ext cx="784939" cy="620227"/>
            <a:chOff x="0" y="0"/>
            <a:chExt cx="1046585" cy="826970"/>
          </a:xfrm>
        </p:grpSpPr>
        <p:sp>
          <p:nvSpPr>
            <p:cNvPr id="21" name="Freeform 21"/>
            <p:cNvSpPr/>
            <p:nvPr/>
          </p:nvSpPr>
          <p:spPr>
            <a:xfrm>
              <a:off x="0" y="0"/>
              <a:ext cx="1046580" cy="826970"/>
            </a:xfrm>
            <a:custGeom>
              <a:avLst/>
              <a:gdLst/>
              <a:ahLst/>
              <a:cxnLst/>
              <a:rect l="l" t="t" r="r" b="b"/>
              <a:pathLst>
                <a:path w="1046580" h="826970">
                  <a:moveTo>
                    <a:pt x="0" y="0"/>
                  </a:moveTo>
                  <a:lnTo>
                    <a:pt x="1046580" y="0"/>
                  </a:lnTo>
                  <a:lnTo>
                    <a:pt x="1046580" y="826970"/>
                  </a:lnTo>
                  <a:lnTo>
                    <a:pt x="0" y="826970"/>
                  </a:lnTo>
                  <a:close/>
                </a:path>
              </a:pathLst>
            </a:custGeom>
            <a:blipFill>
              <a:blip r:embed="rId1">
                <a:alphaModFix amt="0"/>
              </a:blip>
              <a:stretch>
                <a:fillRect l="-19336" r="-24262" b="29178"/>
              </a:stretch>
            </a:blipFill>
          </p:spPr>
        </p:sp>
        <p:sp>
          <p:nvSpPr>
            <p:cNvPr id="22" name="TextBox 22"/>
            <p:cNvSpPr txBox="1"/>
            <p:nvPr/>
          </p:nvSpPr>
          <p:spPr>
            <a:xfrm>
              <a:off x="0" y="0"/>
              <a:ext cx="1046585" cy="826970"/>
            </a:xfrm>
            <a:prstGeom prst="rect">
              <a:avLst/>
            </a:prstGeom>
          </p:spPr>
          <p:txBody>
            <a:bodyPr lIns="0" tIns="0" rIns="0" bIns="0" rtlCol="0" anchor="ctr"/>
            <a:lstStyle/>
            <a:p>
              <a:pPr algn="l">
                <a:lnSpc>
                  <a:spcPts val="3965"/>
                </a:lnSpc>
              </a:pPr>
              <a:r>
                <a:rPr lang="en-US" sz="3300">
                  <a:solidFill>
                    <a:srgbClr val="FFFFFF"/>
                  </a:solidFill>
                  <a:latin typeface="Georgia" panose="02040502050405020303"/>
                  <a:ea typeface="Georgia" panose="02040502050405020303"/>
                  <a:cs typeface="Georgia" panose="02040502050405020303"/>
                  <a:sym typeface="Georgia" panose="02040502050405020303"/>
                </a:rPr>
                <a:t>01</a:t>
              </a:r>
              <a:endParaRPr lang="en-US" sz="330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23" name="Group 23"/>
          <p:cNvGrpSpPr/>
          <p:nvPr/>
        </p:nvGrpSpPr>
        <p:grpSpPr>
          <a:xfrm>
            <a:off x="4311617" y="3255326"/>
            <a:ext cx="3663028" cy="840153"/>
            <a:chOff x="0" y="0"/>
            <a:chExt cx="4884037" cy="1120204"/>
          </a:xfrm>
        </p:grpSpPr>
        <p:sp>
          <p:nvSpPr>
            <p:cNvPr id="24" name="Freeform 24"/>
            <p:cNvSpPr/>
            <p:nvPr/>
          </p:nvSpPr>
          <p:spPr>
            <a:xfrm>
              <a:off x="0" y="0"/>
              <a:ext cx="4884040" cy="1120190"/>
            </a:xfrm>
            <a:custGeom>
              <a:avLst/>
              <a:gdLst/>
              <a:ahLst/>
              <a:cxnLst/>
              <a:rect l="l" t="t" r="r" b="b"/>
              <a:pathLst>
                <a:path w="4884040" h="1120190">
                  <a:moveTo>
                    <a:pt x="0" y="0"/>
                  </a:moveTo>
                  <a:lnTo>
                    <a:pt x="4884040" y="0"/>
                  </a:lnTo>
                  <a:lnTo>
                    <a:pt x="4884040" y="1120190"/>
                  </a:lnTo>
                  <a:lnTo>
                    <a:pt x="0" y="1120190"/>
                  </a:lnTo>
                  <a:close/>
                </a:path>
              </a:pathLst>
            </a:custGeom>
            <a:blipFill>
              <a:blip r:embed="rId1">
                <a:alphaModFix amt="0"/>
              </a:blip>
              <a:stretch>
                <a:fillRect t="-66265" r="-4926" b="-12014"/>
              </a:stretch>
            </a:blipFill>
          </p:spPr>
        </p:sp>
        <p:sp>
          <p:nvSpPr>
            <p:cNvPr id="25" name="TextBox 25"/>
            <p:cNvSpPr txBox="1"/>
            <p:nvPr/>
          </p:nvSpPr>
          <p:spPr>
            <a:xfrm>
              <a:off x="0" y="0"/>
              <a:ext cx="4884037" cy="1120204"/>
            </a:xfrm>
            <a:prstGeom prst="rect">
              <a:avLst/>
            </a:prstGeom>
          </p:spPr>
          <p:txBody>
            <a:bodyPr lIns="0" tIns="0" rIns="0" bIns="0" rtlCol="0" anchor="ctr"/>
            <a:lstStyle/>
            <a:p>
              <a:pPr algn="l">
                <a:lnSpc>
                  <a:spcPts val="2700"/>
                </a:lnSpc>
              </a:pPr>
              <a:r>
                <a:rPr lang="en-US" sz="2250" b="1">
                  <a:solidFill>
                    <a:srgbClr val="FFFFFF"/>
                  </a:solidFill>
                  <a:latin typeface="Aptos Bold" panose="020B0004020202020204"/>
                  <a:ea typeface="Aptos Bold" panose="020B0004020202020204"/>
                  <a:cs typeface="Aptos Bold" panose="020B0004020202020204"/>
                  <a:sym typeface="Aptos Bold" panose="020B0004020202020204"/>
                </a:rPr>
                <a:t>Removed unnecessary columns</a:t>
              </a:r>
              <a:endParaRPr lang="en-US" sz="22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26" name="Group 26"/>
          <p:cNvGrpSpPr/>
          <p:nvPr/>
        </p:nvGrpSpPr>
        <p:grpSpPr>
          <a:xfrm>
            <a:off x="4311617" y="3925844"/>
            <a:ext cx="3663028" cy="1180498"/>
            <a:chOff x="0" y="0"/>
            <a:chExt cx="4884037" cy="1573998"/>
          </a:xfrm>
        </p:grpSpPr>
        <p:sp>
          <p:nvSpPr>
            <p:cNvPr id="27" name="Freeform 27"/>
            <p:cNvSpPr/>
            <p:nvPr/>
          </p:nvSpPr>
          <p:spPr>
            <a:xfrm>
              <a:off x="0" y="0"/>
              <a:ext cx="4884040" cy="1573995"/>
            </a:xfrm>
            <a:custGeom>
              <a:avLst/>
              <a:gdLst/>
              <a:ahLst/>
              <a:cxnLst/>
              <a:rect l="l" t="t" r="r" b="b"/>
              <a:pathLst>
                <a:path w="4884040" h="1573995">
                  <a:moveTo>
                    <a:pt x="0" y="0"/>
                  </a:moveTo>
                  <a:lnTo>
                    <a:pt x="4884040" y="0"/>
                  </a:lnTo>
                  <a:lnTo>
                    <a:pt x="4884040" y="1573995"/>
                  </a:lnTo>
                  <a:lnTo>
                    <a:pt x="0" y="1573995"/>
                  </a:lnTo>
                  <a:close/>
                </a:path>
              </a:pathLst>
            </a:custGeom>
            <a:blipFill>
              <a:blip r:embed="rId1">
                <a:alphaModFix amt="0"/>
              </a:blip>
              <a:stretch>
                <a:fillRect t="-13439" r="-4926" b="-13439"/>
              </a:stretch>
            </a:blipFill>
          </p:spPr>
        </p:sp>
        <p:sp>
          <p:nvSpPr>
            <p:cNvPr id="28" name="TextBox 28"/>
            <p:cNvSpPr txBox="1"/>
            <p:nvPr/>
          </p:nvSpPr>
          <p:spPr>
            <a:xfrm>
              <a:off x="0" y="0"/>
              <a:ext cx="4884037" cy="1573998"/>
            </a:xfrm>
            <a:prstGeom prst="rect">
              <a:avLst/>
            </a:prstGeom>
          </p:spPr>
          <p:txBody>
            <a:bodyPr lIns="0" tIns="0" rIns="0" bIns="0" rtlCol="0" anchor="ctr"/>
            <a:lstStyle/>
            <a:p>
              <a:pPr algn="l">
                <a:lnSpc>
                  <a:spcPts val="2070"/>
                </a:lnSpc>
              </a:pPr>
              <a:r>
                <a:rPr lang="en-US" sz="1725">
                  <a:solidFill>
                    <a:srgbClr val="FFFFFF"/>
                  </a:solidFill>
                  <a:latin typeface="Aptos"/>
                  <a:ea typeface="Aptos"/>
                  <a:cs typeface="Aptos"/>
                  <a:sym typeface="Aptos"/>
                </a:rPr>
                <a:t>Dropped review comments, customer_unique_id and zip-code prefix columns to reduce noise.</a:t>
              </a:r>
              <a:endParaRPr lang="en-US" sz="1725">
                <a:solidFill>
                  <a:srgbClr val="FFFFFF"/>
                </a:solidFill>
                <a:latin typeface="Aptos"/>
                <a:ea typeface="Aptos"/>
                <a:cs typeface="Aptos"/>
                <a:sym typeface="Aptos"/>
              </a:endParaRPr>
            </a:p>
          </p:txBody>
        </p:sp>
      </p:grpSp>
      <p:grpSp>
        <p:nvGrpSpPr>
          <p:cNvPr id="29" name="Group 29"/>
          <p:cNvGrpSpPr/>
          <p:nvPr/>
        </p:nvGrpSpPr>
        <p:grpSpPr>
          <a:xfrm>
            <a:off x="8864596" y="2649636"/>
            <a:ext cx="4080933" cy="2579865"/>
            <a:chOff x="0" y="0"/>
            <a:chExt cx="5441244" cy="3439820"/>
          </a:xfrm>
        </p:grpSpPr>
        <p:sp>
          <p:nvSpPr>
            <p:cNvPr id="30" name="Freeform 30"/>
            <p:cNvSpPr/>
            <p:nvPr/>
          </p:nvSpPr>
          <p:spPr>
            <a:xfrm>
              <a:off x="0" y="0"/>
              <a:ext cx="5441232" cy="3439922"/>
            </a:xfrm>
            <a:custGeom>
              <a:avLst/>
              <a:gdLst/>
              <a:ahLst/>
              <a:cxnLst/>
              <a:rect l="l" t="t" r="r" b="b"/>
              <a:pathLst>
                <a:path w="5441232" h="3439922">
                  <a:moveTo>
                    <a:pt x="0" y="166497"/>
                  </a:moveTo>
                  <a:cubicBezTo>
                    <a:pt x="0" y="74549"/>
                    <a:pt x="71049" y="0"/>
                    <a:pt x="158680" y="0"/>
                  </a:cubicBezTo>
                  <a:lnTo>
                    <a:pt x="5282552" y="0"/>
                  </a:lnTo>
                  <a:cubicBezTo>
                    <a:pt x="5370183" y="0"/>
                    <a:pt x="5441232" y="74549"/>
                    <a:pt x="5441232" y="166497"/>
                  </a:cubicBezTo>
                  <a:lnTo>
                    <a:pt x="5441232" y="3273425"/>
                  </a:lnTo>
                  <a:cubicBezTo>
                    <a:pt x="5441232" y="3365373"/>
                    <a:pt x="5370183" y="3439922"/>
                    <a:pt x="5282552" y="3439922"/>
                  </a:cubicBezTo>
                  <a:lnTo>
                    <a:pt x="158680" y="3439922"/>
                  </a:lnTo>
                  <a:cubicBezTo>
                    <a:pt x="71049" y="3439795"/>
                    <a:pt x="0" y="3365246"/>
                    <a:pt x="0" y="3273425"/>
                  </a:cubicBezTo>
                  <a:close/>
                </a:path>
              </a:pathLst>
            </a:custGeom>
            <a:solidFill>
              <a:srgbClr val="829BDC"/>
            </a:solidFill>
            <a:ln w="26691" cap="sq">
              <a:solidFill>
                <a:srgbClr val="1B0E2C"/>
              </a:solidFill>
              <a:prstDash val="solid"/>
              <a:miter/>
            </a:ln>
          </p:spPr>
        </p:sp>
      </p:grpSp>
      <p:grpSp>
        <p:nvGrpSpPr>
          <p:cNvPr id="31" name="Group 31"/>
          <p:cNvGrpSpPr/>
          <p:nvPr/>
        </p:nvGrpSpPr>
        <p:grpSpPr>
          <a:xfrm>
            <a:off x="9073549" y="2709769"/>
            <a:ext cx="784939" cy="620227"/>
            <a:chOff x="0" y="0"/>
            <a:chExt cx="1046585" cy="826970"/>
          </a:xfrm>
        </p:grpSpPr>
        <p:sp>
          <p:nvSpPr>
            <p:cNvPr id="32" name="Freeform 32"/>
            <p:cNvSpPr/>
            <p:nvPr/>
          </p:nvSpPr>
          <p:spPr>
            <a:xfrm>
              <a:off x="0" y="0"/>
              <a:ext cx="1046580" cy="826970"/>
            </a:xfrm>
            <a:custGeom>
              <a:avLst/>
              <a:gdLst/>
              <a:ahLst/>
              <a:cxnLst/>
              <a:rect l="l" t="t" r="r" b="b"/>
              <a:pathLst>
                <a:path w="1046580" h="826970">
                  <a:moveTo>
                    <a:pt x="0" y="0"/>
                  </a:moveTo>
                  <a:lnTo>
                    <a:pt x="1046580" y="0"/>
                  </a:lnTo>
                  <a:lnTo>
                    <a:pt x="1046580" y="826970"/>
                  </a:lnTo>
                  <a:lnTo>
                    <a:pt x="0" y="826970"/>
                  </a:lnTo>
                  <a:close/>
                </a:path>
              </a:pathLst>
            </a:custGeom>
            <a:blipFill>
              <a:blip r:embed="rId1">
                <a:alphaModFix amt="0"/>
              </a:blip>
              <a:stretch>
                <a:fillRect l="-19336" r="-24262" b="29178"/>
              </a:stretch>
            </a:blipFill>
          </p:spPr>
        </p:sp>
        <p:sp>
          <p:nvSpPr>
            <p:cNvPr id="33" name="TextBox 33"/>
            <p:cNvSpPr txBox="1"/>
            <p:nvPr/>
          </p:nvSpPr>
          <p:spPr>
            <a:xfrm>
              <a:off x="0" y="0"/>
              <a:ext cx="1046585" cy="826970"/>
            </a:xfrm>
            <a:prstGeom prst="rect">
              <a:avLst/>
            </a:prstGeom>
          </p:spPr>
          <p:txBody>
            <a:bodyPr lIns="0" tIns="0" rIns="0" bIns="0" rtlCol="0" anchor="ctr"/>
            <a:lstStyle/>
            <a:p>
              <a:pPr algn="l">
                <a:lnSpc>
                  <a:spcPts val="3965"/>
                </a:lnSpc>
              </a:pPr>
              <a:r>
                <a:rPr lang="en-US" sz="3300">
                  <a:solidFill>
                    <a:srgbClr val="FFFFFF"/>
                  </a:solidFill>
                  <a:latin typeface="Georgia" panose="02040502050405020303"/>
                  <a:ea typeface="Georgia" panose="02040502050405020303"/>
                  <a:cs typeface="Georgia" panose="02040502050405020303"/>
                  <a:sym typeface="Georgia" panose="02040502050405020303"/>
                </a:rPr>
                <a:t>02</a:t>
              </a:r>
              <a:endParaRPr lang="en-US" sz="330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34" name="Group 34"/>
          <p:cNvGrpSpPr/>
          <p:nvPr/>
        </p:nvGrpSpPr>
        <p:grpSpPr>
          <a:xfrm>
            <a:off x="9073549" y="3355820"/>
            <a:ext cx="3663028" cy="426262"/>
            <a:chOff x="0" y="0"/>
            <a:chExt cx="4884037" cy="568350"/>
          </a:xfrm>
        </p:grpSpPr>
        <p:sp>
          <p:nvSpPr>
            <p:cNvPr id="35" name="Freeform 35"/>
            <p:cNvSpPr/>
            <p:nvPr/>
          </p:nvSpPr>
          <p:spPr>
            <a:xfrm>
              <a:off x="0" y="0"/>
              <a:ext cx="4884040" cy="568343"/>
            </a:xfrm>
            <a:custGeom>
              <a:avLst/>
              <a:gdLst/>
              <a:ahLst/>
              <a:cxnLst/>
              <a:rect l="l" t="t" r="r" b="b"/>
              <a:pathLst>
                <a:path w="4884040" h="568343">
                  <a:moveTo>
                    <a:pt x="0" y="0"/>
                  </a:moveTo>
                  <a:lnTo>
                    <a:pt x="4884040" y="0"/>
                  </a:lnTo>
                  <a:lnTo>
                    <a:pt x="4884040" y="568343"/>
                  </a:lnTo>
                  <a:lnTo>
                    <a:pt x="0" y="568343"/>
                  </a:lnTo>
                  <a:close/>
                </a:path>
              </a:pathLst>
            </a:custGeom>
            <a:blipFill>
              <a:blip r:embed="rId1">
                <a:alphaModFix amt="0"/>
              </a:blip>
              <a:stretch>
                <a:fillRect t="-130608" r="-4926" b="-120777"/>
              </a:stretch>
            </a:blipFill>
          </p:spPr>
        </p:sp>
        <p:sp>
          <p:nvSpPr>
            <p:cNvPr id="36" name="TextBox 36"/>
            <p:cNvSpPr txBox="1"/>
            <p:nvPr/>
          </p:nvSpPr>
          <p:spPr>
            <a:xfrm>
              <a:off x="0" y="0"/>
              <a:ext cx="4884037" cy="568350"/>
            </a:xfrm>
            <a:prstGeom prst="rect">
              <a:avLst/>
            </a:prstGeom>
          </p:spPr>
          <p:txBody>
            <a:bodyPr lIns="0" tIns="0" rIns="0" bIns="0" rtlCol="0" anchor="ctr"/>
            <a:lstStyle/>
            <a:p>
              <a:pPr algn="l">
                <a:lnSpc>
                  <a:spcPts val="2700"/>
                </a:lnSpc>
              </a:pPr>
              <a:r>
                <a:rPr lang="en-US" sz="2250" b="1">
                  <a:solidFill>
                    <a:srgbClr val="FFFFFF"/>
                  </a:solidFill>
                  <a:latin typeface="Aptos Bold" panose="020B0004020202020204"/>
                  <a:ea typeface="Aptos Bold" panose="020B0004020202020204"/>
                  <a:cs typeface="Aptos Bold" panose="020B0004020202020204"/>
                  <a:sym typeface="Aptos Bold" panose="020B0004020202020204"/>
                </a:rPr>
                <a:t>Filled missing categories</a:t>
              </a:r>
              <a:endParaRPr lang="en-US" sz="22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37" name="Group 37"/>
          <p:cNvGrpSpPr/>
          <p:nvPr/>
        </p:nvGrpSpPr>
        <p:grpSpPr>
          <a:xfrm>
            <a:off x="9073549" y="3925844"/>
            <a:ext cx="3663028" cy="1180498"/>
            <a:chOff x="0" y="0"/>
            <a:chExt cx="4884037" cy="1573998"/>
          </a:xfrm>
        </p:grpSpPr>
        <p:sp>
          <p:nvSpPr>
            <p:cNvPr id="38" name="Freeform 38"/>
            <p:cNvSpPr/>
            <p:nvPr/>
          </p:nvSpPr>
          <p:spPr>
            <a:xfrm>
              <a:off x="0" y="0"/>
              <a:ext cx="4884040" cy="1573995"/>
            </a:xfrm>
            <a:custGeom>
              <a:avLst/>
              <a:gdLst/>
              <a:ahLst/>
              <a:cxnLst/>
              <a:rect l="l" t="t" r="r" b="b"/>
              <a:pathLst>
                <a:path w="4884040" h="1573995">
                  <a:moveTo>
                    <a:pt x="0" y="0"/>
                  </a:moveTo>
                  <a:lnTo>
                    <a:pt x="4884040" y="0"/>
                  </a:lnTo>
                  <a:lnTo>
                    <a:pt x="4884040" y="1573995"/>
                  </a:lnTo>
                  <a:lnTo>
                    <a:pt x="0" y="1573995"/>
                  </a:lnTo>
                  <a:close/>
                </a:path>
              </a:pathLst>
            </a:custGeom>
            <a:blipFill>
              <a:blip r:embed="rId1">
                <a:alphaModFix amt="0"/>
              </a:blip>
              <a:stretch>
                <a:fillRect t="-13439" r="-4926" b="-13439"/>
              </a:stretch>
            </a:blipFill>
          </p:spPr>
        </p:sp>
        <p:sp>
          <p:nvSpPr>
            <p:cNvPr id="39" name="TextBox 39"/>
            <p:cNvSpPr txBox="1"/>
            <p:nvPr/>
          </p:nvSpPr>
          <p:spPr>
            <a:xfrm>
              <a:off x="0" y="0"/>
              <a:ext cx="4884037" cy="1573998"/>
            </a:xfrm>
            <a:prstGeom prst="rect">
              <a:avLst/>
            </a:prstGeom>
          </p:spPr>
          <p:txBody>
            <a:bodyPr lIns="0" tIns="0" rIns="0" bIns="0" rtlCol="0" anchor="ctr"/>
            <a:lstStyle/>
            <a:p>
              <a:pPr algn="l">
                <a:lnSpc>
                  <a:spcPts val="2070"/>
                </a:lnSpc>
              </a:pPr>
              <a:r>
                <a:rPr lang="en-US" sz="1725">
                  <a:solidFill>
                    <a:srgbClr val="FFFFFF"/>
                  </a:solidFill>
                  <a:latin typeface="Aptos"/>
                  <a:ea typeface="Aptos"/>
                  <a:cs typeface="Aptos"/>
                  <a:sym typeface="Aptos"/>
                </a:rPr>
                <a:t>Product categories were replaced with “Unknown” instead of deleting those orders.</a:t>
              </a:r>
              <a:endParaRPr lang="en-US" sz="1725">
                <a:solidFill>
                  <a:srgbClr val="FFFFFF"/>
                </a:solidFill>
                <a:latin typeface="Aptos"/>
                <a:ea typeface="Aptos"/>
                <a:cs typeface="Aptos"/>
                <a:sym typeface="Aptos"/>
              </a:endParaRPr>
            </a:p>
          </p:txBody>
        </p:sp>
      </p:grpSp>
      <p:grpSp>
        <p:nvGrpSpPr>
          <p:cNvPr id="40" name="Group 40"/>
          <p:cNvGrpSpPr/>
          <p:nvPr/>
        </p:nvGrpSpPr>
        <p:grpSpPr>
          <a:xfrm>
            <a:off x="13626537" y="2649636"/>
            <a:ext cx="4080933" cy="2579865"/>
            <a:chOff x="0" y="0"/>
            <a:chExt cx="5441244" cy="3439820"/>
          </a:xfrm>
        </p:grpSpPr>
        <p:sp>
          <p:nvSpPr>
            <p:cNvPr id="41" name="Freeform 41"/>
            <p:cNvSpPr/>
            <p:nvPr/>
          </p:nvSpPr>
          <p:spPr>
            <a:xfrm>
              <a:off x="0" y="0"/>
              <a:ext cx="5441232" cy="3439922"/>
            </a:xfrm>
            <a:custGeom>
              <a:avLst/>
              <a:gdLst/>
              <a:ahLst/>
              <a:cxnLst/>
              <a:rect l="l" t="t" r="r" b="b"/>
              <a:pathLst>
                <a:path w="5441232" h="3439922">
                  <a:moveTo>
                    <a:pt x="0" y="166497"/>
                  </a:moveTo>
                  <a:cubicBezTo>
                    <a:pt x="0" y="74549"/>
                    <a:pt x="71049" y="0"/>
                    <a:pt x="158680" y="0"/>
                  </a:cubicBezTo>
                  <a:lnTo>
                    <a:pt x="5282552" y="0"/>
                  </a:lnTo>
                  <a:cubicBezTo>
                    <a:pt x="5370183" y="0"/>
                    <a:pt x="5441232" y="74549"/>
                    <a:pt x="5441232" y="166497"/>
                  </a:cubicBezTo>
                  <a:lnTo>
                    <a:pt x="5441232" y="3273425"/>
                  </a:lnTo>
                  <a:cubicBezTo>
                    <a:pt x="5441232" y="3365373"/>
                    <a:pt x="5370183" y="3439922"/>
                    <a:pt x="5282552" y="3439922"/>
                  </a:cubicBezTo>
                  <a:lnTo>
                    <a:pt x="158680" y="3439922"/>
                  </a:lnTo>
                  <a:cubicBezTo>
                    <a:pt x="71049" y="3439795"/>
                    <a:pt x="0" y="3365246"/>
                    <a:pt x="0" y="3273425"/>
                  </a:cubicBezTo>
                  <a:close/>
                </a:path>
              </a:pathLst>
            </a:custGeom>
            <a:solidFill>
              <a:srgbClr val="829BDC"/>
            </a:solidFill>
            <a:ln w="26691" cap="sq">
              <a:solidFill>
                <a:srgbClr val="1B0E2C"/>
              </a:solidFill>
              <a:prstDash val="solid"/>
              <a:miter/>
            </a:ln>
          </p:spPr>
        </p:sp>
      </p:grpSp>
      <p:grpSp>
        <p:nvGrpSpPr>
          <p:cNvPr id="42" name="Group 42"/>
          <p:cNvGrpSpPr/>
          <p:nvPr/>
        </p:nvGrpSpPr>
        <p:grpSpPr>
          <a:xfrm>
            <a:off x="13835490" y="2709769"/>
            <a:ext cx="784939" cy="620227"/>
            <a:chOff x="0" y="0"/>
            <a:chExt cx="1046585" cy="826970"/>
          </a:xfrm>
        </p:grpSpPr>
        <p:sp>
          <p:nvSpPr>
            <p:cNvPr id="43" name="Freeform 43"/>
            <p:cNvSpPr/>
            <p:nvPr/>
          </p:nvSpPr>
          <p:spPr>
            <a:xfrm>
              <a:off x="0" y="0"/>
              <a:ext cx="1046580" cy="826970"/>
            </a:xfrm>
            <a:custGeom>
              <a:avLst/>
              <a:gdLst/>
              <a:ahLst/>
              <a:cxnLst/>
              <a:rect l="l" t="t" r="r" b="b"/>
              <a:pathLst>
                <a:path w="1046580" h="826970">
                  <a:moveTo>
                    <a:pt x="0" y="0"/>
                  </a:moveTo>
                  <a:lnTo>
                    <a:pt x="1046580" y="0"/>
                  </a:lnTo>
                  <a:lnTo>
                    <a:pt x="1046580" y="826970"/>
                  </a:lnTo>
                  <a:lnTo>
                    <a:pt x="0" y="826970"/>
                  </a:lnTo>
                  <a:close/>
                </a:path>
              </a:pathLst>
            </a:custGeom>
            <a:blipFill>
              <a:blip r:embed="rId1">
                <a:alphaModFix amt="0"/>
              </a:blip>
              <a:stretch>
                <a:fillRect l="-19336" r="-24262" b="29178"/>
              </a:stretch>
            </a:blipFill>
          </p:spPr>
        </p:sp>
        <p:sp>
          <p:nvSpPr>
            <p:cNvPr id="44" name="TextBox 44"/>
            <p:cNvSpPr txBox="1"/>
            <p:nvPr/>
          </p:nvSpPr>
          <p:spPr>
            <a:xfrm>
              <a:off x="0" y="0"/>
              <a:ext cx="1046585" cy="826970"/>
            </a:xfrm>
            <a:prstGeom prst="rect">
              <a:avLst/>
            </a:prstGeom>
          </p:spPr>
          <p:txBody>
            <a:bodyPr lIns="0" tIns="0" rIns="0" bIns="0" rtlCol="0" anchor="ctr"/>
            <a:lstStyle/>
            <a:p>
              <a:pPr algn="l">
                <a:lnSpc>
                  <a:spcPts val="3965"/>
                </a:lnSpc>
              </a:pPr>
              <a:r>
                <a:rPr lang="en-US" sz="3300">
                  <a:solidFill>
                    <a:srgbClr val="FFFFFF"/>
                  </a:solidFill>
                  <a:latin typeface="Georgia" panose="02040502050405020303"/>
                  <a:ea typeface="Georgia" panose="02040502050405020303"/>
                  <a:cs typeface="Georgia" panose="02040502050405020303"/>
                  <a:sym typeface="Georgia" panose="02040502050405020303"/>
                </a:rPr>
                <a:t>03</a:t>
              </a:r>
              <a:endParaRPr lang="en-US" sz="330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45" name="Group 45"/>
          <p:cNvGrpSpPr/>
          <p:nvPr/>
        </p:nvGrpSpPr>
        <p:grpSpPr>
          <a:xfrm>
            <a:off x="13835490" y="3355820"/>
            <a:ext cx="3663028" cy="426262"/>
            <a:chOff x="0" y="0"/>
            <a:chExt cx="4884037" cy="568350"/>
          </a:xfrm>
        </p:grpSpPr>
        <p:sp>
          <p:nvSpPr>
            <p:cNvPr id="46" name="Freeform 46"/>
            <p:cNvSpPr/>
            <p:nvPr/>
          </p:nvSpPr>
          <p:spPr>
            <a:xfrm>
              <a:off x="0" y="0"/>
              <a:ext cx="4884040" cy="568343"/>
            </a:xfrm>
            <a:custGeom>
              <a:avLst/>
              <a:gdLst/>
              <a:ahLst/>
              <a:cxnLst/>
              <a:rect l="l" t="t" r="r" b="b"/>
              <a:pathLst>
                <a:path w="4884040" h="568343">
                  <a:moveTo>
                    <a:pt x="0" y="0"/>
                  </a:moveTo>
                  <a:lnTo>
                    <a:pt x="4884040" y="0"/>
                  </a:lnTo>
                  <a:lnTo>
                    <a:pt x="4884040" y="568343"/>
                  </a:lnTo>
                  <a:lnTo>
                    <a:pt x="0" y="568343"/>
                  </a:lnTo>
                  <a:close/>
                </a:path>
              </a:pathLst>
            </a:custGeom>
            <a:blipFill>
              <a:blip r:embed="rId1">
                <a:alphaModFix amt="0"/>
              </a:blip>
              <a:stretch>
                <a:fillRect t="-130608" r="-4926" b="-120777"/>
              </a:stretch>
            </a:blipFill>
          </p:spPr>
        </p:sp>
        <p:sp>
          <p:nvSpPr>
            <p:cNvPr id="47" name="TextBox 47"/>
            <p:cNvSpPr txBox="1"/>
            <p:nvPr/>
          </p:nvSpPr>
          <p:spPr>
            <a:xfrm>
              <a:off x="0" y="0"/>
              <a:ext cx="4884037" cy="568350"/>
            </a:xfrm>
            <a:prstGeom prst="rect">
              <a:avLst/>
            </a:prstGeom>
          </p:spPr>
          <p:txBody>
            <a:bodyPr lIns="0" tIns="0" rIns="0" bIns="0" rtlCol="0" anchor="ctr"/>
            <a:lstStyle/>
            <a:p>
              <a:pPr algn="l">
                <a:lnSpc>
                  <a:spcPts val="2700"/>
                </a:lnSpc>
              </a:pPr>
              <a:r>
                <a:rPr lang="en-US" sz="2250" b="1">
                  <a:solidFill>
                    <a:srgbClr val="FFFFFF"/>
                  </a:solidFill>
                  <a:latin typeface="Aptos Bold" panose="020B0004020202020204"/>
                  <a:ea typeface="Aptos Bold" panose="020B0004020202020204"/>
                  <a:cs typeface="Aptos Bold" panose="020B0004020202020204"/>
                  <a:sym typeface="Aptos Bold" panose="020B0004020202020204"/>
                </a:rPr>
                <a:t>Filled numerical fields</a:t>
              </a:r>
              <a:endParaRPr lang="en-US" sz="22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48" name="Group 48"/>
          <p:cNvGrpSpPr/>
          <p:nvPr/>
        </p:nvGrpSpPr>
        <p:grpSpPr>
          <a:xfrm>
            <a:off x="13835490" y="3925844"/>
            <a:ext cx="3663028" cy="1180498"/>
            <a:chOff x="0" y="0"/>
            <a:chExt cx="4884037" cy="1573998"/>
          </a:xfrm>
        </p:grpSpPr>
        <p:sp>
          <p:nvSpPr>
            <p:cNvPr id="49" name="Freeform 49"/>
            <p:cNvSpPr/>
            <p:nvPr/>
          </p:nvSpPr>
          <p:spPr>
            <a:xfrm>
              <a:off x="0" y="0"/>
              <a:ext cx="4884040" cy="1573995"/>
            </a:xfrm>
            <a:custGeom>
              <a:avLst/>
              <a:gdLst/>
              <a:ahLst/>
              <a:cxnLst/>
              <a:rect l="l" t="t" r="r" b="b"/>
              <a:pathLst>
                <a:path w="4884040" h="1573995">
                  <a:moveTo>
                    <a:pt x="0" y="0"/>
                  </a:moveTo>
                  <a:lnTo>
                    <a:pt x="4884040" y="0"/>
                  </a:lnTo>
                  <a:lnTo>
                    <a:pt x="4884040" y="1573995"/>
                  </a:lnTo>
                  <a:lnTo>
                    <a:pt x="0" y="1573995"/>
                  </a:lnTo>
                  <a:close/>
                </a:path>
              </a:pathLst>
            </a:custGeom>
            <a:blipFill>
              <a:blip r:embed="rId1">
                <a:alphaModFix amt="0"/>
              </a:blip>
              <a:stretch>
                <a:fillRect t="-13439" r="-4926" b="-13439"/>
              </a:stretch>
            </a:blipFill>
          </p:spPr>
        </p:sp>
        <p:sp>
          <p:nvSpPr>
            <p:cNvPr id="50" name="TextBox 50"/>
            <p:cNvSpPr txBox="1"/>
            <p:nvPr/>
          </p:nvSpPr>
          <p:spPr>
            <a:xfrm>
              <a:off x="0" y="0"/>
              <a:ext cx="4884037" cy="1573998"/>
            </a:xfrm>
            <a:prstGeom prst="rect">
              <a:avLst/>
            </a:prstGeom>
          </p:spPr>
          <p:txBody>
            <a:bodyPr lIns="0" tIns="0" rIns="0" bIns="0" rtlCol="0" anchor="ctr"/>
            <a:lstStyle/>
            <a:p>
              <a:pPr algn="l">
                <a:lnSpc>
                  <a:spcPts val="2070"/>
                </a:lnSpc>
              </a:pPr>
              <a:r>
                <a:rPr lang="en-US" sz="1725">
                  <a:solidFill>
                    <a:srgbClr val="FFFFFF"/>
                  </a:solidFill>
                  <a:latin typeface="Aptos"/>
                  <a:ea typeface="Aptos"/>
                  <a:cs typeface="Aptos"/>
                  <a:sym typeface="Aptos"/>
                </a:rPr>
                <a:t>Product weight, length, height, width and product details were filled using median values.</a:t>
              </a:r>
              <a:endParaRPr lang="en-US" sz="1725">
                <a:solidFill>
                  <a:srgbClr val="FFFFFF"/>
                </a:solidFill>
                <a:latin typeface="Aptos"/>
                <a:ea typeface="Aptos"/>
                <a:cs typeface="Aptos"/>
                <a:sym typeface="Aptos"/>
              </a:endParaRPr>
            </a:p>
          </p:txBody>
        </p:sp>
      </p:grpSp>
      <p:grpSp>
        <p:nvGrpSpPr>
          <p:cNvPr id="51" name="Group 51"/>
          <p:cNvGrpSpPr/>
          <p:nvPr/>
        </p:nvGrpSpPr>
        <p:grpSpPr>
          <a:xfrm>
            <a:off x="4102665" y="6369577"/>
            <a:ext cx="4080933" cy="2579865"/>
            <a:chOff x="0" y="0"/>
            <a:chExt cx="5441244" cy="3439820"/>
          </a:xfrm>
        </p:grpSpPr>
        <p:sp>
          <p:nvSpPr>
            <p:cNvPr id="52" name="Freeform 52"/>
            <p:cNvSpPr/>
            <p:nvPr/>
          </p:nvSpPr>
          <p:spPr>
            <a:xfrm>
              <a:off x="0" y="0"/>
              <a:ext cx="5441232" cy="3439922"/>
            </a:xfrm>
            <a:custGeom>
              <a:avLst/>
              <a:gdLst/>
              <a:ahLst/>
              <a:cxnLst/>
              <a:rect l="l" t="t" r="r" b="b"/>
              <a:pathLst>
                <a:path w="5441232" h="3439922">
                  <a:moveTo>
                    <a:pt x="0" y="166497"/>
                  </a:moveTo>
                  <a:cubicBezTo>
                    <a:pt x="0" y="74549"/>
                    <a:pt x="71049" y="0"/>
                    <a:pt x="158680" y="0"/>
                  </a:cubicBezTo>
                  <a:lnTo>
                    <a:pt x="5282552" y="0"/>
                  </a:lnTo>
                  <a:cubicBezTo>
                    <a:pt x="5370183" y="0"/>
                    <a:pt x="5441232" y="74549"/>
                    <a:pt x="5441232" y="166497"/>
                  </a:cubicBezTo>
                  <a:lnTo>
                    <a:pt x="5441232" y="3273425"/>
                  </a:lnTo>
                  <a:cubicBezTo>
                    <a:pt x="5441232" y="3365373"/>
                    <a:pt x="5370183" y="3439922"/>
                    <a:pt x="5282552" y="3439922"/>
                  </a:cubicBezTo>
                  <a:lnTo>
                    <a:pt x="158680" y="3439922"/>
                  </a:lnTo>
                  <a:cubicBezTo>
                    <a:pt x="71049" y="3439795"/>
                    <a:pt x="0" y="3365246"/>
                    <a:pt x="0" y="3273425"/>
                  </a:cubicBezTo>
                  <a:close/>
                </a:path>
              </a:pathLst>
            </a:custGeom>
            <a:solidFill>
              <a:srgbClr val="829BDC"/>
            </a:solidFill>
            <a:ln w="26691" cap="sq">
              <a:solidFill>
                <a:srgbClr val="1B0E2C"/>
              </a:solidFill>
              <a:prstDash val="solid"/>
              <a:miter/>
            </a:ln>
          </p:spPr>
        </p:sp>
      </p:grpSp>
      <p:grpSp>
        <p:nvGrpSpPr>
          <p:cNvPr id="53" name="Group 53"/>
          <p:cNvGrpSpPr/>
          <p:nvPr/>
        </p:nvGrpSpPr>
        <p:grpSpPr>
          <a:xfrm>
            <a:off x="4311617" y="6429710"/>
            <a:ext cx="784939" cy="620227"/>
            <a:chOff x="0" y="0"/>
            <a:chExt cx="1046585" cy="826970"/>
          </a:xfrm>
        </p:grpSpPr>
        <p:sp>
          <p:nvSpPr>
            <p:cNvPr id="54" name="Freeform 54"/>
            <p:cNvSpPr/>
            <p:nvPr/>
          </p:nvSpPr>
          <p:spPr>
            <a:xfrm>
              <a:off x="0" y="0"/>
              <a:ext cx="1046580" cy="826970"/>
            </a:xfrm>
            <a:custGeom>
              <a:avLst/>
              <a:gdLst/>
              <a:ahLst/>
              <a:cxnLst/>
              <a:rect l="l" t="t" r="r" b="b"/>
              <a:pathLst>
                <a:path w="1046580" h="826970">
                  <a:moveTo>
                    <a:pt x="0" y="0"/>
                  </a:moveTo>
                  <a:lnTo>
                    <a:pt x="1046580" y="0"/>
                  </a:lnTo>
                  <a:lnTo>
                    <a:pt x="1046580" y="826970"/>
                  </a:lnTo>
                  <a:lnTo>
                    <a:pt x="0" y="826970"/>
                  </a:lnTo>
                  <a:close/>
                </a:path>
              </a:pathLst>
            </a:custGeom>
            <a:blipFill>
              <a:blip r:embed="rId1">
                <a:alphaModFix amt="0"/>
              </a:blip>
              <a:stretch>
                <a:fillRect l="-19336" r="-24262" b="29178"/>
              </a:stretch>
            </a:blipFill>
          </p:spPr>
        </p:sp>
        <p:sp>
          <p:nvSpPr>
            <p:cNvPr id="55" name="TextBox 55"/>
            <p:cNvSpPr txBox="1"/>
            <p:nvPr/>
          </p:nvSpPr>
          <p:spPr>
            <a:xfrm>
              <a:off x="0" y="0"/>
              <a:ext cx="1046585" cy="826970"/>
            </a:xfrm>
            <a:prstGeom prst="rect">
              <a:avLst/>
            </a:prstGeom>
          </p:spPr>
          <p:txBody>
            <a:bodyPr lIns="0" tIns="0" rIns="0" bIns="0" rtlCol="0" anchor="ctr"/>
            <a:lstStyle/>
            <a:p>
              <a:pPr algn="l">
                <a:lnSpc>
                  <a:spcPts val="3965"/>
                </a:lnSpc>
              </a:pPr>
              <a:r>
                <a:rPr lang="en-US" sz="3300">
                  <a:solidFill>
                    <a:srgbClr val="FFFFFF"/>
                  </a:solidFill>
                  <a:latin typeface="Georgia" panose="02040502050405020303"/>
                  <a:ea typeface="Georgia" panose="02040502050405020303"/>
                  <a:cs typeface="Georgia" panose="02040502050405020303"/>
                  <a:sym typeface="Georgia" panose="02040502050405020303"/>
                </a:rPr>
                <a:t>04</a:t>
              </a:r>
              <a:endParaRPr lang="en-US" sz="330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56" name="Group 56"/>
          <p:cNvGrpSpPr/>
          <p:nvPr/>
        </p:nvGrpSpPr>
        <p:grpSpPr>
          <a:xfrm>
            <a:off x="4311617" y="7007076"/>
            <a:ext cx="3663028" cy="769162"/>
            <a:chOff x="0" y="0"/>
            <a:chExt cx="4884037" cy="1025550"/>
          </a:xfrm>
        </p:grpSpPr>
        <p:sp>
          <p:nvSpPr>
            <p:cNvPr id="57" name="Freeform 57"/>
            <p:cNvSpPr/>
            <p:nvPr/>
          </p:nvSpPr>
          <p:spPr>
            <a:xfrm>
              <a:off x="0" y="0"/>
              <a:ext cx="4884040" cy="1025538"/>
            </a:xfrm>
            <a:custGeom>
              <a:avLst/>
              <a:gdLst/>
              <a:ahLst/>
              <a:cxnLst/>
              <a:rect l="l" t="t" r="r" b="b"/>
              <a:pathLst>
                <a:path w="4884040" h="1025538">
                  <a:moveTo>
                    <a:pt x="0" y="0"/>
                  </a:moveTo>
                  <a:lnTo>
                    <a:pt x="4884040" y="0"/>
                  </a:lnTo>
                  <a:lnTo>
                    <a:pt x="4884040" y="1025538"/>
                  </a:lnTo>
                  <a:lnTo>
                    <a:pt x="0" y="1025538"/>
                  </a:lnTo>
                  <a:close/>
                </a:path>
              </a:pathLst>
            </a:custGeom>
            <a:blipFill>
              <a:blip r:embed="rId1">
                <a:alphaModFix amt="0"/>
              </a:blip>
              <a:stretch>
                <a:fillRect t="-72381" r="-4926" b="-22352"/>
              </a:stretch>
            </a:blipFill>
          </p:spPr>
        </p:sp>
        <p:sp>
          <p:nvSpPr>
            <p:cNvPr id="58" name="TextBox 58"/>
            <p:cNvSpPr txBox="1"/>
            <p:nvPr/>
          </p:nvSpPr>
          <p:spPr>
            <a:xfrm>
              <a:off x="0" y="0"/>
              <a:ext cx="4884037" cy="1025550"/>
            </a:xfrm>
            <a:prstGeom prst="rect">
              <a:avLst/>
            </a:prstGeom>
          </p:spPr>
          <p:txBody>
            <a:bodyPr lIns="0" tIns="0" rIns="0" bIns="0" rtlCol="0" anchor="ctr"/>
            <a:lstStyle/>
            <a:p>
              <a:pPr algn="l">
                <a:lnSpc>
                  <a:spcPts val="2700"/>
                </a:lnSpc>
              </a:pPr>
              <a:r>
                <a:rPr lang="en-US" sz="2250" b="1">
                  <a:solidFill>
                    <a:srgbClr val="FFFFFF"/>
                  </a:solidFill>
                  <a:latin typeface="Aptos Bold" panose="020B0004020202020204"/>
                  <a:ea typeface="Aptos Bold" panose="020B0004020202020204"/>
                  <a:cs typeface="Aptos Bold" panose="020B0004020202020204"/>
                  <a:sym typeface="Aptos Bold" panose="020B0004020202020204"/>
                </a:rPr>
                <a:t>Completed seller &amp; payment fields</a:t>
              </a:r>
              <a:endParaRPr lang="en-US" sz="22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59" name="Group 59"/>
          <p:cNvGrpSpPr/>
          <p:nvPr/>
        </p:nvGrpSpPr>
        <p:grpSpPr>
          <a:xfrm>
            <a:off x="4311617" y="7645785"/>
            <a:ext cx="3663028" cy="1180498"/>
            <a:chOff x="0" y="0"/>
            <a:chExt cx="4884037" cy="1573998"/>
          </a:xfrm>
        </p:grpSpPr>
        <p:sp>
          <p:nvSpPr>
            <p:cNvPr id="60" name="Freeform 60"/>
            <p:cNvSpPr/>
            <p:nvPr/>
          </p:nvSpPr>
          <p:spPr>
            <a:xfrm>
              <a:off x="0" y="0"/>
              <a:ext cx="4884040" cy="1573995"/>
            </a:xfrm>
            <a:custGeom>
              <a:avLst/>
              <a:gdLst/>
              <a:ahLst/>
              <a:cxnLst/>
              <a:rect l="l" t="t" r="r" b="b"/>
              <a:pathLst>
                <a:path w="4884040" h="1573995">
                  <a:moveTo>
                    <a:pt x="0" y="0"/>
                  </a:moveTo>
                  <a:lnTo>
                    <a:pt x="4884040" y="0"/>
                  </a:lnTo>
                  <a:lnTo>
                    <a:pt x="4884040" y="1573995"/>
                  </a:lnTo>
                  <a:lnTo>
                    <a:pt x="0" y="1573995"/>
                  </a:lnTo>
                  <a:close/>
                </a:path>
              </a:pathLst>
            </a:custGeom>
            <a:blipFill>
              <a:blip r:embed="rId1">
                <a:alphaModFix amt="0"/>
              </a:blip>
              <a:stretch>
                <a:fillRect t="-13439" r="-4926" b="-13439"/>
              </a:stretch>
            </a:blipFill>
          </p:spPr>
        </p:sp>
        <p:sp>
          <p:nvSpPr>
            <p:cNvPr id="61" name="TextBox 61"/>
            <p:cNvSpPr txBox="1"/>
            <p:nvPr/>
          </p:nvSpPr>
          <p:spPr>
            <a:xfrm>
              <a:off x="0" y="0"/>
              <a:ext cx="4884037" cy="1573998"/>
            </a:xfrm>
            <a:prstGeom prst="rect">
              <a:avLst/>
            </a:prstGeom>
          </p:spPr>
          <p:txBody>
            <a:bodyPr lIns="0" tIns="0" rIns="0" bIns="0" rtlCol="0" anchor="ctr"/>
            <a:lstStyle/>
            <a:p>
              <a:pPr algn="l">
                <a:lnSpc>
                  <a:spcPts val="2070"/>
                </a:lnSpc>
              </a:pPr>
              <a:r>
                <a:rPr lang="en-US" sz="1725">
                  <a:solidFill>
                    <a:srgbClr val="FFFFFF"/>
                  </a:solidFill>
                  <a:latin typeface="Aptos"/>
                  <a:ea typeface="Aptos"/>
                  <a:cs typeface="Aptos"/>
                  <a:sym typeface="Aptos"/>
                </a:rPr>
                <a:t>Seller/payment missing values were filled using mode or median based on column type.</a:t>
              </a:r>
              <a:endParaRPr lang="en-US" sz="1725">
                <a:solidFill>
                  <a:srgbClr val="FFFFFF"/>
                </a:solidFill>
                <a:latin typeface="Aptos"/>
                <a:ea typeface="Aptos"/>
                <a:cs typeface="Aptos"/>
                <a:sym typeface="Aptos"/>
              </a:endParaRPr>
            </a:p>
          </p:txBody>
        </p:sp>
      </p:grpSp>
      <p:grpSp>
        <p:nvGrpSpPr>
          <p:cNvPr id="62" name="Group 62"/>
          <p:cNvGrpSpPr/>
          <p:nvPr/>
        </p:nvGrpSpPr>
        <p:grpSpPr>
          <a:xfrm>
            <a:off x="8864596" y="6369577"/>
            <a:ext cx="4080933" cy="2579865"/>
            <a:chOff x="0" y="0"/>
            <a:chExt cx="5441244" cy="3439820"/>
          </a:xfrm>
        </p:grpSpPr>
        <p:sp>
          <p:nvSpPr>
            <p:cNvPr id="63" name="Freeform 63"/>
            <p:cNvSpPr/>
            <p:nvPr/>
          </p:nvSpPr>
          <p:spPr>
            <a:xfrm>
              <a:off x="0" y="0"/>
              <a:ext cx="5441232" cy="3439922"/>
            </a:xfrm>
            <a:custGeom>
              <a:avLst/>
              <a:gdLst/>
              <a:ahLst/>
              <a:cxnLst/>
              <a:rect l="l" t="t" r="r" b="b"/>
              <a:pathLst>
                <a:path w="5441232" h="3439922">
                  <a:moveTo>
                    <a:pt x="0" y="166497"/>
                  </a:moveTo>
                  <a:cubicBezTo>
                    <a:pt x="0" y="74549"/>
                    <a:pt x="71049" y="0"/>
                    <a:pt x="158680" y="0"/>
                  </a:cubicBezTo>
                  <a:lnTo>
                    <a:pt x="5282552" y="0"/>
                  </a:lnTo>
                  <a:cubicBezTo>
                    <a:pt x="5370183" y="0"/>
                    <a:pt x="5441232" y="74549"/>
                    <a:pt x="5441232" y="166497"/>
                  </a:cubicBezTo>
                  <a:lnTo>
                    <a:pt x="5441232" y="3273425"/>
                  </a:lnTo>
                  <a:cubicBezTo>
                    <a:pt x="5441232" y="3365373"/>
                    <a:pt x="5370183" y="3439922"/>
                    <a:pt x="5282552" y="3439922"/>
                  </a:cubicBezTo>
                  <a:lnTo>
                    <a:pt x="158680" y="3439922"/>
                  </a:lnTo>
                  <a:cubicBezTo>
                    <a:pt x="71049" y="3439795"/>
                    <a:pt x="0" y="3365246"/>
                    <a:pt x="0" y="3273425"/>
                  </a:cubicBezTo>
                  <a:close/>
                </a:path>
              </a:pathLst>
            </a:custGeom>
            <a:solidFill>
              <a:srgbClr val="829BDC"/>
            </a:solidFill>
            <a:ln w="26691" cap="sq">
              <a:solidFill>
                <a:srgbClr val="1B0E2C"/>
              </a:solidFill>
              <a:prstDash val="solid"/>
              <a:miter/>
            </a:ln>
          </p:spPr>
        </p:sp>
      </p:grpSp>
      <p:grpSp>
        <p:nvGrpSpPr>
          <p:cNvPr id="64" name="Group 64"/>
          <p:cNvGrpSpPr/>
          <p:nvPr/>
        </p:nvGrpSpPr>
        <p:grpSpPr>
          <a:xfrm>
            <a:off x="9073549" y="6429710"/>
            <a:ext cx="784939" cy="620227"/>
            <a:chOff x="0" y="0"/>
            <a:chExt cx="1046585" cy="826970"/>
          </a:xfrm>
        </p:grpSpPr>
        <p:sp>
          <p:nvSpPr>
            <p:cNvPr id="65" name="Freeform 65"/>
            <p:cNvSpPr/>
            <p:nvPr/>
          </p:nvSpPr>
          <p:spPr>
            <a:xfrm>
              <a:off x="0" y="0"/>
              <a:ext cx="1046580" cy="826970"/>
            </a:xfrm>
            <a:custGeom>
              <a:avLst/>
              <a:gdLst/>
              <a:ahLst/>
              <a:cxnLst/>
              <a:rect l="l" t="t" r="r" b="b"/>
              <a:pathLst>
                <a:path w="1046580" h="826970">
                  <a:moveTo>
                    <a:pt x="0" y="0"/>
                  </a:moveTo>
                  <a:lnTo>
                    <a:pt x="1046580" y="0"/>
                  </a:lnTo>
                  <a:lnTo>
                    <a:pt x="1046580" y="826970"/>
                  </a:lnTo>
                  <a:lnTo>
                    <a:pt x="0" y="826970"/>
                  </a:lnTo>
                  <a:close/>
                </a:path>
              </a:pathLst>
            </a:custGeom>
            <a:blipFill>
              <a:blip r:embed="rId1">
                <a:alphaModFix amt="0"/>
              </a:blip>
              <a:stretch>
                <a:fillRect l="-19336" r="-24262" b="29178"/>
              </a:stretch>
            </a:blipFill>
          </p:spPr>
        </p:sp>
        <p:sp>
          <p:nvSpPr>
            <p:cNvPr id="66" name="TextBox 66"/>
            <p:cNvSpPr txBox="1"/>
            <p:nvPr/>
          </p:nvSpPr>
          <p:spPr>
            <a:xfrm>
              <a:off x="0" y="0"/>
              <a:ext cx="1046585" cy="826970"/>
            </a:xfrm>
            <a:prstGeom prst="rect">
              <a:avLst/>
            </a:prstGeom>
          </p:spPr>
          <p:txBody>
            <a:bodyPr lIns="0" tIns="0" rIns="0" bIns="0" rtlCol="0" anchor="ctr"/>
            <a:lstStyle/>
            <a:p>
              <a:pPr algn="l">
                <a:lnSpc>
                  <a:spcPts val="3965"/>
                </a:lnSpc>
              </a:pPr>
              <a:r>
                <a:rPr lang="en-US" sz="3300">
                  <a:solidFill>
                    <a:srgbClr val="FFFFFF"/>
                  </a:solidFill>
                  <a:latin typeface="Georgia" panose="02040502050405020303"/>
                  <a:ea typeface="Georgia" panose="02040502050405020303"/>
                  <a:cs typeface="Georgia" panose="02040502050405020303"/>
                  <a:sym typeface="Georgia" panose="02040502050405020303"/>
                </a:rPr>
                <a:t>05</a:t>
              </a:r>
              <a:endParaRPr lang="en-US" sz="330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67" name="Group 67"/>
          <p:cNvGrpSpPr/>
          <p:nvPr/>
        </p:nvGrpSpPr>
        <p:grpSpPr>
          <a:xfrm>
            <a:off x="9073549" y="7075761"/>
            <a:ext cx="3663028" cy="426262"/>
            <a:chOff x="0" y="0"/>
            <a:chExt cx="4884037" cy="568350"/>
          </a:xfrm>
        </p:grpSpPr>
        <p:sp>
          <p:nvSpPr>
            <p:cNvPr id="68" name="Freeform 68"/>
            <p:cNvSpPr/>
            <p:nvPr/>
          </p:nvSpPr>
          <p:spPr>
            <a:xfrm>
              <a:off x="0" y="0"/>
              <a:ext cx="4884040" cy="568343"/>
            </a:xfrm>
            <a:custGeom>
              <a:avLst/>
              <a:gdLst/>
              <a:ahLst/>
              <a:cxnLst/>
              <a:rect l="l" t="t" r="r" b="b"/>
              <a:pathLst>
                <a:path w="4884040" h="568343">
                  <a:moveTo>
                    <a:pt x="0" y="0"/>
                  </a:moveTo>
                  <a:lnTo>
                    <a:pt x="4884040" y="0"/>
                  </a:lnTo>
                  <a:lnTo>
                    <a:pt x="4884040" y="568343"/>
                  </a:lnTo>
                  <a:lnTo>
                    <a:pt x="0" y="568343"/>
                  </a:lnTo>
                  <a:close/>
                </a:path>
              </a:pathLst>
            </a:custGeom>
            <a:blipFill>
              <a:blip r:embed="rId1">
                <a:alphaModFix amt="0"/>
              </a:blip>
              <a:stretch>
                <a:fillRect t="-130608" r="-4926" b="-120777"/>
              </a:stretch>
            </a:blipFill>
          </p:spPr>
        </p:sp>
        <p:sp>
          <p:nvSpPr>
            <p:cNvPr id="69" name="TextBox 69"/>
            <p:cNvSpPr txBox="1"/>
            <p:nvPr/>
          </p:nvSpPr>
          <p:spPr>
            <a:xfrm>
              <a:off x="0" y="0"/>
              <a:ext cx="4884037" cy="568350"/>
            </a:xfrm>
            <a:prstGeom prst="rect">
              <a:avLst/>
            </a:prstGeom>
          </p:spPr>
          <p:txBody>
            <a:bodyPr lIns="0" tIns="0" rIns="0" bIns="0" rtlCol="0" anchor="ctr"/>
            <a:lstStyle/>
            <a:p>
              <a:pPr algn="l">
                <a:lnSpc>
                  <a:spcPts val="2700"/>
                </a:lnSpc>
              </a:pPr>
              <a:r>
                <a:rPr lang="en-US" sz="2250" b="1">
                  <a:solidFill>
                    <a:srgbClr val="FFFFFF"/>
                  </a:solidFill>
                  <a:latin typeface="Aptos Bold" panose="020B0004020202020204"/>
                  <a:ea typeface="Aptos Bold" panose="020B0004020202020204"/>
                  <a:cs typeface="Aptos Bold" panose="020B0004020202020204"/>
                  <a:sym typeface="Aptos Bold" panose="020B0004020202020204"/>
                </a:rPr>
                <a:t>Fixed approval dates</a:t>
              </a:r>
              <a:endParaRPr lang="en-US" sz="22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70" name="Group 70"/>
          <p:cNvGrpSpPr/>
          <p:nvPr/>
        </p:nvGrpSpPr>
        <p:grpSpPr>
          <a:xfrm>
            <a:off x="9073549" y="7645785"/>
            <a:ext cx="3663028" cy="1180498"/>
            <a:chOff x="0" y="0"/>
            <a:chExt cx="4884037" cy="1573998"/>
          </a:xfrm>
        </p:grpSpPr>
        <p:sp>
          <p:nvSpPr>
            <p:cNvPr id="71" name="Freeform 71"/>
            <p:cNvSpPr/>
            <p:nvPr/>
          </p:nvSpPr>
          <p:spPr>
            <a:xfrm>
              <a:off x="0" y="0"/>
              <a:ext cx="4884040" cy="1573995"/>
            </a:xfrm>
            <a:custGeom>
              <a:avLst/>
              <a:gdLst/>
              <a:ahLst/>
              <a:cxnLst/>
              <a:rect l="l" t="t" r="r" b="b"/>
              <a:pathLst>
                <a:path w="4884040" h="1573995">
                  <a:moveTo>
                    <a:pt x="0" y="0"/>
                  </a:moveTo>
                  <a:lnTo>
                    <a:pt x="4884040" y="0"/>
                  </a:lnTo>
                  <a:lnTo>
                    <a:pt x="4884040" y="1573995"/>
                  </a:lnTo>
                  <a:lnTo>
                    <a:pt x="0" y="1573995"/>
                  </a:lnTo>
                  <a:close/>
                </a:path>
              </a:pathLst>
            </a:custGeom>
            <a:blipFill>
              <a:blip r:embed="rId1">
                <a:alphaModFix amt="0"/>
              </a:blip>
              <a:stretch>
                <a:fillRect t="-13439" r="-4926" b="-13439"/>
              </a:stretch>
            </a:blipFill>
          </p:spPr>
        </p:sp>
        <p:sp>
          <p:nvSpPr>
            <p:cNvPr id="72" name="TextBox 72"/>
            <p:cNvSpPr txBox="1"/>
            <p:nvPr/>
          </p:nvSpPr>
          <p:spPr>
            <a:xfrm>
              <a:off x="0" y="0"/>
              <a:ext cx="4884037" cy="1573998"/>
            </a:xfrm>
            <a:prstGeom prst="rect">
              <a:avLst/>
            </a:prstGeom>
          </p:spPr>
          <p:txBody>
            <a:bodyPr lIns="0" tIns="0" rIns="0" bIns="0" rtlCol="0" anchor="ctr"/>
            <a:lstStyle/>
            <a:p>
              <a:pPr algn="l">
                <a:lnSpc>
                  <a:spcPts val="2070"/>
                </a:lnSpc>
              </a:pPr>
              <a:r>
                <a:rPr lang="en-US" sz="1725">
                  <a:solidFill>
                    <a:srgbClr val="FFFFFF"/>
                  </a:solidFill>
                  <a:latin typeface="Aptos"/>
                  <a:ea typeface="Aptos"/>
                  <a:cs typeface="Aptos"/>
                  <a:sym typeface="Aptos"/>
                </a:rPr>
                <a:t>Missing approval dates were filled using purchase timestamp when approval time was unavailable.</a:t>
              </a:r>
              <a:endParaRPr lang="en-US" sz="1725">
                <a:solidFill>
                  <a:srgbClr val="FFFFFF"/>
                </a:solidFill>
                <a:latin typeface="Aptos"/>
                <a:ea typeface="Aptos"/>
                <a:cs typeface="Aptos"/>
                <a:sym typeface="Aptos"/>
              </a:endParaRPr>
            </a:p>
          </p:txBody>
        </p:sp>
      </p:grpSp>
      <p:grpSp>
        <p:nvGrpSpPr>
          <p:cNvPr id="73" name="Group 73"/>
          <p:cNvGrpSpPr/>
          <p:nvPr/>
        </p:nvGrpSpPr>
        <p:grpSpPr>
          <a:xfrm>
            <a:off x="13626537" y="6369577"/>
            <a:ext cx="4080933" cy="2579865"/>
            <a:chOff x="0" y="0"/>
            <a:chExt cx="5441244" cy="3439820"/>
          </a:xfrm>
        </p:grpSpPr>
        <p:sp>
          <p:nvSpPr>
            <p:cNvPr id="74" name="Freeform 74"/>
            <p:cNvSpPr/>
            <p:nvPr/>
          </p:nvSpPr>
          <p:spPr>
            <a:xfrm>
              <a:off x="0" y="0"/>
              <a:ext cx="5441232" cy="3439922"/>
            </a:xfrm>
            <a:custGeom>
              <a:avLst/>
              <a:gdLst/>
              <a:ahLst/>
              <a:cxnLst/>
              <a:rect l="l" t="t" r="r" b="b"/>
              <a:pathLst>
                <a:path w="5441232" h="3439922">
                  <a:moveTo>
                    <a:pt x="0" y="166497"/>
                  </a:moveTo>
                  <a:cubicBezTo>
                    <a:pt x="0" y="74549"/>
                    <a:pt x="71049" y="0"/>
                    <a:pt x="158680" y="0"/>
                  </a:cubicBezTo>
                  <a:lnTo>
                    <a:pt x="5282552" y="0"/>
                  </a:lnTo>
                  <a:cubicBezTo>
                    <a:pt x="5370183" y="0"/>
                    <a:pt x="5441232" y="74549"/>
                    <a:pt x="5441232" y="166497"/>
                  </a:cubicBezTo>
                  <a:lnTo>
                    <a:pt x="5441232" y="3273425"/>
                  </a:lnTo>
                  <a:cubicBezTo>
                    <a:pt x="5441232" y="3365373"/>
                    <a:pt x="5370183" y="3439922"/>
                    <a:pt x="5282552" y="3439922"/>
                  </a:cubicBezTo>
                  <a:lnTo>
                    <a:pt x="158680" y="3439922"/>
                  </a:lnTo>
                  <a:cubicBezTo>
                    <a:pt x="71049" y="3439795"/>
                    <a:pt x="0" y="3365246"/>
                    <a:pt x="0" y="3273425"/>
                  </a:cubicBezTo>
                  <a:close/>
                </a:path>
              </a:pathLst>
            </a:custGeom>
            <a:solidFill>
              <a:srgbClr val="829BDC"/>
            </a:solidFill>
            <a:ln w="26691" cap="sq">
              <a:solidFill>
                <a:srgbClr val="1B0E2C"/>
              </a:solidFill>
              <a:prstDash val="solid"/>
              <a:miter/>
            </a:ln>
          </p:spPr>
        </p:sp>
      </p:grpSp>
      <p:grpSp>
        <p:nvGrpSpPr>
          <p:cNvPr id="75" name="Group 75"/>
          <p:cNvGrpSpPr/>
          <p:nvPr/>
        </p:nvGrpSpPr>
        <p:grpSpPr>
          <a:xfrm>
            <a:off x="13835490" y="6429710"/>
            <a:ext cx="784939" cy="620227"/>
            <a:chOff x="0" y="0"/>
            <a:chExt cx="1046585" cy="826970"/>
          </a:xfrm>
        </p:grpSpPr>
        <p:sp>
          <p:nvSpPr>
            <p:cNvPr id="76" name="Freeform 76"/>
            <p:cNvSpPr/>
            <p:nvPr/>
          </p:nvSpPr>
          <p:spPr>
            <a:xfrm>
              <a:off x="0" y="0"/>
              <a:ext cx="1046580" cy="826970"/>
            </a:xfrm>
            <a:custGeom>
              <a:avLst/>
              <a:gdLst/>
              <a:ahLst/>
              <a:cxnLst/>
              <a:rect l="l" t="t" r="r" b="b"/>
              <a:pathLst>
                <a:path w="1046580" h="826970">
                  <a:moveTo>
                    <a:pt x="0" y="0"/>
                  </a:moveTo>
                  <a:lnTo>
                    <a:pt x="1046580" y="0"/>
                  </a:lnTo>
                  <a:lnTo>
                    <a:pt x="1046580" y="826970"/>
                  </a:lnTo>
                  <a:lnTo>
                    <a:pt x="0" y="826970"/>
                  </a:lnTo>
                  <a:close/>
                </a:path>
              </a:pathLst>
            </a:custGeom>
            <a:blipFill>
              <a:blip r:embed="rId1">
                <a:alphaModFix amt="0"/>
              </a:blip>
              <a:stretch>
                <a:fillRect l="-19336" r="-24262" b="29178"/>
              </a:stretch>
            </a:blipFill>
          </p:spPr>
        </p:sp>
        <p:sp>
          <p:nvSpPr>
            <p:cNvPr id="77" name="TextBox 77"/>
            <p:cNvSpPr txBox="1"/>
            <p:nvPr/>
          </p:nvSpPr>
          <p:spPr>
            <a:xfrm>
              <a:off x="0" y="0"/>
              <a:ext cx="1046585" cy="826970"/>
            </a:xfrm>
            <a:prstGeom prst="rect">
              <a:avLst/>
            </a:prstGeom>
          </p:spPr>
          <p:txBody>
            <a:bodyPr lIns="0" tIns="0" rIns="0" bIns="0" rtlCol="0" anchor="ctr"/>
            <a:lstStyle/>
            <a:p>
              <a:pPr algn="l">
                <a:lnSpc>
                  <a:spcPts val="3965"/>
                </a:lnSpc>
              </a:pPr>
              <a:r>
                <a:rPr lang="en-US" sz="3300">
                  <a:solidFill>
                    <a:srgbClr val="FFFFFF"/>
                  </a:solidFill>
                  <a:latin typeface="Georgia" panose="02040502050405020303"/>
                  <a:ea typeface="Georgia" panose="02040502050405020303"/>
                  <a:cs typeface="Georgia" panose="02040502050405020303"/>
                  <a:sym typeface="Georgia" panose="02040502050405020303"/>
                </a:rPr>
                <a:t>06</a:t>
              </a:r>
              <a:endParaRPr lang="en-US" sz="330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78" name="Group 78"/>
          <p:cNvGrpSpPr/>
          <p:nvPr/>
        </p:nvGrpSpPr>
        <p:grpSpPr>
          <a:xfrm>
            <a:off x="13835490" y="6904311"/>
            <a:ext cx="3663028" cy="769162"/>
            <a:chOff x="0" y="0"/>
            <a:chExt cx="4884037" cy="1025550"/>
          </a:xfrm>
        </p:grpSpPr>
        <p:sp>
          <p:nvSpPr>
            <p:cNvPr id="79" name="Freeform 79"/>
            <p:cNvSpPr/>
            <p:nvPr/>
          </p:nvSpPr>
          <p:spPr>
            <a:xfrm>
              <a:off x="0" y="0"/>
              <a:ext cx="4884040" cy="1025538"/>
            </a:xfrm>
            <a:custGeom>
              <a:avLst/>
              <a:gdLst/>
              <a:ahLst/>
              <a:cxnLst/>
              <a:rect l="l" t="t" r="r" b="b"/>
              <a:pathLst>
                <a:path w="4884040" h="1025538">
                  <a:moveTo>
                    <a:pt x="0" y="0"/>
                  </a:moveTo>
                  <a:lnTo>
                    <a:pt x="4884040" y="0"/>
                  </a:lnTo>
                  <a:lnTo>
                    <a:pt x="4884040" y="1025538"/>
                  </a:lnTo>
                  <a:lnTo>
                    <a:pt x="0" y="1025538"/>
                  </a:lnTo>
                  <a:close/>
                </a:path>
              </a:pathLst>
            </a:custGeom>
            <a:blipFill>
              <a:blip r:embed="rId1">
                <a:alphaModFix amt="0"/>
              </a:blip>
              <a:stretch>
                <a:fillRect t="-72381" r="-4926" b="-22352"/>
              </a:stretch>
            </a:blipFill>
          </p:spPr>
        </p:sp>
        <p:sp>
          <p:nvSpPr>
            <p:cNvPr id="80" name="TextBox 80"/>
            <p:cNvSpPr txBox="1"/>
            <p:nvPr/>
          </p:nvSpPr>
          <p:spPr>
            <a:xfrm>
              <a:off x="0" y="0"/>
              <a:ext cx="4884037" cy="1025550"/>
            </a:xfrm>
            <a:prstGeom prst="rect">
              <a:avLst/>
            </a:prstGeom>
          </p:spPr>
          <p:txBody>
            <a:bodyPr lIns="0" tIns="0" rIns="0" bIns="0" rtlCol="0" anchor="ctr"/>
            <a:lstStyle/>
            <a:p>
              <a:pPr algn="l">
                <a:lnSpc>
                  <a:spcPts val="2700"/>
                </a:lnSpc>
              </a:pPr>
              <a:r>
                <a:rPr lang="en-US" sz="2250" b="1">
                  <a:solidFill>
                    <a:srgbClr val="FFFFFF"/>
                  </a:solidFill>
                  <a:latin typeface="Aptos Bold" panose="020B0004020202020204"/>
                  <a:ea typeface="Aptos Bold" panose="020B0004020202020204"/>
                  <a:cs typeface="Aptos Bold" panose="020B0004020202020204"/>
                  <a:sym typeface="Aptos Bold" panose="020B0004020202020204"/>
                </a:rPr>
                <a:t>Removed broken key records</a:t>
              </a:r>
              <a:endParaRPr lang="en-US" sz="22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81" name="Group 81"/>
          <p:cNvGrpSpPr/>
          <p:nvPr/>
        </p:nvGrpSpPr>
        <p:grpSpPr>
          <a:xfrm>
            <a:off x="13835490" y="7645785"/>
            <a:ext cx="3663028" cy="1180498"/>
            <a:chOff x="0" y="0"/>
            <a:chExt cx="4884037" cy="1573998"/>
          </a:xfrm>
        </p:grpSpPr>
        <p:sp>
          <p:nvSpPr>
            <p:cNvPr id="82" name="Freeform 82"/>
            <p:cNvSpPr/>
            <p:nvPr/>
          </p:nvSpPr>
          <p:spPr>
            <a:xfrm>
              <a:off x="0" y="0"/>
              <a:ext cx="4884040" cy="1573995"/>
            </a:xfrm>
            <a:custGeom>
              <a:avLst/>
              <a:gdLst/>
              <a:ahLst/>
              <a:cxnLst/>
              <a:rect l="l" t="t" r="r" b="b"/>
              <a:pathLst>
                <a:path w="4884040" h="1573995">
                  <a:moveTo>
                    <a:pt x="0" y="0"/>
                  </a:moveTo>
                  <a:lnTo>
                    <a:pt x="4884040" y="0"/>
                  </a:lnTo>
                  <a:lnTo>
                    <a:pt x="4884040" y="1573995"/>
                  </a:lnTo>
                  <a:lnTo>
                    <a:pt x="0" y="1573995"/>
                  </a:lnTo>
                  <a:close/>
                </a:path>
              </a:pathLst>
            </a:custGeom>
            <a:blipFill>
              <a:blip r:embed="rId1">
                <a:alphaModFix amt="0"/>
              </a:blip>
              <a:stretch>
                <a:fillRect t="-13439" r="-4926" b="-13439"/>
              </a:stretch>
            </a:blipFill>
          </p:spPr>
        </p:sp>
        <p:sp>
          <p:nvSpPr>
            <p:cNvPr id="83" name="TextBox 83"/>
            <p:cNvSpPr txBox="1"/>
            <p:nvPr/>
          </p:nvSpPr>
          <p:spPr>
            <a:xfrm>
              <a:off x="0" y="0"/>
              <a:ext cx="4884037" cy="1573998"/>
            </a:xfrm>
            <a:prstGeom prst="rect">
              <a:avLst/>
            </a:prstGeom>
          </p:spPr>
          <p:txBody>
            <a:bodyPr lIns="0" tIns="0" rIns="0" bIns="0" rtlCol="0" anchor="ctr"/>
            <a:lstStyle/>
            <a:p>
              <a:pPr algn="l">
                <a:lnSpc>
                  <a:spcPts val="2070"/>
                </a:lnSpc>
              </a:pPr>
              <a:r>
                <a:rPr lang="en-US" sz="1725">
                  <a:solidFill>
                    <a:srgbClr val="FFFFFF"/>
                  </a:solidFill>
                  <a:latin typeface="Aptos"/>
                  <a:ea typeface="Aptos"/>
                  <a:cs typeface="Aptos"/>
                  <a:sym typeface="Aptos"/>
                </a:rPr>
                <a:t>Rows without order_item_id or product_id were removed because they cannot be used for item-level analysis.</a:t>
              </a:r>
              <a:endParaRPr lang="en-US" sz="1725">
                <a:solidFill>
                  <a:srgbClr val="FFFFFF"/>
                </a:solidFill>
                <a:latin typeface="Aptos"/>
                <a:ea typeface="Aptos"/>
                <a:cs typeface="Aptos"/>
                <a:sym typeface="Aptos"/>
              </a:endParaRPr>
            </a:p>
          </p:txBody>
        </p:sp>
      </p:grpSp>
      <p:grpSp>
        <p:nvGrpSpPr>
          <p:cNvPr id="84" name="Group 84"/>
          <p:cNvGrpSpPr/>
          <p:nvPr/>
        </p:nvGrpSpPr>
        <p:grpSpPr>
          <a:xfrm>
            <a:off x="924111" y="1186442"/>
            <a:ext cx="1553688" cy="1270637"/>
            <a:chOff x="0" y="0"/>
            <a:chExt cx="543719" cy="444664"/>
          </a:xfrm>
        </p:grpSpPr>
        <p:sp>
          <p:nvSpPr>
            <p:cNvPr id="85" name="Freeform 85"/>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2"/>
              <a:stretch>
                <a:fillRect l="-4521" r="-4521"/>
              </a:stretch>
            </a:blipFill>
          </p:spPr>
        </p:sp>
      </p:grpSp>
      <p:grpSp>
        <p:nvGrpSpPr>
          <p:cNvPr id="86" name="Group 86"/>
          <p:cNvGrpSpPr/>
          <p:nvPr/>
        </p:nvGrpSpPr>
        <p:grpSpPr>
          <a:xfrm>
            <a:off x="380846" y="6762070"/>
            <a:ext cx="2661221" cy="2187372"/>
            <a:chOff x="0" y="0"/>
            <a:chExt cx="636801" cy="523414"/>
          </a:xfrm>
        </p:grpSpPr>
        <p:sp>
          <p:nvSpPr>
            <p:cNvPr id="87" name="Freeform 87"/>
            <p:cNvSpPr/>
            <p:nvPr/>
          </p:nvSpPr>
          <p:spPr>
            <a:xfrm>
              <a:off x="0" y="0"/>
              <a:ext cx="636801" cy="523414"/>
            </a:xfrm>
            <a:custGeom>
              <a:avLst/>
              <a:gdLst/>
              <a:ahLst/>
              <a:cxnLst/>
              <a:rect l="l" t="t" r="r" b="b"/>
              <a:pathLst>
                <a:path w="636801" h="523414">
                  <a:moveTo>
                    <a:pt x="66911" y="0"/>
                  </a:moveTo>
                  <a:lnTo>
                    <a:pt x="569890" y="0"/>
                  </a:lnTo>
                  <a:cubicBezTo>
                    <a:pt x="587636" y="0"/>
                    <a:pt x="604655" y="7050"/>
                    <a:pt x="617203" y="19598"/>
                  </a:cubicBezTo>
                  <a:cubicBezTo>
                    <a:pt x="629751" y="32146"/>
                    <a:pt x="636801" y="49165"/>
                    <a:pt x="636801" y="66911"/>
                  </a:cubicBezTo>
                  <a:lnTo>
                    <a:pt x="636801" y="456503"/>
                  </a:lnTo>
                  <a:cubicBezTo>
                    <a:pt x="636801" y="474249"/>
                    <a:pt x="629751" y="491268"/>
                    <a:pt x="617203" y="503816"/>
                  </a:cubicBezTo>
                  <a:cubicBezTo>
                    <a:pt x="604655" y="516365"/>
                    <a:pt x="587636" y="523414"/>
                    <a:pt x="569890" y="523414"/>
                  </a:cubicBezTo>
                  <a:lnTo>
                    <a:pt x="66911" y="523414"/>
                  </a:lnTo>
                  <a:cubicBezTo>
                    <a:pt x="49165" y="523414"/>
                    <a:pt x="32146" y="516365"/>
                    <a:pt x="19598" y="503816"/>
                  </a:cubicBezTo>
                  <a:cubicBezTo>
                    <a:pt x="7050" y="491268"/>
                    <a:pt x="0" y="474249"/>
                    <a:pt x="0" y="456503"/>
                  </a:cubicBezTo>
                  <a:lnTo>
                    <a:pt x="0" y="66911"/>
                  </a:lnTo>
                  <a:cubicBezTo>
                    <a:pt x="0" y="49165"/>
                    <a:pt x="7050" y="32146"/>
                    <a:pt x="19598" y="19598"/>
                  </a:cubicBezTo>
                  <a:cubicBezTo>
                    <a:pt x="32146" y="7050"/>
                    <a:pt x="49165" y="0"/>
                    <a:pt x="66911" y="0"/>
                  </a:cubicBezTo>
                  <a:close/>
                </a:path>
              </a:pathLst>
            </a:custGeom>
            <a:blipFill>
              <a:blip r:embed="rId3"/>
              <a:stretch>
                <a:fillRect t="-531" b="-16387"/>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9535" y="-9535"/>
            <a:ext cx="18320909" cy="10314108"/>
            <a:chOff x="0" y="0"/>
            <a:chExt cx="24427878" cy="13752144"/>
          </a:xfrm>
        </p:grpSpPr>
        <p:sp>
          <p:nvSpPr>
            <p:cNvPr id="3" name="Freeform 3"/>
            <p:cNvSpPr/>
            <p:nvPr/>
          </p:nvSpPr>
          <p:spPr>
            <a:xfrm>
              <a:off x="0" y="0"/>
              <a:ext cx="24427814" cy="13752195"/>
            </a:xfrm>
            <a:custGeom>
              <a:avLst/>
              <a:gdLst/>
              <a:ahLst/>
              <a:cxnLst/>
              <a:rect l="l" t="t" r="r" b="b"/>
              <a:pathLst>
                <a:path w="24427814" h="13752195">
                  <a:moveTo>
                    <a:pt x="0" y="0"/>
                  </a:moveTo>
                  <a:lnTo>
                    <a:pt x="24427814" y="0"/>
                  </a:lnTo>
                  <a:lnTo>
                    <a:pt x="24427814" y="13752195"/>
                  </a:lnTo>
                  <a:lnTo>
                    <a:pt x="0" y="13752195"/>
                  </a:lnTo>
                  <a:close/>
                </a:path>
              </a:pathLst>
            </a:custGeom>
            <a:solidFill>
              <a:srgbClr val="3B1368"/>
            </a:solidFill>
            <a:ln w="19065" cap="sq">
              <a:solidFill>
                <a:srgbClr val="3B1368"/>
              </a:solidFill>
              <a:prstDash val="solid"/>
              <a:miter/>
            </a:ln>
          </p:spPr>
        </p:sp>
      </p:grpSp>
      <p:grpSp>
        <p:nvGrpSpPr>
          <p:cNvPr id="4" name="Group 4"/>
          <p:cNvGrpSpPr/>
          <p:nvPr/>
        </p:nvGrpSpPr>
        <p:grpSpPr>
          <a:xfrm>
            <a:off x="-9535" y="-9535"/>
            <a:ext cx="3777883" cy="10314108"/>
            <a:chOff x="0" y="0"/>
            <a:chExt cx="5037178" cy="13752144"/>
          </a:xfrm>
        </p:grpSpPr>
        <p:sp>
          <p:nvSpPr>
            <p:cNvPr id="5" name="Freeform 5"/>
            <p:cNvSpPr/>
            <p:nvPr/>
          </p:nvSpPr>
          <p:spPr>
            <a:xfrm>
              <a:off x="0" y="0"/>
              <a:ext cx="5037144" cy="13752195"/>
            </a:xfrm>
            <a:custGeom>
              <a:avLst/>
              <a:gdLst/>
              <a:ahLst/>
              <a:cxnLst/>
              <a:rect l="l" t="t" r="r" b="b"/>
              <a:pathLst>
                <a:path w="5037144" h="13752195">
                  <a:moveTo>
                    <a:pt x="0" y="0"/>
                  </a:moveTo>
                  <a:lnTo>
                    <a:pt x="5037144" y="0"/>
                  </a:lnTo>
                  <a:lnTo>
                    <a:pt x="5037144" y="13752195"/>
                  </a:lnTo>
                  <a:lnTo>
                    <a:pt x="0" y="13752195"/>
                  </a:lnTo>
                  <a:close/>
                </a:path>
              </a:pathLst>
            </a:custGeom>
            <a:solidFill>
              <a:srgbClr val="BFC6F8"/>
            </a:solidFill>
            <a:ln w="19065" cap="sq">
              <a:solidFill>
                <a:srgbClr val="BFC6F8"/>
              </a:solidFill>
              <a:prstDash val="solid"/>
              <a:miter/>
            </a:ln>
          </p:spPr>
        </p:sp>
      </p:grpSp>
      <p:grpSp>
        <p:nvGrpSpPr>
          <p:cNvPr id="6" name="Group 6"/>
          <p:cNvGrpSpPr/>
          <p:nvPr/>
        </p:nvGrpSpPr>
        <p:grpSpPr>
          <a:xfrm>
            <a:off x="4451530" y="9636157"/>
            <a:ext cx="3157147" cy="411804"/>
            <a:chOff x="0" y="0"/>
            <a:chExt cx="4209529" cy="549072"/>
          </a:xfrm>
        </p:grpSpPr>
        <p:sp>
          <p:nvSpPr>
            <p:cNvPr id="7" name="Freeform 7"/>
            <p:cNvSpPr/>
            <p:nvPr/>
          </p:nvSpPr>
          <p:spPr>
            <a:xfrm>
              <a:off x="0" y="0"/>
              <a:ext cx="4209529" cy="549069"/>
            </a:xfrm>
            <a:custGeom>
              <a:avLst/>
              <a:gdLst/>
              <a:ahLst/>
              <a:cxnLst/>
              <a:rect l="l" t="t" r="r" b="b"/>
              <a:pathLst>
                <a:path w="4209529" h="549069">
                  <a:moveTo>
                    <a:pt x="0" y="0"/>
                  </a:moveTo>
                  <a:lnTo>
                    <a:pt x="4209529" y="0"/>
                  </a:lnTo>
                  <a:lnTo>
                    <a:pt x="4209529" y="549069"/>
                  </a:lnTo>
                  <a:lnTo>
                    <a:pt x="0" y="549069"/>
                  </a:lnTo>
                  <a:close/>
                </a:path>
              </a:pathLst>
            </a:custGeom>
            <a:blipFill>
              <a:blip r:embed="rId1">
                <a:alphaModFix amt="0"/>
              </a:blip>
              <a:stretch>
                <a:fillRect t="-99385" b="-99385"/>
              </a:stretch>
            </a:blipFill>
          </p:spPr>
        </p:sp>
        <p:sp>
          <p:nvSpPr>
            <p:cNvPr id="8" name="TextBox 8"/>
            <p:cNvSpPr txBox="1"/>
            <p:nvPr/>
          </p:nvSpPr>
          <p:spPr>
            <a:xfrm>
              <a:off x="0" y="0"/>
              <a:ext cx="4209529" cy="549072"/>
            </a:xfrm>
            <a:prstGeom prst="rect">
              <a:avLst/>
            </a:prstGeom>
          </p:spPr>
          <p:txBody>
            <a:bodyPr lIns="0" tIns="0" rIns="0" bIns="0" rtlCol="0" anchor="ctr"/>
            <a:lstStyle/>
            <a:p>
              <a:pPr algn="l">
                <a:lnSpc>
                  <a:spcPts val="3240"/>
                </a:lnSpc>
              </a:pPr>
              <a:r>
                <a:rPr lang="en-US" sz="2700">
                  <a:solidFill>
                    <a:srgbClr val="FFFFFF"/>
                  </a:solidFill>
                  <a:latin typeface="Aptos"/>
                  <a:ea typeface="Aptos"/>
                  <a:cs typeface="Aptos"/>
                  <a:sym typeface="Aptos"/>
                </a:rPr>
                <a:t>Milestone 1</a:t>
              </a:r>
              <a:endParaRPr lang="en-US" sz="2700">
                <a:solidFill>
                  <a:srgbClr val="FFFFFF"/>
                </a:solidFill>
                <a:latin typeface="Aptos"/>
                <a:ea typeface="Aptos"/>
                <a:cs typeface="Aptos"/>
                <a:sym typeface="Aptos"/>
              </a:endParaRPr>
            </a:p>
          </p:txBody>
        </p:sp>
      </p:grpSp>
      <p:grpSp>
        <p:nvGrpSpPr>
          <p:cNvPr id="9" name="Group 9"/>
          <p:cNvGrpSpPr/>
          <p:nvPr/>
        </p:nvGrpSpPr>
        <p:grpSpPr>
          <a:xfrm>
            <a:off x="16266166" y="9636157"/>
            <a:ext cx="1441304" cy="411804"/>
            <a:chOff x="0" y="0"/>
            <a:chExt cx="1921739" cy="549072"/>
          </a:xfrm>
        </p:grpSpPr>
        <p:sp>
          <p:nvSpPr>
            <p:cNvPr id="10" name="Freeform 10"/>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1">
                <a:alphaModFix amt="0"/>
              </a:blip>
              <a:stretch>
                <a:fillRect t="-18197" b="-18197"/>
              </a:stretch>
            </a:blipFill>
          </p:spPr>
        </p:sp>
        <p:sp>
          <p:nvSpPr>
            <p:cNvPr id="11" name="TextBox 11"/>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a:t>
              </a:r>
              <a:r>
                <a:rPr lang="en-IN" altLang="en-US" sz="2100">
                  <a:solidFill>
                    <a:srgbClr val="FFFFFF"/>
                  </a:solidFill>
                  <a:latin typeface="Aptos"/>
                  <a:ea typeface="Aptos"/>
                  <a:cs typeface="Aptos"/>
                  <a:sym typeface="Aptos"/>
                </a:rPr>
                <a:t>6</a:t>
              </a:r>
              <a:endParaRPr lang="en-IN" altLang="en-US" sz="2100">
                <a:solidFill>
                  <a:srgbClr val="FFFFFF"/>
                </a:solidFill>
                <a:latin typeface="Aptos"/>
                <a:ea typeface="Aptos"/>
                <a:cs typeface="Aptos"/>
                <a:sym typeface="Aptos"/>
              </a:endParaRPr>
            </a:p>
          </p:txBody>
        </p:sp>
      </p:grpSp>
      <p:grpSp>
        <p:nvGrpSpPr>
          <p:cNvPr id="12" name="Group 12"/>
          <p:cNvGrpSpPr/>
          <p:nvPr/>
        </p:nvGrpSpPr>
        <p:grpSpPr>
          <a:xfrm>
            <a:off x="4410353" y="754971"/>
            <a:ext cx="13726725" cy="823608"/>
            <a:chOff x="0" y="0"/>
            <a:chExt cx="18302300" cy="1098144"/>
          </a:xfrm>
        </p:grpSpPr>
        <p:sp>
          <p:nvSpPr>
            <p:cNvPr id="13" name="Freeform 13"/>
            <p:cNvSpPr/>
            <p:nvPr/>
          </p:nvSpPr>
          <p:spPr>
            <a:xfrm>
              <a:off x="0" y="0"/>
              <a:ext cx="18302298" cy="1098138"/>
            </a:xfrm>
            <a:custGeom>
              <a:avLst/>
              <a:gdLst/>
              <a:ahLst/>
              <a:cxnLst/>
              <a:rect l="l" t="t" r="r" b="b"/>
              <a:pathLst>
                <a:path w="18302298" h="1098138">
                  <a:moveTo>
                    <a:pt x="0" y="0"/>
                  </a:moveTo>
                  <a:lnTo>
                    <a:pt x="18302298" y="0"/>
                  </a:lnTo>
                  <a:lnTo>
                    <a:pt x="18302298" y="1098138"/>
                  </a:lnTo>
                  <a:lnTo>
                    <a:pt x="0" y="1098138"/>
                  </a:lnTo>
                  <a:close/>
                </a:path>
              </a:pathLst>
            </a:custGeom>
            <a:blipFill>
              <a:blip r:embed="rId1">
                <a:alphaModFix amt="0"/>
              </a:blip>
              <a:stretch>
                <a:fillRect t="-274750" b="-274750"/>
              </a:stretch>
            </a:blipFill>
          </p:spPr>
        </p:sp>
        <p:sp>
          <p:nvSpPr>
            <p:cNvPr id="14" name="TextBox 14"/>
            <p:cNvSpPr txBox="1"/>
            <p:nvPr/>
          </p:nvSpPr>
          <p:spPr>
            <a:xfrm>
              <a:off x="0" y="-9525"/>
              <a:ext cx="18302300" cy="1107669"/>
            </a:xfrm>
            <a:prstGeom prst="rect">
              <a:avLst/>
            </a:prstGeom>
          </p:spPr>
          <p:txBody>
            <a:bodyPr lIns="0" tIns="0" rIns="0" bIns="0" rtlCol="0" anchor="ctr"/>
            <a:lstStyle/>
            <a:p>
              <a:pPr algn="l">
                <a:lnSpc>
                  <a:spcPts val="6485"/>
                </a:lnSpc>
              </a:pPr>
              <a:r>
                <a:rPr lang="en-US" sz="5405">
                  <a:solidFill>
                    <a:srgbClr val="FFFFFF"/>
                  </a:solidFill>
                  <a:latin typeface="Georgia" panose="02040502050405020303"/>
                  <a:ea typeface="Georgia" panose="02040502050405020303"/>
                  <a:cs typeface="Georgia" panose="02040502050405020303"/>
                  <a:sym typeface="Georgia" panose="02040502050405020303"/>
                </a:rPr>
                <a:t>Date Columns &amp; Delivery Feature</a:t>
              </a:r>
              <a:endParaRPr lang="en-US" sz="54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15" name="Group 15"/>
          <p:cNvGrpSpPr/>
          <p:nvPr/>
        </p:nvGrpSpPr>
        <p:grpSpPr>
          <a:xfrm>
            <a:off x="4451530" y="1990373"/>
            <a:ext cx="12903117" cy="466706"/>
            <a:chOff x="0" y="0"/>
            <a:chExt cx="17204157" cy="622275"/>
          </a:xfrm>
        </p:grpSpPr>
        <p:sp>
          <p:nvSpPr>
            <p:cNvPr id="16" name="Freeform 16"/>
            <p:cNvSpPr/>
            <p:nvPr/>
          </p:nvSpPr>
          <p:spPr>
            <a:xfrm>
              <a:off x="0" y="0"/>
              <a:ext cx="17204161" cy="622278"/>
            </a:xfrm>
            <a:custGeom>
              <a:avLst/>
              <a:gdLst/>
              <a:ahLst/>
              <a:cxnLst/>
              <a:rect l="l" t="t" r="r" b="b"/>
              <a:pathLst>
                <a:path w="17204161" h="622278">
                  <a:moveTo>
                    <a:pt x="0" y="0"/>
                  </a:moveTo>
                  <a:lnTo>
                    <a:pt x="17204161" y="0"/>
                  </a:lnTo>
                  <a:lnTo>
                    <a:pt x="17204161" y="622278"/>
                  </a:lnTo>
                  <a:lnTo>
                    <a:pt x="0" y="622278"/>
                  </a:lnTo>
                  <a:close/>
                </a:path>
              </a:pathLst>
            </a:custGeom>
            <a:blipFill>
              <a:blip r:embed="rId1">
                <a:alphaModFix amt="0"/>
              </a:blip>
              <a:stretch>
                <a:fillRect t="-488704" b="-488703"/>
              </a:stretch>
            </a:blipFill>
          </p:spPr>
        </p:sp>
        <p:sp>
          <p:nvSpPr>
            <p:cNvPr id="17" name="TextBox 17"/>
            <p:cNvSpPr txBox="1"/>
            <p:nvPr/>
          </p:nvSpPr>
          <p:spPr>
            <a:xfrm>
              <a:off x="0" y="0"/>
              <a:ext cx="17204157" cy="622275"/>
            </a:xfrm>
            <a:prstGeom prst="rect">
              <a:avLst/>
            </a:prstGeom>
          </p:spPr>
          <p:txBody>
            <a:bodyPr lIns="0" tIns="0" rIns="0" bIns="0" rtlCol="0" anchor="ctr"/>
            <a:lstStyle/>
            <a:p>
              <a:pPr algn="l">
                <a:lnSpc>
                  <a:spcPts val="3060"/>
                </a:lnSpc>
              </a:pPr>
              <a:r>
                <a:rPr lang="en-US" sz="2550">
                  <a:solidFill>
                    <a:srgbClr val="D9D7F2"/>
                  </a:solidFill>
                  <a:latin typeface="Aptos"/>
                  <a:ea typeface="Aptos"/>
                  <a:cs typeface="Aptos"/>
                  <a:sym typeface="Aptos"/>
                </a:rPr>
                <a:t>Delivery dates are central to supply-chain visibility and delay analysis.</a:t>
              </a:r>
              <a:endParaRPr lang="en-US" sz="2550">
                <a:solidFill>
                  <a:srgbClr val="D9D7F2"/>
                </a:solidFill>
                <a:latin typeface="Aptos"/>
                <a:ea typeface="Aptos"/>
                <a:cs typeface="Aptos"/>
                <a:sym typeface="Aptos"/>
              </a:endParaRPr>
            </a:p>
          </p:txBody>
        </p:sp>
      </p:grpSp>
      <p:grpSp>
        <p:nvGrpSpPr>
          <p:cNvPr id="18" name="Group 18"/>
          <p:cNvGrpSpPr/>
          <p:nvPr/>
        </p:nvGrpSpPr>
        <p:grpSpPr>
          <a:xfrm>
            <a:off x="4396999" y="2731999"/>
            <a:ext cx="13341610" cy="3046571"/>
            <a:chOff x="0" y="0"/>
            <a:chExt cx="17788814" cy="4062095"/>
          </a:xfrm>
        </p:grpSpPr>
        <p:sp>
          <p:nvSpPr>
            <p:cNvPr id="19" name="Freeform 19"/>
            <p:cNvSpPr/>
            <p:nvPr/>
          </p:nvSpPr>
          <p:spPr>
            <a:xfrm>
              <a:off x="0" y="0"/>
              <a:ext cx="17788889" cy="4062095"/>
            </a:xfrm>
            <a:custGeom>
              <a:avLst/>
              <a:gdLst/>
              <a:ahLst/>
              <a:cxnLst/>
              <a:rect l="l" t="t" r="r" b="b"/>
              <a:pathLst>
                <a:path w="17788889" h="4062095">
                  <a:moveTo>
                    <a:pt x="0" y="166243"/>
                  </a:moveTo>
                  <a:cubicBezTo>
                    <a:pt x="0" y="74422"/>
                    <a:pt x="74422" y="0"/>
                    <a:pt x="166243" y="0"/>
                  </a:cubicBezTo>
                  <a:lnTo>
                    <a:pt x="17622647" y="0"/>
                  </a:lnTo>
                  <a:cubicBezTo>
                    <a:pt x="17714468" y="0"/>
                    <a:pt x="17788889" y="74422"/>
                    <a:pt x="17788889" y="166243"/>
                  </a:cubicBezTo>
                  <a:lnTo>
                    <a:pt x="17788889" y="3895852"/>
                  </a:lnTo>
                  <a:cubicBezTo>
                    <a:pt x="17788889" y="3987673"/>
                    <a:pt x="17714468" y="4062095"/>
                    <a:pt x="17622647" y="4062095"/>
                  </a:cubicBezTo>
                  <a:lnTo>
                    <a:pt x="166243" y="4062095"/>
                  </a:lnTo>
                  <a:cubicBezTo>
                    <a:pt x="74422" y="4062095"/>
                    <a:pt x="0" y="3987673"/>
                    <a:pt x="0" y="3895852"/>
                  </a:cubicBezTo>
                  <a:close/>
                </a:path>
              </a:pathLst>
            </a:custGeom>
            <a:solidFill>
              <a:srgbClr val="7356B4"/>
            </a:solidFill>
            <a:ln w="26691" cap="sq">
              <a:solidFill>
                <a:srgbClr val="1B0E2C"/>
              </a:solidFill>
              <a:prstDash val="solid"/>
              <a:miter/>
            </a:ln>
          </p:spPr>
        </p:sp>
      </p:grpSp>
      <p:grpSp>
        <p:nvGrpSpPr>
          <p:cNvPr id="20" name="Group 20"/>
          <p:cNvGrpSpPr/>
          <p:nvPr/>
        </p:nvGrpSpPr>
        <p:grpSpPr>
          <a:xfrm>
            <a:off x="6448379" y="3959781"/>
            <a:ext cx="1620517" cy="41939"/>
            <a:chOff x="0" y="0"/>
            <a:chExt cx="2160689" cy="55918"/>
          </a:xfrm>
        </p:grpSpPr>
        <p:sp>
          <p:nvSpPr>
            <p:cNvPr id="21" name="Freeform 21"/>
            <p:cNvSpPr/>
            <p:nvPr/>
          </p:nvSpPr>
          <p:spPr>
            <a:xfrm>
              <a:off x="0" y="0"/>
              <a:ext cx="2160651" cy="55880"/>
            </a:xfrm>
            <a:custGeom>
              <a:avLst/>
              <a:gdLst/>
              <a:ahLst/>
              <a:cxnLst/>
              <a:rect l="l" t="t" r="r" b="b"/>
              <a:pathLst>
                <a:path w="2160651" h="55880">
                  <a:moveTo>
                    <a:pt x="0" y="0"/>
                  </a:moveTo>
                  <a:lnTo>
                    <a:pt x="2160651" y="55880"/>
                  </a:lnTo>
                </a:path>
              </a:pathLst>
            </a:custGeom>
            <a:blipFill>
              <a:blip r:embed="rId1"/>
              <a:stretch>
                <a:fillRect t="-703385" r="-1" b="-703454"/>
              </a:stretch>
            </a:blipFill>
            <a:ln w="47625" cap="sq">
              <a:solidFill>
                <a:srgbClr val="3B1368"/>
              </a:solidFill>
              <a:prstDash val="solid"/>
              <a:miter/>
            </a:ln>
          </p:spPr>
        </p:sp>
      </p:grpSp>
      <p:grpSp>
        <p:nvGrpSpPr>
          <p:cNvPr id="22" name="Group 22"/>
          <p:cNvGrpSpPr/>
          <p:nvPr/>
        </p:nvGrpSpPr>
        <p:grpSpPr>
          <a:xfrm>
            <a:off x="8987820" y="3959781"/>
            <a:ext cx="1620517" cy="41939"/>
            <a:chOff x="0" y="0"/>
            <a:chExt cx="2160689" cy="55918"/>
          </a:xfrm>
        </p:grpSpPr>
        <p:sp>
          <p:nvSpPr>
            <p:cNvPr id="23" name="Freeform 23"/>
            <p:cNvSpPr/>
            <p:nvPr/>
          </p:nvSpPr>
          <p:spPr>
            <a:xfrm>
              <a:off x="0" y="0"/>
              <a:ext cx="2160651" cy="55880"/>
            </a:xfrm>
            <a:custGeom>
              <a:avLst/>
              <a:gdLst/>
              <a:ahLst/>
              <a:cxnLst/>
              <a:rect l="l" t="t" r="r" b="b"/>
              <a:pathLst>
                <a:path w="2160651" h="55880">
                  <a:moveTo>
                    <a:pt x="0" y="0"/>
                  </a:moveTo>
                  <a:lnTo>
                    <a:pt x="2160651" y="55880"/>
                  </a:lnTo>
                </a:path>
              </a:pathLst>
            </a:custGeom>
            <a:blipFill>
              <a:blip r:embed="rId1"/>
              <a:stretch>
                <a:fillRect t="-703385" r="-1" b="-703454"/>
              </a:stretch>
            </a:blipFill>
            <a:ln w="47625" cap="sq">
              <a:solidFill>
                <a:srgbClr val="3B1368"/>
              </a:solidFill>
              <a:prstDash val="solid"/>
              <a:miter/>
            </a:ln>
          </p:spPr>
        </p:sp>
      </p:grpSp>
      <p:grpSp>
        <p:nvGrpSpPr>
          <p:cNvPr id="24" name="Group 24"/>
          <p:cNvGrpSpPr/>
          <p:nvPr/>
        </p:nvGrpSpPr>
        <p:grpSpPr>
          <a:xfrm>
            <a:off x="11527262" y="3959781"/>
            <a:ext cx="1620517" cy="41939"/>
            <a:chOff x="0" y="0"/>
            <a:chExt cx="2160689" cy="55918"/>
          </a:xfrm>
        </p:grpSpPr>
        <p:sp>
          <p:nvSpPr>
            <p:cNvPr id="25" name="Freeform 25"/>
            <p:cNvSpPr/>
            <p:nvPr/>
          </p:nvSpPr>
          <p:spPr>
            <a:xfrm>
              <a:off x="0" y="0"/>
              <a:ext cx="2160651" cy="55880"/>
            </a:xfrm>
            <a:custGeom>
              <a:avLst/>
              <a:gdLst/>
              <a:ahLst/>
              <a:cxnLst/>
              <a:rect l="l" t="t" r="r" b="b"/>
              <a:pathLst>
                <a:path w="2160651" h="55880">
                  <a:moveTo>
                    <a:pt x="0" y="0"/>
                  </a:moveTo>
                  <a:lnTo>
                    <a:pt x="2160651" y="55880"/>
                  </a:lnTo>
                </a:path>
              </a:pathLst>
            </a:custGeom>
            <a:blipFill>
              <a:blip r:embed="rId1"/>
              <a:stretch>
                <a:fillRect t="-703385" r="-1" b="-703454"/>
              </a:stretch>
            </a:blipFill>
            <a:ln w="47625" cap="sq">
              <a:solidFill>
                <a:srgbClr val="3B1368"/>
              </a:solidFill>
              <a:prstDash val="solid"/>
              <a:miter/>
            </a:ln>
          </p:spPr>
        </p:sp>
      </p:grpSp>
      <p:grpSp>
        <p:nvGrpSpPr>
          <p:cNvPr id="26" name="Group 26"/>
          <p:cNvGrpSpPr/>
          <p:nvPr/>
        </p:nvGrpSpPr>
        <p:grpSpPr>
          <a:xfrm>
            <a:off x="14066712" y="3959781"/>
            <a:ext cx="1620517" cy="41939"/>
            <a:chOff x="0" y="0"/>
            <a:chExt cx="2160689" cy="55918"/>
          </a:xfrm>
        </p:grpSpPr>
        <p:sp>
          <p:nvSpPr>
            <p:cNvPr id="27" name="Freeform 27"/>
            <p:cNvSpPr/>
            <p:nvPr/>
          </p:nvSpPr>
          <p:spPr>
            <a:xfrm>
              <a:off x="0" y="0"/>
              <a:ext cx="2160651" cy="55880"/>
            </a:xfrm>
            <a:custGeom>
              <a:avLst/>
              <a:gdLst/>
              <a:ahLst/>
              <a:cxnLst/>
              <a:rect l="l" t="t" r="r" b="b"/>
              <a:pathLst>
                <a:path w="2160651" h="55880">
                  <a:moveTo>
                    <a:pt x="0" y="0"/>
                  </a:moveTo>
                  <a:lnTo>
                    <a:pt x="2160651" y="55880"/>
                  </a:lnTo>
                </a:path>
              </a:pathLst>
            </a:custGeom>
            <a:blipFill>
              <a:blip r:embed="rId1"/>
              <a:stretch>
                <a:fillRect t="-703385" r="-1" b="-703454"/>
              </a:stretch>
            </a:blipFill>
            <a:ln w="47625" cap="sq">
              <a:solidFill>
                <a:srgbClr val="3B1368"/>
              </a:solidFill>
              <a:prstDash val="solid"/>
              <a:miter/>
            </a:ln>
          </p:spPr>
        </p:sp>
      </p:grpSp>
      <p:grpSp>
        <p:nvGrpSpPr>
          <p:cNvPr id="28" name="Group 28"/>
          <p:cNvGrpSpPr/>
          <p:nvPr/>
        </p:nvGrpSpPr>
        <p:grpSpPr>
          <a:xfrm>
            <a:off x="5485221" y="3262880"/>
            <a:ext cx="979932" cy="979932"/>
            <a:chOff x="0" y="0"/>
            <a:chExt cx="1306576" cy="1306576"/>
          </a:xfrm>
        </p:grpSpPr>
        <p:sp>
          <p:nvSpPr>
            <p:cNvPr id="29" name="Freeform 29"/>
            <p:cNvSpPr/>
            <p:nvPr/>
          </p:nvSpPr>
          <p:spPr>
            <a:xfrm>
              <a:off x="0" y="0"/>
              <a:ext cx="1306576" cy="1306576"/>
            </a:xfrm>
            <a:custGeom>
              <a:avLst/>
              <a:gdLst/>
              <a:ahLst/>
              <a:cxnLst/>
              <a:rect l="l" t="t" r="r" b="b"/>
              <a:pathLst>
                <a:path w="1306576" h="1306576">
                  <a:moveTo>
                    <a:pt x="0" y="653288"/>
                  </a:moveTo>
                  <a:cubicBezTo>
                    <a:pt x="0" y="292481"/>
                    <a:pt x="292481" y="0"/>
                    <a:pt x="653288" y="0"/>
                  </a:cubicBezTo>
                  <a:cubicBezTo>
                    <a:pt x="1014095" y="0"/>
                    <a:pt x="1306576" y="292481"/>
                    <a:pt x="1306576" y="653288"/>
                  </a:cubicBezTo>
                  <a:cubicBezTo>
                    <a:pt x="1306576" y="1014095"/>
                    <a:pt x="1014095" y="1306576"/>
                    <a:pt x="653288" y="1306576"/>
                  </a:cubicBezTo>
                  <a:cubicBezTo>
                    <a:pt x="292481" y="1306576"/>
                    <a:pt x="0" y="1014095"/>
                    <a:pt x="0" y="653288"/>
                  </a:cubicBezTo>
                  <a:close/>
                </a:path>
              </a:pathLst>
            </a:custGeom>
            <a:solidFill>
              <a:srgbClr val="829BDC"/>
            </a:solidFill>
            <a:ln w="19065" cap="sq">
              <a:solidFill>
                <a:srgbClr val="FFFFFF"/>
              </a:solidFill>
              <a:prstDash val="solid"/>
              <a:miter/>
            </a:ln>
          </p:spPr>
        </p:sp>
      </p:grpSp>
      <p:grpSp>
        <p:nvGrpSpPr>
          <p:cNvPr id="30" name="Group 30"/>
          <p:cNvGrpSpPr/>
          <p:nvPr/>
        </p:nvGrpSpPr>
        <p:grpSpPr>
          <a:xfrm>
            <a:off x="5741834" y="3519493"/>
            <a:ext cx="466706" cy="474518"/>
            <a:chOff x="0" y="0"/>
            <a:chExt cx="622275" cy="632691"/>
          </a:xfrm>
        </p:grpSpPr>
        <p:sp>
          <p:nvSpPr>
            <p:cNvPr id="31" name="Freeform 31"/>
            <p:cNvSpPr/>
            <p:nvPr/>
          </p:nvSpPr>
          <p:spPr>
            <a:xfrm>
              <a:off x="0" y="0"/>
              <a:ext cx="622278" cy="632691"/>
            </a:xfrm>
            <a:custGeom>
              <a:avLst/>
              <a:gdLst/>
              <a:ahLst/>
              <a:cxnLst/>
              <a:rect l="l" t="t" r="r" b="b"/>
              <a:pathLst>
                <a:path w="622278" h="632691">
                  <a:moveTo>
                    <a:pt x="0" y="0"/>
                  </a:moveTo>
                  <a:lnTo>
                    <a:pt x="622278" y="0"/>
                  </a:lnTo>
                  <a:lnTo>
                    <a:pt x="622278" y="632691"/>
                  </a:lnTo>
                  <a:lnTo>
                    <a:pt x="0" y="632691"/>
                  </a:lnTo>
                  <a:close/>
                </a:path>
              </a:pathLst>
            </a:custGeom>
            <a:blipFill>
              <a:blip r:embed="rId1">
                <a:alphaModFix amt="0"/>
              </a:blip>
              <a:stretch>
                <a:fillRect l="-10378" r="-10377" b="53715"/>
              </a:stretch>
            </a:blipFill>
          </p:spPr>
        </p:sp>
        <p:sp>
          <p:nvSpPr>
            <p:cNvPr id="32" name="TextBox 32"/>
            <p:cNvSpPr txBox="1"/>
            <p:nvPr/>
          </p:nvSpPr>
          <p:spPr>
            <a:xfrm>
              <a:off x="0" y="0"/>
              <a:ext cx="622275" cy="632691"/>
            </a:xfrm>
            <a:prstGeom prst="rect">
              <a:avLst/>
            </a:prstGeom>
          </p:spPr>
          <p:txBody>
            <a:bodyPr lIns="0" tIns="0" rIns="0" bIns="0" rtlCol="0" anchor="ctr"/>
            <a:lstStyle/>
            <a:p>
              <a:pPr algn="ctr">
                <a:lnSpc>
                  <a:spcPts val="3030"/>
                </a:lnSpc>
              </a:pPr>
              <a:r>
                <a:rPr lang="en-US" sz="2525" b="1">
                  <a:solidFill>
                    <a:srgbClr val="FFFFFF"/>
                  </a:solidFill>
                  <a:latin typeface="Aptos Bold" panose="020B0004020202020204"/>
                  <a:ea typeface="Aptos Bold" panose="020B0004020202020204"/>
                  <a:cs typeface="Aptos Bold" panose="020B0004020202020204"/>
                  <a:sym typeface="Aptos Bold" panose="020B0004020202020204"/>
                </a:rPr>
                <a:t>1</a:t>
              </a:r>
              <a:endParaRPr lang="en-US" sz="252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33" name="Group 33"/>
          <p:cNvGrpSpPr/>
          <p:nvPr/>
        </p:nvGrpSpPr>
        <p:grpSpPr>
          <a:xfrm>
            <a:off x="5247667" y="4425463"/>
            <a:ext cx="1482490" cy="301990"/>
            <a:chOff x="0" y="0"/>
            <a:chExt cx="1976653" cy="402654"/>
          </a:xfrm>
        </p:grpSpPr>
        <p:sp>
          <p:nvSpPr>
            <p:cNvPr id="34" name="Freeform 34"/>
            <p:cNvSpPr/>
            <p:nvPr/>
          </p:nvSpPr>
          <p:spPr>
            <a:xfrm>
              <a:off x="0" y="0"/>
              <a:ext cx="1976648" cy="402651"/>
            </a:xfrm>
            <a:custGeom>
              <a:avLst/>
              <a:gdLst/>
              <a:ahLst/>
              <a:cxnLst/>
              <a:rect l="l" t="t" r="r" b="b"/>
              <a:pathLst>
                <a:path w="1976648" h="402651">
                  <a:moveTo>
                    <a:pt x="0" y="0"/>
                  </a:moveTo>
                  <a:lnTo>
                    <a:pt x="1976648" y="0"/>
                  </a:lnTo>
                  <a:lnTo>
                    <a:pt x="1976648" y="402651"/>
                  </a:lnTo>
                  <a:lnTo>
                    <a:pt x="0" y="402651"/>
                  </a:lnTo>
                  <a:close/>
                </a:path>
              </a:pathLst>
            </a:custGeom>
            <a:blipFill>
              <a:blip r:embed="rId1">
                <a:alphaModFix amt="0"/>
              </a:blip>
              <a:stretch>
                <a:fillRect t="-45653" b="-45654"/>
              </a:stretch>
            </a:blipFill>
          </p:spPr>
        </p:sp>
        <p:sp>
          <p:nvSpPr>
            <p:cNvPr id="35" name="TextBox 35"/>
            <p:cNvSpPr txBox="1"/>
            <p:nvPr/>
          </p:nvSpPr>
          <p:spPr>
            <a:xfrm>
              <a:off x="0" y="0"/>
              <a:ext cx="1976653" cy="402654"/>
            </a:xfrm>
            <a:prstGeom prst="rect">
              <a:avLst/>
            </a:prstGeom>
          </p:spPr>
          <p:txBody>
            <a:bodyPr lIns="0" tIns="0" rIns="0" bIns="0" rtlCol="0" anchor="ctr"/>
            <a:lstStyle/>
            <a:p>
              <a:pPr algn="ctr">
                <a:lnSpc>
                  <a:spcPts val="1980"/>
                </a:lnSpc>
              </a:pPr>
              <a:r>
                <a:rPr lang="en-US" sz="1650" b="1">
                  <a:solidFill>
                    <a:srgbClr val="FFFFFF"/>
                  </a:solidFill>
                  <a:latin typeface="Aptos Bold" panose="020B0004020202020204"/>
                  <a:ea typeface="Aptos Bold" panose="020B0004020202020204"/>
                  <a:cs typeface="Aptos Bold" panose="020B0004020202020204"/>
                  <a:sym typeface="Aptos Bold" panose="020B0004020202020204"/>
                </a:rPr>
                <a:t>Purchase</a:t>
              </a:r>
              <a:endParaRPr lang="en-US" sz="16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36" name="Group 36"/>
          <p:cNvGrpSpPr/>
          <p:nvPr/>
        </p:nvGrpSpPr>
        <p:grpSpPr>
          <a:xfrm>
            <a:off x="5247667" y="4754905"/>
            <a:ext cx="1482490" cy="492784"/>
            <a:chOff x="0" y="0"/>
            <a:chExt cx="1976653" cy="657045"/>
          </a:xfrm>
        </p:grpSpPr>
        <p:sp>
          <p:nvSpPr>
            <p:cNvPr id="37" name="Freeform 37"/>
            <p:cNvSpPr/>
            <p:nvPr/>
          </p:nvSpPr>
          <p:spPr>
            <a:xfrm>
              <a:off x="0" y="0"/>
              <a:ext cx="1976648" cy="657040"/>
            </a:xfrm>
            <a:custGeom>
              <a:avLst/>
              <a:gdLst/>
              <a:ahLst/>
              <a:cxnLst/>
              <a:rect l="l" t="t" r="r" b="b"/>
              <a:pathLst>
                <a:path w="1976648" h="657040">
                  <a:moveTo>
                    <a:pt x="0" y="0"/>
                  </a:moveTo>
                  <a:lnTo>
                    <a:pt x="1976648" y="0"/>
                  </a:lnTo>
                  <a:lnTo>
                    <a:pt x="1976648" y="657040"/>
                  </a:lnTo>
                  <a:lnTo>
                    <a:pt x="0" y="657040"/>
                  </a:lnTo>
                  <a:close/>
                </a:path>
              </a:pathLst>
            </a:custGeom>
            <a:blipFill>
              <a:blip r:embed="rId1">
                <a:alphaModFix amt="0"/>
              </a:blip>
              <a:stretch>
                <a:fillRect t="-27977" b="10739"/>
              </a:stretch>
            </a:blipFill>
          </p:spPr>
        </p:sp>
        <p:sp>
          <p:nvSpPr>
            <p:cNvPr id="38" name="TextBox 38"/>
            <p:cNvSpPr txBox="1"/>
            <p:nvPr/>
          </p:nvSpPr>
          <p:spPr>
            <a:xfrm>
              <a:off x="0" y="0"/>
              <a:ext cx="1976653" cy="657045"/>
            </a:xfrm>
            <a:prstGeom prst="rect">
              <a:avLst/>
            </a:prstGeom>
          </p:spPr>
          <p:txBody>
            <a:bodyPr lIns="0" tIns="0" rIns="0" bIns="0" rtlCol="0" anchor="ctr"/>
            <a:lstStyle/>
            <a:p>
              <a:pPr algn="ctr">
                <a:lnSpc>
                  <a:spcPts val="1770"/>
                </a:lnSpc>
              </a:pPr>
              <a:r>
                <a:rPr lang="en-US" sz="1475">
                  <a:solidFill>
                    <a:srgbClr val="D9D7F2"/>
                  </a:solidFill>
                  <a:latin typeface="Aptos"/>
                  <a:ea typeface="Aptos"/>
                  <a:cs typeface="Aptos"/>
                  <a:sym typeface="Aptos"/>
                </a:rPr>
                <a:t>order_purchase_timestamp</a:t>
              </a:r>
              <a:endParaRPr lang="en-US" sz="1475">
                <a:solidFill>
                  <a:srgbClr val="D9D7F2"/>
                </a:solidFill>
                <a:latin typeface="Aptos"/>
                <a:ea typeface="Aptos"/>
                <a:cs typeface="Aptos"/>
                <a:sym typeface="Aptos"/>
              </a:endParaRPr>
            </a:p>
          </p:txBody>
        </p:sp>
      </p:grpSp>
      <p:grpSp>
        <p:nvGrpSpPr>
          <p:cNvPr id="39" name="Group 39"/>
          <p:cNvGrpSpPr/>
          <p:nvPr/>
        </p:nvGrpSpPr>
        <p:grpSpPr>
          <a:xfrm>
            <a:off x="8024657" y="3262880"/>
            <a:ext cx="979932" cy="979932"/>
            <a:chOff x="0" y="0"/>
            <a:chExt cx="1306576" cy="1306576"/>
          </a:xfrm>
        </p:grpSpPr>
        <p:sp>
          <p:nvSpPr>
            <p:cNvPr id="40" name="Freeform 40"/>
            <p:cNvSpPr/>
            <p:nvPr/>
          </p:nvSpPr>
          <p:spPr>
            <a:xfrm>
              <a:off x="0" y="0"/>
              <a:ext cx="1306576" cy="1306576"/>
            </a:xfrm>
            <a:custGeom>
              <a:avLst/>
              <a:gdLst/>
              <a:ahLst/>
              <a:cxnLst/>
              <a:rect l="l" t="t" r="r" b="b"/>
              <a:pathLst>
                <a:path w="1306576" h="1306576">
                  <a:moveTo>
                    <a:pt x="0" y="653288"/>
                  </a:moveTo>
                  <a:cubicBezTo>
                    <a:pt x="0" y="292481"/>
                    <a:pt x="292481" y="0"/>
                    <a:pt x="653288" y="0"/>
                  </a:cubicBezTo>
                  <a:cubicBezTo>
                    <a:pt x="1014095" y="0"/>
                    <a:pt x="1306576" y="292481"/>
                    <a:pt x="1306576" y="653288"/>
                  </a:cubicBezTo>
                  <a:cubicBezTo>
                    <a:pt x="1306576" y="1014095"/>
                    <a:pt x="1014095" y="1306576"/>
                    <a:pt x="653288" y="1306576"/>
                  </a:cubicBezTo>
                  <a:cubicBezTo>
                    <a:pt x="292481" y="1306576"/>
                    <a:pt x="0" y="1014095"/>
                    <a:pt x="0" y="653288"/>
                  </a:cubicBezTo>
                  <a:close/>
                </a:path>
              </a:pathLst>
            </a:custGeom>
            <a:solidFill>
              <a:srgbClr val="829BDC"/>
            </a:solidFill>
            <a:ln w="19065" cap="sq">
              <a:solidFill>
                <a:srgbClr val="FFFFFF"/>
              </a:solidFill>
              <a:prstDash val="solid"/>
              <a:miter/>
            </a:ln>
          </p:spPr>
        </p:sp>
      </p:grpSp>
      <p:grpSp>
        <p:nvGrpSpPr>
          <p:cNvPr id="41" name="Group 41"/>
          <p:cNvGrpSpPr/>
          <p:nvPr/>
        </p:nvGrpSpPr>
        <p:grpSpPr>
          <a:xfrm>
            <a:off x="8281270" y="3519493"/>
            <a:ext cx="466706" cy="474518"/>
            <a:chOff x="0" y="0"/>
            <a:chExt cx="622275" cy="632691"/>
          </a:xfrm>
        </p:grpSpPr>
        <p:sp>
          <p:nvSpPr>
            <p:cNvPr id="42" name="Freeform 42"/>
            <p:cNvSpPr/>
            <p:nvPr/>
          </p:nvSpPr>
          <p:spPr>
            <a:xfrm>
              <a:off x="0" y="0"/>
              <a:ext cx="622278" cy="632691"/>
            </a:xfrm>
            <a:custGeom>
              <a:avLst/>
              <a:gdLst/>
              <a:ahLst/>
              <a:cxnLst/>
              <a:rect l="l" t="t" r="r" b="b"/>
              <a:pathLst>
                <a:path w="622278" h="632691">
                  <a:moveTo>
                    <a:pt x="0" y="0"/>
                  </a:moveTo>
                  <a:lnTo>
                    <a:pt x="622278" y="0"/>
                  </a:lnTo>
                  <a:lnTo>
                    <a:pt x="622278" y="632691"/>
                  </a:lnTo>
                  <a:lnTo>
                    <a:pt x="0" y="632691"/>
                  </a:lnTo>
                  <a:close/>
                </a:path>
              </a:pathLst>
            </a:custGeom>
            <a:blipFill>
              <a:blip r:embed="rId1">
                <a:alphaModFix amt="0"/>
              </a:blip>
              <a:stretch>
                <a:fillRect l="-10378" r="-10377" b="53715"/>
              </a:stretch>
            </a:blipFill>
          </p:spPr>
        </p:sp>
        <p:sp>
          <p:nvSpPr>
            <p:cNvPr id="43" name="TextBox 43"/>
            <p:cNvSpPr txBox="1"/>
            <p:nvPr/>
          </p:nvSpPr>
          <p:spPr>
            <a:xfrm>
              <a:off x="0" y="0"/>
              <a:ext cx="622275" cy="632691"/>
            </a:xfrm>
            <a:prstGeom prst="rect">
              <a:avLst/>
            </a:prstGeom>
          </p:spPr>
          <p:txBody>
            <a:bodyPr lIns="0" tIns="0" rIns="0" bIns="0" rtlCol="0" anchor="ctr"/>
            <a:lstStyle/>
            <a:p>
              <a:pPr algn="ctr">
                <a:lnSpc>
                  <a:spcPts val="3030"/>
                </a:lnSpc>
              </a:pPr>
              <a:r>
                <a:rPr lang="en-US" sz="2525" b="1">
                  <a:solidFill>
                    <a:srgbClr val="FFFFFF"/>
                  </a:solidFill>
                  <a:latin typeface="Aptos Bold" panose="020B0004020202020204"/>
                  <a:ea typeface="Aptos Bold" panose="020B0004020202020204"/>
                  <a:cs typeface="Aptos Bold" panose="020B0004020202020204"/>
                  <a:sym typeface="Aptos Bold" panose="020B0004020202020204"/>
                </a:rPr>
                <a:t>2</a:t>
              </a:r>
              <a:endParaRPr lang="en-US" sz="252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44" name="Group 44"/>
          <p:cNvGrpSpPr/>
          <p:nvPr/>
        </p:nvGrpSpPr>
        <p:grpSpPr>
          <a:xfrm>
            <a:off x="7787113" y="4425463"/>
            <a:ext cx="1482490" cy="301990"/>
            <a:chOff x="0" y="0"/>
            <a:chExt cx="1976653" cy="402654"/>
          </a:xfrm>
        </p:grpSpPr>
        <p:sp>
          <p:nvSpPr>
            <p:cNvPr id="45" name="Freeform 45"/>
            <p:cNvSpPr/>
            <p:nvPr/>
          </p:nvSpPr>
          <p:spPr>
            <a:xfrm>
              <a:off x="0" y="0"/>
              <a:ext cx="1976648" cy="402651"/>
            </a:xfrm>
            <a:custGeom>
              <a:avLst/>
              <a:gdLst/>
              <a:ahLst/>
              <a:cxnLst/>
              <a:rect l="l" t="t" r="r" b="b"/>
              <a:pathLst>
                <a:path w="1976648" h="402651">
                  <a:moveTo>
                    <a:pt x="0" y="0"/>
                  </a:moveTo>
                  <a:lnTo>
                    <a:pt x="1976648" y="0"/>
                  </a:lnTo>
                  <a:lnTo>
                    <a:pt x="1976648" y="402651"/>
                  </a:lnTo>
                  <a:lnTo>
                    <a:pt x="0" y="402651"/>
                  </a:lnTo>
                  <a:close/>
                </a:path>
              </a:pathLst>
            </a:custGeom>
            <a:blipFill>
              <a:blip r:embed="rId1">
                <a:alphaModFix amt="0"/>
              </a:blip>
              <a:stretch>
                <a:fillRect t="-45653" b="-45654"/>
              </a:stretch>
            </a:blipFill>
          </p:spPr>
        </p:sp>
        <p:sp>
          <p:nvSpPr>
            <p:cNvPr id="46" name="TextBox 46"/>
            <p:cNvSpPr txBox="1"/>
            <p:nvPr/>
          </p:nvSpPr>
          <p:spPr>
            <a:xfrm>
              <a:off x="0" y="0"/>
              <a:ext cx="1976653" cy="402654"/>
            </a:xfrm>
            <a:prstGeom prst="rect">
              <a:avLst/>
            </a:prstGeom>
          </p:spPr>
          <p:txBody>
            <a:bodyPr lIns="0" tIns="0" rIns="0" bIns="0" rtlCol="0" anchor="ctr"/>
            <a:lstStyle/>
            <a:p>
              <a:pPr algn="ctr">
                <a:lnSpc>
                  <a:spcPts val="1980"/>
                </a:lnSpc>
              </a:pPr>
              <a:r>
                <a:rPr lang="en-US" sz="1650" b="1">
                  <a:solidFill>
                    <a:srgbClr val="FFFFFF"/>
                  </a:solidFill>
                  <a:latin typeface="Aptos Bold" panose="020B0004020202020204"/>
                  <a:ea typeface="Aptos Bold" panose="020B0004020202020204"/>
                  <a:cs typeface="Aptos Bold" panose="020B0004020202020204"/>
                  <a:sym typeface="Aptos Bold" panose="020B0004020202020204"/>
                </a:rPr>
                <a:t>Approved</a:t>
              </a:r>
              <a:endParaRPr lang="en-US" sz="16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47" name="Group 47"/>
          <p:cNvGrpSpPr/>
          <p:nvPr/>
        </p:nvGrpSpPr>
        <p:grpSpPr>
          <a:xfrm>
            <a:off x="7787113" y="4754905"/>
            <a:ext cx="1482490" cy="492784"/>
            <a:chOff x="0" y="0"/>
            <a:chExt cx="1976653" cy="657045"/>
          </a:xfrm>
        </p:grpSpPr>
        <p:sp>
          <p:nvSpPr>
            <p:cNvPr id="48" name="Freeform 48"/>
            <p:cNvSpPr/>
            <p:nvPr/>
          </p:nvSpPr>
          <p:spPr>
            <a:xfrm>
              <a:off x="0" y="0"/>
              <a:ext cx="1976648" cy="657040"/>
            </a:xfrm>
            <a:custGeom>
              <a:avLst/>
              <a:gdLst/>
              <a:ahLst/>
              <a:cxnLst/>
              <a:rect l="l" t="t" r="r" b="b"/>
              <a:pathLst>
                <a:path w="1976648" h="657040">
                  <a:moveTo>
                    <a:pt x="0" y="0"/>
                  </a:moveTo>
                  <a:lnTo>
                    <a:pt x="1976648" y="0"/>
                  </a:lnTo>
                  <a:lnTo>
                    <a:pt x="1976648" y="657040"/>
                  </a:lnTo>
                  <a:lnTo>
                    <a:pt x="0" y="657040"/>
                  </a:lnTo>
                  <a:close/>
                </a:path>
              </a:pathLst>
            </a:custGeom>
            <a:blipFill>
              <a:blip r:embed="rId1">
                <a:alphaModFix amt="0"/>
              </a:blip>
              <a:stretch>
                <a:fillRect t="-27977" b="10739"/>
              </a:stretch>
            </a:blipFill>
          </p:spPr>
        </p:sp>
        <p:sp>
          <p:nvSpPr>
            <p:cNvPr id="49" name="TextBox 49"/>
            <p:cNvSpPr txBox="1"/>
            <p:nvPr/>
          </p:nvSpPr>
          <p:spPr>
            <a:xfrm>
              <a:off x="0" y="0"/>
              <a:ext cx="1976653" cy="657045"/>
            </a:xfrm>
            <a:prstGeom prst="rect">
              <a:avLst/>
            </a:prstGeom>
          </p:spPr>
          <p:txBody>
            <a:bodyPr lIns="0" tIns="0" rIns="0" bIns="0" rtlCol="0" anchor="ctr"/>
            <a:lstStyle/>
            <a:p>
              <a:pPr algn="ctr">
                <a:lnSpc>
                  <a:spcPts val="1770"/>
                </a:lnSpc>
              </a:pPr>
              <a:r>
                <a:rPr lang="en-US" sz="1475">
                  <a:solidFill>
                    <a:srgbClr val="D9D7F2"/>
                  </a:solidFill>
                  <a:latin typeface="Aptos"/>
                  <a:ea typeface="Aptos"/>
                  <a:cs typeface="Aptos"/>
                  <a:sym typeface="Aptos"/>
                </a:rPr>
                <a:t>order_approved_at</a:t>
              </a:r>
              <a:endParaRPr lang="en-US" sz="1475">
                <a:solidFill>
                  <a:srgbClr val="D9D7F2"/>
                </a:solidFill>
                <a:latin typeface="Aptos"/>
                <a:ea typeface="Aptos"/>
                <a:cs typeface="Aptos"/>
                <a:sym typeface="Aptos"/>
              </a:endParaRPr>
            </a:p>
          </p:txBody>
        </p:sp>
      </p:grpSp>
      <p:grpSp>
        <p:nvGrpSpPr>
          <p:cNvPr id="50" name="Group 50"/>
          <p:cNvGrpSpPr/>
          <p:nvPr/>
        </p:nvGrpSpPr>
        <p:grpSpPr>
          <a:xfrm>
            <a:off x="10564113" y="3262880"/>
            <a:ext cx="979932" cy="979932"/>
            <a:chOff x="0" y="0"/>
            <a:chExt cx="1306576" cy="1306576"/>
          </a:xfrm>
        </p:grpSpPr>
        <p:sp>
          <p:nvSpPr>
            <p:cNvPr id="51" name="Freeform 51"/>
            <p:cNvSpPr/>
            <p:nvPr/>
          </p:nvSpPr>
          <p:spPr>
            <a:xfrm>
              <a:off x="0" y="0"/>
              <a:ext cx="1306576" cy="1306576"/>
            </a:xfrm>
            <a:custGeom>
              <a:avLst/>
              <a:gdLst/>
              <a:ahLst/>
              <a:cxnLst/>
              <a:rect l="l" t="t" r="r" b="b"/>
              <a:pathLst>
                <a:path w="1306576" h="1306576">
                  <a:moveTo>
                    <a:pt x="0" y="653288"/>
                  </a:moveTo>
                  <a:cubicBezTo>
                    <a:pt x="0" y="292481"/>
                    <a:pt x="292481" y="0"/>
                    <a:pt x="653288" y="0"/>
                  </a:cubicBezTo>
                  <a:cubicBezTo>
                    <a:pt x="1014095" y="0"/>
                    <a:pt x="1306576" y="292481"/>
                    <a:pt x="1306576" y="653288"/>
                  </a:cubicBezTo>
                  <a:cubicBezTo>
                    <a:pt x="1306576" y="1014095"/>
                    <a:pt x="1014095" y="1306576"/>
                    <a:pt x="653288" y="1306576"/>
                  </a:cubicBezTo>
                  <a:cubicBezTo>
                    <a:pt x="292481" y="1306576"/>
                    <a:pt x="0" y="1014095"/>
                    <a:pt x="0" y="653288"/>
                  </a:cubicBezTo>
                  <a:close/>
                </a:path>
              </a:pathLst>
            </a:custGeom>
            <a:solidFill>
              <a:srgbClr val="829BDC"/>
            </a:solidFill>
            <a:ln w="19065" cap="sq">
              <a:solidFill>
                <a:srgbClr val="FFFFFF"/>
              </a:solidFill>
              <a:prstDash val="solid"/>
              <a:miter/>
            </a:ln>
          </p:spPr>
        </p:sp>
      </p:grpSp>
      <p:grpSp>
        <p:nvGrpSpPr>
          <p:cNvPr id="52" name="Group 52"/>
          <p:cNvGrpSpPr/>
          <p:nvPr/>
        </p:nvGrpSpPr>
        <p:grpSpPr>
          <a:xfrm>
            <a:off x="10820726" y="3519493"/>
            <a:ext cx="466706" cy="474518"/>
            <a:chOff x="0" y="0"/>
            <a:chExt cx="622275" cy="632691"/>
          </a:xfrm>
        </p:grpSpPr>
        <p:sp>
          <p:nvSpPr>
            <p:cNvPr id="53" name="Freeform 53"/>
            <p:cNvSpPr/>
            <p:nvPr/>
          </p:nvSpPr>
          <p:spPr>
            <a:xfrm>
              <a:off x="0" y="0"/>
              <a:ext cx="622278" cy="632691"/>
            </a:xfrm>
            <a:custGeom>
              <a:avLst/>
              <a:gdLst/>
              <a:ahLst/>
              <a:cxnLst/>
              <a:rect l="l" t="t" r="r" b="b"/>
              <a:pathLst>
                <a:path w="622278" h="632691">
                  <a:moveTo>
                    <a:pt x="0" y="0"/>
                  </a:moveTo>
                  <a:lnTo>
                    <a:pt x="622278" y="0"/>
                  </a:lnTo>
                  <a:lnTo>
                    <a:pt x="622278" y="632691"/>
                  </a:lnTo>
                  <a:lnTo>
                    <a:pt x="0" y="632691"/>
                  </a:lnTo>
                  <a:close/>
                </a:path>
              </a:pathLst>
            </a:custGeom>
            <a:blipFill>
              <a:blip r:embed="rId1">
                <a:alphaModFix amt="0"/>
              </a:blip>
              <a:stretch>
                <a:fillRect l="-10378" r="-10377" b="53715"/>
              </a:stretch>
            </a:blipFill>
          </p:spPr>
        </p:sp>
        <p:sp>
          <p:nvSpPr>
            <p:cNvPr id="54" name="TextBox 54"/>
            <p:cNvSpPr txBox="1"/>
            <p:nvPr/>
          </p:nvSpPr>
          <p:spPr>
            <a:xfrm>
              <a:off x="0" y="0"/>
              <a:ext cx="622275" cy="632691"/>
            </a:xfrm>
            <a:prstGeom prst="rect">
              <a:avLst/>
            </a:prstGeom>
          </p:spPr>
          <p:txBody>
            <a:bodyPr lIns="0" tIns="0" rIns="0" bIns="0" rtlCol="0" anchor="ctr"/>
            <a:lstStyle/>
            <a:p>
              <a:pPr algn="ctr">
                <a:lnSpc>
                  <a:spcPts val="3030"/>
                </a:lnSpc>
              </a:pPr>
              <a:r>
                <a:rPr lang="en-US" sz="2525" b="1">
                  <a:solidFill>
                    <a:srgbClr val="FFFFFF"/>
                  </a:solidFill>
                  <a:latin typeface="Aptos Bold" panose="020B0004020202020204"/>
                  <a:ea typeface="Aptos Bold" panose="020B0004020202020204"/>
                  <a:cs typeface="Aptos Bold" panose="020B0004020202020204"/>
                  <a:sym typeface="Aptos Bold" panose="020B0004020202020204"/>
                </a:rPr>
                <a:t>3</a:t>
              </a:r>
              <a:endParaRPr lang="en-US" sz="252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55" name="Group 55"/>
          <p:cNvGrpSpPr/>
          <p:nvPr/>
        </p:nvGrpSpPr>
        <p:grpSpPr>
          <a:xfrm>
            <a:off x="10326559" y="4425463"/>
            <a:ext cx="1482490" cy="301990"/>
            <a:chOff x="0" y="0"/>
            <a:chExt cx="1976653" cy="402654"/>
          </a:xfrm>
        </p:grpSpPr>
        <p:sp>
          <p:nvSpPr>
            <p:cNvPr id="56" name="Freeform 56"/>
            <p:cNvSpPr/>
            <p:nvPr/>
          </p:nvSpPr>
          <p:spPr>
            <a:xfrm>
              <a:off x="0" y="0"/>
              <a:ext cx="1976648" cy="402651"/>
            </a:xfrm>
            <a:custGeom>
              <a:avLst/>
              <a:gdLst/>
              <a:ahLst/>
              <a:cxnLst/>
              <a:rect l="l" t="t" r="r" b="b"/>
              <a:pathLst>
                <a:path w="1976648" h="402651">
                  <a:moveTo>
                    <a:pt x="0" y="0"/>
                  </a:moveTo>
                  <a:lnTo>
                    <a:pt x="1976648" y="0"/>
                  </a:lnTo>
                  <a:lnTo>
                    <a:pt x="1976648" y="402651"/>
                  </a:lnTo>
                  <a:lnTo>
                    <a:pt x="0" y="402651"/>
                  </a:lnTo>
                  <a:close/>
                </a:path>
              </a:pathLst>
            </a:custGeom>
            <a:blipFill>
              <a:blip r:embed="rId1">
                <a:alphaModFix amt="0"/>
              </a:blip>
              <a:stretch>
                <a:fillRect t="-45653" b="-45654"/>
              </a:stretch>
            </a:blipFill>
          </p:spPr>
        </p:sp>
        <p:sp>
          <p:nvSpPr>
            <p:cNvPr id="57" name="TextBox 57"/>
            <p:cNvSpPr txBox="1"/>
            <p:nvPr/>
          </p:nvSpPr>
          <p:spPr>
            <a:xfrm>
              <a:off x="0" y="0"/>
              <a:ext cx="1976653" cy="402654"/>
            </a:xfrm>
            <a:prstGeom prst="rect">
              <a:avLst/>
            </a:prstGeom>
          </p:spPr>
          <p:txBody>
            <a:bodyPr lIns="0" tIns="0" rIns="0" bIns="0" rtlCol="0" anchor="ctr"/>
            <a:lstStyle/>
            <a:p>
              <a:pPr algn="ctr">
                <a:lnSpc>
                  <a:spcPts val="1980"/>
                </a:lnSpc>
              </a:pPr>
              <a:r>
                <a:rPr lang="en-US" sz="1650" b="1">
                  <a:solidFill>
                    <a:srgbClr val="FFFFFF"/>
                  </a:solidFill>
                  <a:latin typeface="Aptos Bold" panose="020B0004020202020204"/>
                  <a:ea typeface="Aptos Bold" panose="020B0004020202020204"/>
                  <a:cs typeface="Aptos Bold" panose="020B0004020202020204"/>
                  <a:sym typeface="Aptos Bold" panose="020B0004020202020204"/>
                </a:rPr>
                <a:t>Carrier</a:t>
              </a:r>
              <a:endParaRPr lang="en-US" sz="16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58" name="Group 58"/>
          <p:cNvGrpSpPr/>
          <p:nvPr/>
        </p:nvGrpSpPr>
        <p:grpSpPr>
          <a:xfrm>
            <a:off x="10326559" y="4754905"/>
            <a:ext cx="1482490" cy="492784"/>
            <a:chOff x="0" y="0"/>
            <a:chExt cx="1976653" cy="657045"/>
          </a:xfrm>
        </p:grpSpPr>
        <p:sp>
          <p:nvSpPr>
            <p:cNvPr id="59" name="Freeform 59"/>
            <p:cNvSpPr/>
            <p:nvPr/>
          </p:nvSpPr>
          <p:spPr>
            <a:xfrm>
              <a:off x="0" y="0"/>
              <a:ext cx="1976648" cy="657040"/>
            </a:xfrm>
            <a:custGeom>
              <a:avLst/>
              <a:gdLst/>
              <a:ahLst/>
              <a:cxnLst/>
              <a:rect l="l" t="t" r="r" b="b"/>
              <a:pathLst>
                <a:path w="1976648" h="657040">
                  <a:moveTo>
                    <a:pt x="0" y="0"/>
                  </a:moveTo>
                  <a:lnTo>
                    <a:pt x="1976648" y="0"/>
                  </a:lnTo>
                  <a:lnTo>
                    <a:pt x="1976648" y="657040"/>
                  </a:lnTo>
                  <a:lnTo>
                    <a:pt x="0" y="657040"/>
                  </a:lnTo>
                  <a:close/>
                </a:path>
              </a:pathLst>
            </a:custGeom>
            <a:blipFill>
              <a:blip r:embed="rId1">
                <a:alphaModFix amt="0"/>
              </a:blip>
              <a:stretch>
                <a:fillRect t="-27977" b="10739"/>
              </a:stretch>
            </a:blipFill>
          </p:spPr>
        </p:sp>
        <p:sp>
          <p:nvSpPr>
            <p:cNvPr id="60" name="TextBox 60"/>
            <p:cNvSpPr txBox="1"/>
            <p:nvPr/>
          </p:nvSpPr>
          <p:spPr>
            <a:xfrm>
              <a:off x="0" y="0"/>
              <a:ext cx="1976653" cy="657045"/>
            </a:xfrm>
            <a:prstGeom prst="rect">
              <a:avLst/>
            </a:prstGeom>
          </p:spPr>
          <p:txBody>
            <a:bodyPr lIns="0" tIns="0" rIns="0" bIns="0" rtlCol="0" anchor="ctr"/>
            <a:lstStyle/>
            <a:p>
              <a:pPr algn="ctr">
                <a:lnSpc>
                  <a:spcPts val="1770"/>
                </a:lnSpc>
              </a:pPr>
              <a:r>
                <a:rPr lang="en-US" sz="1475">
                  <a:solidFill>
                    <a:srgbClr val="D9D7F2"/>
                  </a:solidFill>
                  <a:latin typeface="Aptos"/>
                  <a:ea typeface="Aptos"/>
                  <a:cs typeface="Aptos"/>
                  <a:sym typeface="Aptos"/>
                </a:rPr>
                <a:t>order_delivered_carrier_date</a:t>
              </a:r>
              <a:endParaRPr lang="en-US" sz="1475">
                <a:solidFill>
                  <a:srgbClr val="D9D7F2"/>
                </a:solidFill>
                <a:latin typeface="Aptos"/>
                <a:ea typeface="Aptos"/>
                <a:cs typeface="Aptos"/>
                <a:sym typeface="Aptos"/>
              </a:endParaRPr>
            </a:p>
          </p:txBody>
        </p:sp>
      </p:grpSp>
      <p:grpSp>
        <p:nvGrpSpPr>
          <p:cNvPr id="61" name="Group 61"/>
          <p:cNvGrpSpPr/>
          <p:nvPr/>
        </p:nvGrpSpPr>
        <p:grpSpPr>
          <a:xfrm>
            <a:off x="13103559" y="3262880"/>
            <a:ext cx="979932" cy="979932"/>
            <a:chOff x="0" y="0"/>
            <a:chExt cx="1306576" cy="1306576"/>
          </a:xfrm>
        </p:grpSpPr>
        <p:sp>
          <p:nvSpPr>
            <p:cNvPr id="62" name="Freeform 62"/>
            <p:cNvSpPr/>
            <p:nvPr/>
          </p:nvSpPr>
          <p:spPr>
            <a:xfrm>
              <a:off x="0" y="0"/>
              <a:ext cx="1306576" cy="1306576"/>
            </a:xfrm>
            <a:custGeom>
              <a:avLst/>
              <a:gdLst/>
              <a:ahLst/>
              <a:cxnLst/>
              <a:rect l="l" t="t" r="r" b="b"/>
              <a:pathLst>
                <a:path w="1306576" h="1306576">
                  <a:moveTo>
                    <a:pt x="0" y="653288"/>
                  </a:moveTo>
                  <a:cubicBezTo>
                    <a:pt x="0" y="292481"/>
                    <a:pt x="292481" y="0"/>
                    <a:pt x="653288" y="0"/>
                  </a:cubicBezTo>
                  <a:cubicBezTo>
                    <a:pt x="1014095" y="0"/>
                    <a:pt x="1306576" y="292481"/>
                    <a:pt x="1306576" y="653288"/>
                  </a:cubicBezTo>
                  <a:cubicBezTo>
                    <a:pt x="1306576" y="1014095"/>
                    <a:pt x="1014095" y="1306576"/>
                    <a:pt x="653288" y="1306576"/>
                  </a:cubicBezTo>
                  <a:cubicBezTo>
                    <a:pt x="292481" y="1306576"/>
                    <a:pt x="0" y="1014095"/>
                    <a:pt x="0" y="653288"/>
                  </a:cubicBezTo>
                  <a:close/>
                </a:path>
              </a:pathLst>
            </a:custGeom>
            <a:solidFill>
              <a:srgbClr val="829BDC"/>
            </a:solidFill>
            <a:ln w="19065" cap="sq">
              <a:solidFill>
                <a:srgbClr val="FFFFFF"/>
              </a:solidFill>
              <a:prstDash val="solid"/>
              <a:miter/>
            </a:ln>
          </p:spPr>
        </p:sp>
      </p:grpSp>
      <p:grpSp>
        <p:nvGrpSpPr>
          <p:cNvPr id="63" name="Group 63"/>
          <p:cNvGrpSpPr/>
          <p:nvPr/>
        </p:nvGrpSpPr>
        <p:grpSpPr>
          <a:xfrm>
            <a:off x="13360172" y="3519493"/>
            <a:ext cx="466706" cy="474518"/>
            <a:chOff x="0" y="0"/>
            <a:chExt cx="622275" cy="632691"/>
          </a:xfrm>
        </p:grpSpPr>
        <p:sp>
          <p:nvSpPr>
            <p:cNvPr id="64" name="Freeform 64"/>
            <p:cNvSpPr/>
            <p:nvPr/>
          </p:nvSpPr>
          <p:spPr>
            <a:xfrm>
              <a:off x="0" y="0"/>
              <a:ext cx="622278" cy="632691"/>
            </a:xfrm>
            <a:custGeom>
              <a:avLst/>
              <a:gdLst/>
              <a:ahLst/>
              <a:cxnLst/>
              <a:rect l="l" t="t" r="r" b="b"/>
              <a:pathLst>
                <a:path w="622278" h="632691">
                  <a:moveTo>
                    <a:pt x="0" y="0"/>
                  </a:moveTo>
                  <a:lnTo>
                    <a:pt x="622278" y="0"/>
                  </a:lnTo>
                  <a:lnTo>
                    <a:pt x="622278" y="632691"/>
                  </a:lnTo>
                  <a:lnTo>
                    <a:pt x="0" y="632691"/>
                  </a:lnTo>
                  <a:close/>
                </a:path>
              </a:pathLst>
            </a:custGeom>
            <a:blipFill>
              <a:blip r:embed="rId1">
                <a:alphaModFix amt="0"/>
              </a:blip>
              <a:stretch>
                <a:fillRect l="-10378" r="-10377" b="53715"/>
              </a:stretch>
            </a:blipFill>
          </p:spPr>
        </p:sp>
        <p:sp>
          <p:nvSpPr>
            <p:cNvPr id="65" name="TextBox 65"/>
            <p:cNvSpPr txBox="1"/>
            <p:nvPr/>
          </p:nvSpPr>
          <p:spPr>
            <a:xfrm>
              <a:off x="0" y="0"/>
              <a:ext cx="622275" cy="632691"/>
            </a:xfrm>
            <a:prstGeom prst="rect">
              <a:avLst/>
            </a:prstGeom>
          </p:spPr>
          <p:txBody>
            <a:bodyPr lIns="0" tIns="0" rIns="0" bIns="0" rtlCol="0" anchor="ctr"/>
            <a:lstStyle/>
            <a:p>
              <a:pPr algn="ctr">
                <a:lnSpc>
                  <a:spcPts val="3030"/>
                </a:lnSpc>
              </a:pPr>
              <a:r>
                <a:rPr lang="en-US" sz="2525" b="1">
                  <a:solidFill>
                    <a:srgbClr val="FFFFFF"/>
                  </a:solidFill>
                  <a:latin typeface="Aptos Bold" panose="020B0004020202020204"/>
                  <a:ea typeface="Aptos Bold" panose="020B0004020202020204"/>
                  <a:cs typeface="Aptos Bold" panose="020B0004020202020204"/>
                  <a:sym typeface="Aptos Bold" panose="020B0004020202020204"/>
                </a:rPr>
                <a:t>4</a:t>
              </a:r>
              <a:endParaRPr lang="en-US" sz="252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66" name="Group 66"/>
          <p:cNvGrpSpPr/>
          <p:nvPr/>
        </p:nvGrpSpPr>
        <p:grpSpPr>
          <a:xfrm>
            <a:off x="12866005" y="4425463"/>
            <a:ext cx="1482490" cy="301990"/>
            <a:chOff x="0" y="0"/>
            <a:chExt cx="1976653" cy="402654"/>
          </a:xfrm>
        </p:grpSpPr>
        <p:sp>
          <p:nvSpPr>
            <p:cNvPr id="67" name="Freeform 67"/>
            <p:cNvSpPr/>
            <p:nvPr/>
          </p:nvSpPr>
          <p:spPr>
            <a:xfrm>
              <a:off x="0" y="0"/>
              <a:ext cx="1976648" cy="402651"/>
            </a:xfrm>
            <a:custGeom>
              <a:avLst/>
              <a:gdLst/>
              <a:ahLst/>
              <a:cxnLst/>
              <a:rect l="l" t="t" r="r" b="b"/>
              <a:pathLst>
                <a:path w="1976648" h="402651">
                  <a:moveTo>
                    <a:pt x="0" y="0"/>
                  </a:moveTo>
                  <a:lnTo>
                    <a:pt x="1976648" y="0"/>
                  </a:lnTo>
                  <a:lnTo>
                    <a:pt x="1976648" y="402651"/>
                  </a:lnTo>
                  <a:lnTo>
                    <a:pt x="0" y="402651"/>
                  </a:lnTo>
                  <a:close/>
                </a:path>
              </a:pathLst>
            </a:custGeom>
            <a:blipFill>
              <a:blip r:embed="rId1">
                <a:alphaModFix amt="0"/>
              </a:blip>
              <a:stretch>
                <a:fillRect t="-45653" b="-45654"/>
              </a:stretch>
            </a:blipFill>
          </p:spPr>
        </p:sp>
        <p:sp>
          <p:nvSpPr>
            <p:cNvPr id="68" name="TextBox 68"/>
            <p:cNvSpPr txBox="1"/>
            <p:nvPr/>
          </p:nvSpPr>
          <p:spPr>
            <a:xfrm>
              <a:off x="0" y="0"/>
              <a:ext cx="1976653" cy="402654"/>
            </a:xfrm>
            <a:prstGeom prst="rect">
              <a:avLst/>
            </a:prstGeom>
          </p:spPr>
          <p:txBody>
            <a:bodyPr lIns="0" tIns="0" rIns="0" bIns="0" rtlCol="0" anchor="ctr"/>
            <a:lstStyle/>
            <a:p>
              <a:pPr algn="ctr">
                <a:lnSpc>
                  <a:spcPts val="1980"/>
                </a:lnSpc>
              </a:pPr>
              <a:r>
                <a:rPr lang="en-US" sz="1650" b="1">
                  <a:solidFill>
                    <a:srgbClr val="FFFFFF"/>
                  </a:solidFill>
                  <a:latin typeface="Aptos Bold" panose="020B0004020202020204"/>
                  <a:ea typeface="Aptos Bold" panose="020B0004020202020204"/>
                  <a:cs typeface="Aptos Bold" panose="020B0004020202020204"/>
                  <a:sym typeface="Aptos Bold" panose="020B0004020202020204"/>
                </a:rPr>
                <a:t>Delivered</a:t>
              </a:r>
              <a:endParaRPr lang="en-US" sz="16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69" name="Group 69"/>
          <p:cNvGrpSpPr/>
          <p:nvPr/>
        </p:nvGrpSpPr>
        <p:grpSpPr>
          <a:xfrm>
            <a:off x="12866005" y="4754905"/>
            <a:ext cx="1482490" cy="492784"/>
            <a:chOff x="0" y="0"/>
            <a:chExt cx="1976653" cy="657045"/>
          </a:xfrm>
        </p:grpSpPr>
        <p:sp>
          <p:nvSpPr>
            <p:cNvPr id="70" name="Freeform 70"/>
            <p:cNvSpPr/>
            <p:nvPr/>
          </p:nvSpPr>
          <p:spPr>
            <a:xfrm>
              <a:off x="0" y="0"/>
              <a:ext cx="1976648" cy="657040"/>
            </a:xfrm>
            <a:custGeom>
              <a:avLst/>
              <a:gdLst/>
              <a:ahLst/>
              <a:cxnLst/>
              <a:rect l="l" t="t" r="r" b="b"/>
              <a:pathLst>
                <a:path w="1976648" h="657040">
                  <a:moveTo>
                    <a:pt x="0" y="0"/>
                  </a:moveTo>
                  <a:lnTo>
                    <a:pt x="1976648" y="0"/>
                  </a:lnTo>
                  <a:lnTo>
                    <a:pt x="1976648" y="657040"/>
                  </a:lnTo>
                  <a:lnTo>
                    <a:pt x="0" y="657040"/>
                  </a:lnTo>
                  <a:close/>
                </a:path>
              </a:pathLst>
            </a:custGeom>
            <a:blipFill>
              <a:blip r:embed="rId1">
                <a:alphaModFix amt="0"/>
              </a:blip>
              <a:stretch>
                <a:fillRect t="-27977" b="10739"/>
              </a:stretch>
            </a:blipFill>
          </p:spPr>
        </p:sp>
        <p:sp>
          <p:nvSpPr>
            <p:cNvPr id="71" name="TextBox 71"/>
            <p:cNvSpPr txBox="1"/>
            <p:nvPr/>
          </p:nvSpPr>
          <p:spPr>
            <a:xfrm>
              <a:off x="0" y="0"/>
              <a:ext cx="1976653" cy="657045"/>
            </a:xfrm>
            <a:prstGeom prst="rect">
              <a:avLst/>
            </a:prstGeom>
          </p:spPr>
          <p:txBody>
            <a:bodyPr lIns="0" tIns="0" rIns="0" bIns="0" rtlCol="0" anchor="ctr"/>
            <a:lstStyle/>
            <a:p>
              <a:pPr algn="ctr">
                <a:lnSpc>
                  <a:spcPts val="1770"/>
                </a:lnSpc>
              </a:pPr>
              <a:r>
                <a:rPr lang="en-US" sz="1475">
                  <a:solidFill>
                    <a:srgbClr val="D9D7F2"/>
                  </a:solidFill>
                  <a:latin typeface="Aptos"/>
                  <a:ea typeface="Aptos"/>
                  <a:cs typeface="Aptos"/>
                  <a:sym typeface="Aptos"/>
                </a:rPr>
                <a:t>order_delivered_customer_date</a:t>
              </a:r>
              <a:endParaRPr lang="en-US" sz="1475">
                <a:solidFill>
                  <a:srgbClr val="D9D7F2"/>
                </a:solidFill>
                <a:latin typeface="Aptos"/>
                <a:ea typeface="Aptos"/>
                <a:cs typeface="Aptos"/>
                <a:sym typeface="Aptos"/>
              </a:endParaRPr>
            </a:p>
          </p:txBody>
        </p:sp>
      </p:grpSp>
      <p:grpSp>
        <p:nvGrpSpPr>
          <p:cNvPr id="72" name="Group 72"/>
          <p:cNvGrpSpPr/>
          <p:nvPr/>
        </p:nvGrpSpPr>
        <p:grpSpPr>
          <a:xfrm>
            <a:off x="15642995" y="3262880"/>
            <a:ext cx="979932" cy="979932"/>
            <a:chOff x="0" y="0"/>
            <a:chExt cx="1306576" cy="1306576"/>
          </a:xfrm>
        </p:grpSpPr>
        <p:sp>
          <p:nvSpPr>
            <p:cNvPr id="73" name="Freeform 73"/>
            <p:cNvSpPr/>
            <p:nvPr/>
          </p:nvSpPr>
          <p:spPr>
            <a:xfrm>
              <a:off x="0" y="0"/>
              <a:ext cx="1306576" cy="1306576"/>
            </a:xfrm>
            <a:custGeom>
              <a:avLst/>
              <a:gdLst/>
              <a:ahLst/>
              <a:cxnLst/>
              <a:rect l="l" t="t" r="r" b="b"/>
              <a:pathLst>
                <a:path w="1306576" h="1306576">
                  <a:moveTo>
                    <a:pt x="0" y="653288"/>
                  </a:moveTo>
                  <a:cubicBezTo>
                    <a:pt x="0" y="292481"/>
                    <a:pt x="292481" y="0"/>
                    <a:pt x="653288" y="0"/>
                  </a:cubicBezTo>
                  <a:cubicBezTo>
                    <a:pt x="1014095" y="0"/>
                    <a:pt x="1306576" y="292481"/>
                    <a:pt x="1306576" y="653288"/>
                  </a:cubicBezTo>
                  <a:cubicBezTo>
                    <a:pt x="1306576" y="1014095"/>
                    <a:pt x="1014095" y="1306576"/>
                    <a:pt x="653288" y="1306576"/>
                  </a:cubicBezTo>
                  <a:cubicBezTo>
                    <a:pt x="292481" y="1306576"/>
                    <a:pt x="0" y="1014095"/>
                    <a:pt x="0" y="653288"/>
                  </a:cubicBezTo>
                  <a:close/>
                </a:path>
              </a:pathLst>
            </a:custGeom>
            <a:solidFill>
              <a:srgbClr val="829BDC"/>
            </a:solidFill>
            <a:ln w="19065" cap="sq">
              <a:solidFill>
                <a:srgbClr val="FFFFFF"/>
              </a:solidFill>
              <a:prstDash val="solid"/>
              <a:miter/>
            </a:ln>
          </p:spPr>
        </p:sp>
      </p:grpSp>
      <p:grpSp>
        <p:nvGrpSpPr>
          <p:cNvPr id="74" name="Group 74"/>
          <p:cNvGrpSpPr/>
          <p:nvPr/>
        </p:nvGrpSpPr>
        <p:grpSpPr>
          <a:xfrm>
            <a:off x="15899608" y="3519493"/>
            <a:ext cx="466706" cy="474518"/>
            <a:chOff x="0" y="0"/>
            <a:chExt cx="622275" cy="632691"/>
          </a:xfrm>
        </p:grpSpPr>
        <p:sp>
          <p:nvSpPr>
            <p:cNvPr id="75" name="Freeform 75"/>
            <p:cNvSpPr/>
            <p:nvPr/>
          </p:nvSpPr>
          <p:spPr>
            <a:xfrm>
              <a:off x="0" y="0"/>
              <a:ext cx="622278" cy="632691"/>
            </a:xfrm>
            <a:custGeom>
              <a:avLst/>
              <a:gdLst/>
              <a:ahLst/>
              <a:cxnLst/>
              <a:rect l="l" t="t" r="r" b="b"/>
              <a:pathLst>
                <a:path w="622278" h="632691">
                  <a:moveTo>
                    <a:pt x="0" y="0"/>
                  </a:moveTo>
                  <a:lnTo>
                    <a:pt x="622278" y="0"/>
                  </a:lnTo>
                  <a:lnTo>
                    <a:pt x="622278" y="632691"/>
                  </a:lnTo>
                  <a:lnTo>
                    <a:pt x="0" y="632691"/>
                  </a:lnTo>
                  <a:close/>
                </a:path>
              </a:pathLst>
            </a:custGeom>
            <a:blipFill>
              <a:blip r:embed="rId1">
                <a:alphaModFix amt="0"/>
              </a:blip>
              <a:stretch>
                <a:fillRect l="-10378" r="-10377" b="53715"/>
              </a:stretch>
            </a:blipFill>
          </p:spPr>
        </p:sp>
        <p:sp>
          <p:nvSpPr>
            <p:cNvPr id="76" name="TextBox 76"/>
            <p:cNvSpPr txBox="1"/>
            <p:nvPr/>
          </p:nvSpPr>
          <p:spPr>
            <a:xfrm>
              <a:off x="0" y="0"/>
              <a:ext cx="622275" cy="632691"/>
            </a:xfrm>
            <a:prstGeom prst="rect">
              <a:avLst/>
            </a:prstGeom>
          </p:spPr>
          <p:txBody>
            <a:bodyPr lIns="0" tIns="0" rIns="0" bIns="0" rtlCol="0" anchor="ctr"/>
            <a:lstStyle/>
            <a:p>
              <a:pPr algn="ctr">
                <a:lnSpc>
                  <a:spcPts val="3030"/>
                </a:lnSpc>
              </a:pPr>
              <a:r>
                <a:rPr lang="en-US" sz="2525" b="1">
                  <a:solidFill>
                    <a:srgbClr val="FFFFFF"/>
                  </a:solidFill>
                  <a:latin typeface="Aptos Bold" panose="020B0004020202020204"/>
                  <a:ea typeface="Aptos Bold" panose="020B0004020202020204"/>
                  <a:cs typeface="Aptos Bold" panose="020B0004020202020204"/>
                  <a:sym typeface="Aptos Bold" panose="020B0004020202020204"/>
                </a:rPr>
                <a:t>5</a:t>
              </a:r>
              <a:endParaRPr lang="en-US" sz="252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77" name="Group 77"/>
          <p:cNvGrpSpPr/>
          <p:nvPr/>
        </p:nvGrpSpPr>
        <p:grpSpPr>
          <a:xfrm>
            <a:off x="15405451" y="4425463"/>
            <a:ext cx="1482490" cy="301990"/>
            <a:chOff x="0" y="0"/>
            <a:chExt cx="1976653" cy="402654"/>
          </a:xfrm>
        </p:grpSpPr>
        <p:sp>
          <p:nvSpPr>
            <p:cNvPr id="78" name="Freeform 78"/>
            <p:cNvSpPr/>
            <p:nvPr/>
          </p:nvSpPr>
          <p:spPr>
            <a:xfrm>
              <a:off x="0" y="0"/>
              <a:ext cx="1976648" cy="402651"/>
            </a:xfrm>
            <a:custGeom>
              <a:avLst/>
              <a:gdLst/>
              <a:ahLst/>
              <a:cxnLst/>
              <a:rect l="l" t="t" r="r" b="b"/>
              <a:pathLst>
                <a:path w="1976648" h="402651">
                  <a:moveTo>
                    <a:pt x="0" y="0"/>
                  </a:moveTo>
                  <a:lnTo>
                    <a:pt x="1976648" y="0"/>
                  </a:lnTo>
                  <a:lnTo>
                    <a:pt x="1976648" y="402651"/>
                  </a:lnTo>
                  <a:lnTo>
                    <a:pt x="0" y="402651"/>
                  </a:lnTo>
                  <a:close/>
                </a:path>
              </a:pathLst>
            </a:custGeom>
            <a:blipFill>
              <a:blip r:embed="rId1">
                <a:alphaModFix amt="0"/>
              </a:blip>
              <a:stretch>
                <a:fillRect t="-45653" b="-45654"/>
              </a:stretch>
            </a:blipFill>
          </p:spPr>
        </p:sp>
        <p:sp>
          <p:nvSpPr>
            <p:cNvPr id="79" name="TextBox 79"/>
            <p:cNvSpPr txBox="1"/>
            <p:nvPr/>
          </p:nvSpPr>
          <p:spPr>
            <a:xfrm>
              <a:off x="0" y="0"/>
              <a:ext cx="1976653" cy="402654"/>
            </a:xfrm>
            <a:prstGeom prst="rect">
              <a:avLst/>
            </a:prstGeom>
          </p:spPr>
          <p:txBody>
            <a:bodyPr lIns="0" tIns="0" rIns="0" bIns="0" rtlCol="0" anchor="ctr"/>
            <a:lstStyle/>
            <a:p>
              <a:pPr algn="ctr">
                <a:lnSpc>
                  <a:spcPts val="1980"/>
                </a:lnSpc>
              </a:pPr>
              <a:r>
                <a:rPr lang="en-US" sz="1650" b="1">
                  <a:solidFill>
                    <a:srgbClr val="FFFFFF"/>
                  </a:solidFill>
                  <a:latin typeface="Aptos Bold" panose="020B0004020202020204"/>
                  <a:ea typeface="Aptos Bold" panose="020B0004020202020204"/>
                  <a:cs typeface="Aptos Bold" panose="020B0004020202020204"/>
                  <a:sym typeface="Aptos Bold" panose="020B0004020202020204"/>
                </a:rPr>
                <a:t>Estimated</a:t>
              </a:r>
              <a:endParaRPr lang="en-US" sz="16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80" name="Group 80"/>
          <p:cNvGrpSpPr/>
          <p:nvPr/>
        </p:nvGrpSpPr>
        <p:grpSpPr>
          <a:xfrm>
            <a:off x="15405451" y="4754905"/>
            <a:ext cx="1482490" cy="492784"/>
            <a:chOff x="0" y="0"/>
            <a:chExt cx="1976653" cy="657045"/>
          </a:xfrm>
        </p:grpSpPr>
        <p:sp>
          <p:nvSpPr>
            <p:cNvPr id="81" name="Freeform 81"/>
            <p:cNvSpPr/>
            <p:nvPr/>
          </p:nvSpPr>
          <p:spPr>
            <a:xfrm>
              <a:off x="0" y="0"/>
              <a:ext cx="1976648" cy="657040"/>
            </a:xfrm>
            <a:custGeom>
              <a:avLst/>
              <a:gdLst/>
              <a:ahLst/>
              <a:cxnLst/>
              <a:rect l="l" t="t" r="r" b="b"/>
              <a:pathLst>
                <a:path w="1976648" h="657040">
                  <a:moveTo>
                    <a:pt x="0" y="0"/>
                  </a:moveTo>
                  <a:lnTo>
                    <a:pt x="1976648" y="0"/>
                  </a:lnTo>
                  <a:lnTo>
                    <a:pt x="1976648" y="657040"/>
                  </a:lnTo>
                  <a:lnTo>
                    <a:pt x="0" y="657040"/>
                  </a:lnTo>
                  <a:close/>
                </a:path>
              </a:pathLst>
            </a:custGeom>
            <a:blipFill>
              <a:blip r:embed="rId1">
                <a:alphaModFix amt="0"/>
              </a:blip>
              <a:stretch>
                <a:fillRect t="-27977" b="10739"/>
              </a:stretch>
            </a:blipFill>
          </p:spPr>
        </p:sp>
        <p:sp>
          <p:nvSpPr>
            <p:cNvPr id="82" name="TextBox 82"/>
            <p:cNvSpPr txBox="1"/>
            <p:nvPr/>
          </p:nvSpPr>
          <p:spPr>
            <a:xfrm>
              <a:off x="0" y="0"/>
              <a:ext cx="1976653" cy="657045"/>
            </a:xfrm>
            <a:prstGeom prst="rect">
              <a:avLst/>
            </a:prstGeom>
          </p:spPr>
          <p:txBody>
            <a:bodyPr lIns="0" tIns="0" rIns="0" bIns="0" rtlCol="0" anchor="ctr"/>
            <a:lstStyle/>
            <a:p>
              <a:pPr algn="ctr">
                <a:lnSpc>
                  <a:spcPts val="1770"/>
                </a:lnSpc>
              </a:pPr>
              <a:r>
                <a:rPr lang="en-US" sz="1475">
                  <a:solidFill>
                    <a:srgbClr val="D9D7F2"/>
                  </a:solidFill>
                  <a:latin typeface="Aptos"/>
                  <a:ea typeface="Aptos"/>
                  <a:cs typeface="Aptos"/>
                  <a:sym typeface="Aptos"/>
                </a:rPr>
                <a:t>order_estimated_delivery_date</a:t>
              </a:r>
              <a:endParaRPr lang="en-US" sz="1475">
                <a:solidFill>
                  <a:srgbClr val="D9D7F2"/>
                </a:solidFill>
                <a:latin typeface="Aptos"/>
                <a:ea typeface="Aptos"/>
                <a:cs typeface="Aptos"/>
                <a:sym typeface="Aptos"/>
              </a:endParaRPr>
            </a:p>
          </p:txBody>
        </p:sp>
      </p:grpSp>
      <p:grpSp>
        <p:nvGrpSpPr>
          <p:cNvPr id="83" name="Group 83"/>
          <p:cNvGrpSpPr/>
          <p:nvPr/>
        </p:nvGrpSpPr>
        <p:grpSpPr>
          <a:xfrm>
            <a:off x="4396999" y="6548028"/>
            <a:ext cx="6272346" cy="1879797"/>
            <a:chOff x="0" y="0"/>
            <a:chExt cx="8363128" cy="2506396"/>
          </a:xfrm>
        </p:grpSpPr>
        <p:sp>
          <p:nvSpPr>
            <p:cNvPr id="84" name="Freeform 84"/>
            <p:cNvSpPr/>
            <p:nvPr/>
          </p:nvSpPr>
          <p:spPr>
            <a:xfrm>
              <a:off x="0" y="0"/>
              <a:ext cx="8363204" cy="2506472"/>
            </a:xfrm>
            <a:custGeom>
              <a:avLst/>
              <a:gdLst/>
              <a:ahLst/>
              <a:cxnLst/>
              <a:rect l="l" t="t" r="r" b="b"/>
              <a:pathLst>
                <a:path w="8363204" h="2506472">
                  <a:moveTo>
                    <a:pt x="0" y="167132"/>
                  </a:moveTo>
                  <a:cubicBezTo>
                    <a:pt x="0" y="74803"/>
                    <a:pt x="74803" y="0"/>
                    <a:pt x="167132" y="0"/>
                  </a:cubicBezTo>
                  <a:lnTo>
                    <a:pt x="8196072" y="0"/>
                  </a:lnTo>
                  <a:cubicBezTo>
                    <a:pt x="8288401" y="0"/>
                    <a:pt x="8363204" y="74803"/>
                    <a:pt x="8363204" y="167132"/>
                  </a:cubicBezTo>
                  <a:lnTo>
                    <a:pt x="8363204" y="2339340"/>
                  </a:lnTo>
                  <a:cubicBezTo>
                    <a:pt x="8363204" y="2431669"/>
                    <a:pt x="8288401" y="2506472"/>
                    <a:pt x="8196072" y="2506472"/>
                  </a:cubicBezTo>
                  <a:lnTo>
                    <a:pt x="167132" y="2506472"/>
                  </a:lnTo>
                  <a:cubicBezTo>
                    <a:pt x="74803" y="2506345"/>
                    <a:pt x="0" y="2431542"/>
                    <a:pt x="0" y="2339340"/>
                  </a:cubicBezTo>
                  <a:close/>
                </a:path>
              </a:pathLst>
            </a:custGeom>
            <a:solidFill>
              <a:srgbClr val="829BDC"/>
            </a:solidFill>
            <a:ln w="26691" cap="sq">
              <a:solidFill>
                <a:srgbClr val="1B0E2C"/>
              </a:solidFill>
              <a:prstDash val="solid"/>
              <a:miter/>
            </a:ln>
          </p:spPr>
        </p:sp>
      </p:grpSp>
      <p:grpSp>
        <p:nvGrpSpPr>
          <p:cNvPr id="85" name="Group 85"/>
          <p:cNvGrpSpPr/>
          <p:nvPr/>
        </p:nvGrpSpPr>
        <p:grpSpPr>
          <a:xfrm>
            <a:off x="4780971" y="6890814"/>
            <a:ext cx="5353421" cy="356892"/>
            <a:chOff x="0" y="0"/>
            <a:chExt cx="7137895" cy="475856"/>
          </a:xfrm>
        </p:grpSpPr>
        <p:sp>
          <p:nvSpPr>
            <p:cNvPr id="86" name="Freeform 86"/>
            <p:cNvSpPr/>
            <p:nvPr/>
          </p:nvSpPr>
          <p:spPr>
            <a:xfrm>
              <a:off x="0" y="0"/>
              <a:ext cx="7137897" cy="475860"/>
            </a:xfrm>
            <a:custGeom>
              <a:avLst/>
              <a:gdLst/>
              <a:ahLst/>
              <a:cxnLst/>
              <a:rect l="l" t="t" r="r" b="b"/>
              <a:pathLst>
                <a:path w="7137897" h="475860">
                  <a:moveTo>
                    <a:pt x="0" y="0"/>
                  </a:moveTo>
                  <a:lnTo>
                    <a:pt x="7137897" y="0"/>
                  </a:lnTo>
                  <a:lnTo>
                    <a:pt x="7137897" y="475860"/>
                  </a:lnTo>
                  <a:lnTo>
                    <a:pt x="0" y="475860"/>
                  </a:lnTo>
                  <a:close/>
                </a:path>
              </a:pathLst>
            </a:custGeom>
            <a:blipFill>
              <a:blip r:embed="rId1">
                <a:alphaModFix amt="0"/>
              </a:blip>
              <a:stretch>
                <a:fillRect t="-242275" b="-242275"/>
              </a:stretch>
            </a:blipFill>
          </p:spPr>
        </p:sp>
        <p:sp>
          <p:nvSpPr>
            <p:cNvPr id="87" name="TextBox 87"/>
            <p:cNvSpPr txBox="1"/>
            <p:nvPr/>
          </p:nvSpPr>
          <p:spPr>
            <a:xfrm>
              <a:off x="0" y="0"/>
              <a:ext cx="7137895" cy="475856"/>
            </a:xfrm>
            <a:prstGeom prst="rect">
              <a:avLst/>
            </a:prstGeom>
          </p:spPr>
          <p:txBody>
            <a:bodyPr lIns="0" tIns="0" rIns="0" bIns="0" rtlCol="0" anchor="ctr"/>
            <a:lstStyle/>
            <a:p>
              <a:pPr algn="l">
                <a:lnSpc>
                  <a:spcPts val="2880"/>
                </a:lnSpc>
              </a:pPr>
              <a:r>
                <a:rPr lang="en-US" sz="2400" b="1">
                  <a:solidFill>
                    <a:srgbClr val="FFFFFF"/>
                  </a:solidFill>
                  <a:latin typeface="Aptos Bold" panose="020B0004020202020204"/>
                  <a:ea typeface="Aptos Bold" panose="020B0004020202020204"/>
                  <a:cs typeface="Aptos Bold" panose="020B0004020202020204"/>
                  <a:sym typeface="Aptos Bold" panose="020B0004020202020204"/>
                </a:rPr>
                <a:t>Created delay feature</a:t>
              </a:r>
              <a:endParaRPr lang="en-US" sz="240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88" name="Group 88"/>
          <p:cNvGrpSpPr/>
          <p:nvPr/>
        </p:nvGrpSpPr>
        <p:grpSpPr>
          <a:xfrm>
            <a:off x="4780971" y="7412431"/>
            <a:ext cx="5490686" cy="384353"/>
            <a:chOff x="0" y="0"/>
            <a:chExt cx="7320915" cy="512470"/>
          </a:xfrm>
        </p:grpSpPr>
        <p:sp>
          <p:nvSpPr>
            <p:cNvPr id="89" name="Freeform 89"/>
            <p:cNvSpPr/>
            <p:nvPr/>
          </p:nvSpPr>
          <p:spPr>
            <a:xfrm>
              <a:off x="0" y="0"/>
              <a:ext cx="7320920" cy="512464"/>
            </a:xfrm>
            <a:custGeom>
              <a:avLst/>
              <a:gdLst/>
              <a:ahLst/>
              <a:cxnLst/>
              <a:rect l="l" t="t" r="r" b="b"/>
              <a:pathLst>
                <a:path w="7320920" h="512464">
                  <a:moveTo>
                    <a:pt x="0" y="0"/>
                  </a:moveTo>
                  <a:lnTo>
                    <a:pt x="7320920" y="0"/>
                  </a:lnTo>
                  <a:lnTo>
                    <a:pt x="7320920" y="512464"/>
                  </a:lnTo>
                  <a:lnTo>
                    <a:pt x="0" y="512464"/>
                  </a:lnTo>
                  <a:close/>
                </a:path>
              </a:pathLst>
            </a:custGeom>
            <a:blipFill>
              <a:blip r:embed="rId1">
                <a:alphaModFix amt="0"/>
              </a:blip>
              <a:stretch>
                <a:fillRect t="-228356" b="-228358"/>
              </a:stretch>
            </a:blipFill>
          </p:spPr>
        </p:sp>
        <p:sp>
          <p:nvSpPr>
            <p:cNvPr id="90" name="TextBox 90"/>
            <p:cNvSpPr txBox="1"/>
            <p:nvPr/>
          </p:nvSpPr>
          <p:spPr>
            <a:xfrm>
              <a:off x="0" y="-9525"/>
              <a:ext cx="7320915" cy="521995"/>
            </a:xfrm>
            <a:prstGeom prst="rect">
              <a:avLst/>
            </a:prstGeom>
          </p:spPr>
          <p:txBody>
            <a:bodyPr lIns="0" tIns="0" rIns="0" bIns="0" rtlCol="0" anchor="ctr"/>
            <a:lstStyle/>
            <a:p>
              <a:pPr algn="l">
                <a:lnSpc>
                  <a:spcPts val="2035"/>
                </a:lnSpc>
              </a:pPr>
              <a:r>
                <a:rPr lang="en-US" sz="1695">
                  <a:solidFill>
                    <a:srgbClr val="FFFFFF"/>
                  </a:solidFill>
                  <a:latin typeface="Aptos"/>
                  <a:ea typeface="Aptos"/>
                  <a:cs typeface="Aptos"/>
                  <a:sym typeface="Aptos"/>
                </a:rPr>
                <a:t>delivery_delay = delivered_customer_date − estimated_delivery_date</a:t>
              </a:r>
              <a:endParaRPr lang="en-US" sz="1695">
                <a:solidFill>
                  <a:srgbClr val="FFFFFF"/>
                </a:solidFill>
                <a:latin typeface="Aptos"/>
                <a:ea typeface="Aptos"/>
                <a:cs typeface="Aptos"/>
                <a:sym typeface="Aptos"/>
              </a:endParaRPr>
            </a:p>
          </p:txBody>
        </p:sp>
      </p:grpSp>
      <p:grpSp>
        <p:nvGrpSpPr>
          <p:cNvPr id="91" name="Group 91"/>
          <p:cNvGrpSpPr/>
          <p:nvPr/>
        </p:nvGrpSpPr>
        <p:grpSpPr>
          <a:xfrm>
            <a:off x="10848567" y="6548028"/>
            <a:ext cx="6890052" cy="1879797"/>
            <a:chOff x="0" y="0"/>
            <a:chExt cx="9186736" cy="2506396"/>
          </a:xfrm>
        </p:grpSpPr>
        <p:sp>
          <p:nvSpPr>
            <p:cNvPr id="92" name="Freeform 92"/>
            <p:cNvSpPr/>
            <p:nvPr/>
          </p:nvSpPr>
          <p:spPr>
            <a:xfrm>
              <a:off x="0" y="0"/>
              <a:ext cx="9186799" cy="2506472"/>
            </a:xfrm>
            <a:custGeom>
              <a:avLst/>
              <a:gdLst/>
              <a:ahLst/>
              <a:cxnLst/>
              <a:rect l="l" t="t" r="r" b="b"/>
              <a:pathLst>
                <a:path w="9186799" h="2506472">
                  <a:moveTo>
                    <a:pt x="0" y="167132"/>
                  </a:moveTo>
                  <a:cubicBezTo>
                    <a:pt x="0" y="74803"/>
                    <a:pt x="74803" y="0"/>
                    <a:pt x="167132" y="0"/>
                  </a:cubicBezTo>
                  <a:lnTo>
                    <a:pt x="9019667" y="0"/>
                  </a:lnTo>
                  <a:cubicBezTo>
                    <a:pt x="9111997" y="0"/>
                    <a:pt x="9186799" y="74803"/>
                    <a:pt x="9186799" y="167132"/>
                  </a:cubicBezTo>
                  <a:lnTo>
                    <a:pt x="9186799" y="2339340"/>
                  </a:lnTo>
                  <a:cubicBezTo>
                    <a:pt x="9186799" y="2431669"/>
                    <a:pt x="9111997" y="2506472"/>
                    <a:pt x="9019667" y="2506472"/>
                  </a:cubicBezTo>
                  <a:lnTo>
                    <a:pt x="167132" y="2506472"/>
                  </a:lnTo>
                  <a:cubicBezTo>
                    <a:pt x="74803" y="2506345"/>
                    <a:pt x="0" y="2431542"/>
                    <a:pt x="0" y="2339340"/>
                  </a:cubicBezTo>
                  <a:close/>
                </a:path>
              </a:pathLst>
            </a:custGeom>
            <a:solidFill>
              <a:srgbClr val="829BDC"/>
            </a:solidFill>
            <a:ln w="26691" cap="sq">
              <a:solidFill>
                <a:srgbClr val="1B0E2C"/>
              </a:solidFill>
              <a:prstDash val="solid"/>
              <a:miter/>
            </a:ln>
          </p:spPr>
        </p:sp>
      </p:grpSp>
      <p:grpSp>
        <p:nvGrpSpPr>
          <p:cNvPr id="93" name="Group 93"/>
          <p:cNvGrpSpPr/>
          <p:nvPr/>
        </p:nvGrpSpPr>
        <p:grpSpPr>
          <a:xfrm>
            <a:off x="11232529" y="6890814"/>
            <a:ext cx="6108392" cy="356892"/>
            <a:chOff x="0" y="0"/>
            <a:chExt cx="8144523" cy="475856"/>
          </a:xfrm>
        </p:grpSpPr>
        <p:sp>
          <p:nvSpPr>
            <p:cNvPr id="94" name="Freeform 94"/>
            <p:cNvSpPr/>
            <p:nvPr/>
          </p:nvSpPr>
          <p:spPr>
            <a:xfrm>
              <a:off x="0" y="0"/>
              <a:ext cx="8144523" cy="475860"/>
            </a:xfrm>
            <a:custGeom>
              <a:avLst/>
              <a:gdLst/>
              <a:ahLst/>
              <a:cxnLst/>
              <a:rect l="l" t="t" r="r" b="b"/>
              <a:pathLst>
                <a:path w="8144523" h="475860">
                  <a:moveTo>
                    <a:pt x="0" y="0"/>
                  </a:moveTo>
                  <a:lnTo>
                    <a:pt x="8144523" y="0"/>
                  </a:lnTo>
                  <a:lnTo>
                    <a:pt x="8144523" y="475860"/>
                  </a:lnTo>
                  <a:lnTo>
                    <a:pt x="0" y="475860"/>
                  </a:lnTo>
                  <a:close/>
                </a:path>
              </a:pathLst>
            </a:custGeom>
            <a:blipFill>
              <a:blip r:embed="rId1">
                <a:alphaModFix amt="0"/>
              </a:blip>
              <a:stretch>
                <a:fillRect t="-283494" b="-283493"/>
              </a:stretch>
            </a:blipFill>
          </p:spPr>
        </p:sp>
        <p:sp>
          <p:nvSpPr>
            <p:cNvPr id="95" name="TextBox 95"/>
            <p:cNvSpPr txBox="1"/>
            <p:nvPr/>
          </p:nvSpPr>
          <p:spPr>
            <a:xfrm>
              <a:off x="0" y="0"/>
              <a:ext cx="8144523" cy="475856"/>
            </a:xfrm>
            <a:prstGeom prst="rect">
              <a:avLst/>
            </a:prstGeom>
          </p:spPr>
          <p:txBody>
            <a:bodyPr lIns="0" tIns="0" rIns="0" bIns="0" rtlCol="0" anchor="ctr"/>
            <a:lstStyle/>
            <a:p>
              <a:pPr algn="l">
                <a:lnSpc>
                  <a:spcPts val="2880"/>
                </a:lnSpc>
              </a:pPr>
              <a:r>
                <a:rPr lang="en-US" sz="2400" b="1">
                  <a:solidFill>
                    <a:srgbClr val="FFFFFF"/>
                  </a:solidFill>
                  <a:latin typeface="Aptos Bold" panose="020B0004020202020204"/>
                  <a:ea typeface="Aptos Bold" panose="020B0004020202020204"/>
                  <a:cs typeface="Aptos Bold" panose="020B0004020202020204"/>
                  <a:sym typeface="Aptos Bold" panose="020B0004020202020204"/>
                </a:rPr>
                <a:t>Meaningful remaining nulls</a:t>
              </a:r>
              <a:endParaRPr lang="en-US" sz="240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96" name="Group 96"/>
          <p:cNvGrpSpPr/>
          <p:nvPr/>
        </p:nvGrpSpPr>
        <p:grpSpPr>
          <a:xfrm>
            <a:off x="11232529" y="7384980"/>
            <a:ext cx="6108392" cy="576520"/>
            <a:chOff x="0" y="0"/>
            <a:chExt cx="8144523" cy="768693"/>
          </a:xfrm>
        </p:grpSpPr>
        <p:sp>
          <p:nvSpPr>
            <p:cNvPr id="97" name="Freeform 97"/>
            <p:cNvSpPr/>
            <p:nvPr/>
          </p:nvSpPr>
          <p:spPr>
            <a:xfrm>
              <a:off x="0" y="0"/>
              <a:ext cx="8144523" cy="768697"/>
            </a:xfrm>
            <a:custGeom>
              <a:avLst/>
              <a:gdLst/>
              <a:ahLst/>
              <a:cxnLst/>
              <a:rect l="l" t="t" r="r" b="b"/>
              <a:pathLst>
                <a:path w="8144523" h="768697">
                  <a:moveTo>
                    <a:pt x="0" y="0"/>
                  </a:moveTo>
                  <a:lnTo>
                    <a:pt x="8144523" y="0"/>
                  </a:lnTo>
                  <a:lnTo>
                    <a:pt x="8144523" y="768697"/>
                  </a:lnTo>
                  <a:lnTo>
                    <a:pt x="0" y="768697"/>
                  </a:lnTo>
                  <a:close/>
                </a:path>
              </a:pathLst>
            </a:custGeom>
            <a:blipFill>
              <a:blip r:embed="rId1">
                <a:alphaModFix amt="0"/>
              </a:blip>
              <a:stretch>
                <a:fillRect t="-156448" b="-156448"/>
              </a:stretch>
            </a:blipFill>
          </p:spPr>
        </p:sp>
        <p:sp>
          <p:nvSpPr>
            <p:cNvPr id="98" name="TextBox 98"/>
            <p:cNvSpPr txBox="1"/>
            <p:nvPr/>
          </p:nvSpPr>
          <p:spPr>
            <a:xfrm>
              <a:off x="0" y="0"/>
              <a:ext cx="8144523" cy="768693"/>
            </a:xfrm>
            <a:prstGeom prst="rect">
              <a:avLst/>
            </a:prstGeom>
          </p:spPr>
          <p:txBody>
            <a:bodyPr lIns="0" tIns="0" rIns="0" bIns="0" rtlCol="0" anchor="ctr"/>
            <a:lstStyle/>
            <a:p>
              <a:pPr algn="l">
                <a:lnSpc>
                  <a:spcPts val="1890"/>
                </a:lnSpc>
              </a:pPr>
              <a:r>
                <a:rPr lang="en-US" sz="1575">
                  <a:solidFill>
                    <a:srgbClr val="FFFFFF"/>
                  </a:solidFill>
                  <a:latin typeface="Aptos"/>
                  <a:ea typeface="Aptos"/>
                  <a:cs typeface="Aptos"/>
                  <a:sym typeface="Aptos"/>
                </a:rPr>
                <a:t>Some delivery and review dates remain empty because cancelled, unavailable or undelivered orders do not have final delivery records.</a:t>
              </a:r>
              <a:endParaRPr lang="en-US" sz="1575">
                <a:solidFill>
                  <a:srgbClr val="FFFFFF"/>
                </a:solidFill>
                <a:latin typeface="Aptos"/>
                <a:ea typeface="Aptos"/>
                <a:cs typeface="Aptos"/>
                <a:sym typeface="Aptos"/>
              </a:endParaRPr>
            </a:p>
          </p:txBody>
        </p:sp>
      </p:grpSp>
      <p:grpSp>
        <p:nvGrpSpPr>
          <p:cNvPr id="99" name="Group 99"/>
          <p:cNvGrpSpPr/>
          <p:nvPr/>
        </p:nvGrpSpPr>
        <p:grpSpPr>
          <a:xfrm>
            <a:off x="524521" y="4705419"/>
            <a:ext cx="2709772" cy="4552881"/>
            <a:chOff x="0" y="0"/>
            <a:chExt cx="483760" cy="812800"/>
          </a:xfrm>
        </p:grpSpPr>
        <p:sp>
          <p:nvSpPr>
            <p:cNvPr id="100" name="Freeform 100"/>
            <p:cNvSpPr/>
            <p:nvPr/>
          </p:nvSpPr>
          <p:spPr>
            <a:xfrm>
              <a:off x="0" y="0"/>
              <a:ext cx="483760" cy="812800"/>
            </a:xfrm>
            <a:custGeom>
              <a:avLst/>
              <a:gdLst/>
              <a:ahLst/>
              <a:cxnLst/>
              <a:rect l="l" t="t" r="r" b="b"/>
              <a:pathLst>
                <a:path w="483760" h="812800">
                  <a:moveTo>
                    <a:pt x="65712" y="0"/>
                  </a:moveTo>
                  <a:lnTo>
                    <a:pt x="418048" y="0"/>
                  </a:lnTo>
                  <a:cubicBezTo>
                    <a:pt x="435476" y="0"/>
                    <a:pt x="452190" y="6923"/>
                    <a:pt x="464514" y="19247"/>
                  </a:cubicBezTo>
                  <a:cubicBezTo>
                    <a:pt x="476837" y="31570"/>
                    <a:pt x="483760" y="48284"/>
                    <a:pt x="483760" y="65712"/>
                  </a:cubicBezTo>
                  <a:lnTo>
                    <a:pt x="483760" y="747088"/>
                  </a:lnTo>
                  <a:cubicBezTo>
                    <a:pt x="483760" y="764516"/>
                    <a:pt x="476837" y="781230"/>
                    <a:pt x="464514" y="793553"/>
                  </a:cubicBezTo>
                  <a:cubicBezTo>
                    <a:pt x="452190" y="805877"/>
                    <a:pt x="435476" y="812800"/>
                    <a:pt x="418048" y="812800"/>
                  </a:cubicBezTo>
                  <a:lnTo>
                    <a:pt x="65712" y="812800"/>
                  </a:lnTo>
                  <a:cubicBezTo>
                    <a:pt x="48284" y="812800"/>
                    <a:pt x="31570" y="805877"/>
                    <a:pt x="19247" y="793553"/>
                  </a:cubicBezTo>
                  <a:cubicBezTo>
                    <a:pt x="6923" y="781230"/>
                    <a:pt x="0" y="764516"/>
                    <a:pt x="0" y="747088"/>
                  </a:cubicBezTo>
                  <a:lnTo>
                    <a:pt x="0" y="65712"/>
                  </a:lnTo>
                  <a:cubicBezTo>
                    <a:pt x="0" y="48284"/>
                    <a:pt x="6923" y="31570"/>
                    <a:pt x="19247" y="19247"/>
                  </a:cubicBezTo>
                  <a:cubicBezTo>
                    <a:pt x="31570" y="6923"/>
                    <a:pt x="48284" y="0"/>
                    <a:pt x="65712" y="0"/>
                  </a:cubicBezTo>
                  <a:close/>
                </a:path>
              </a:pathLst>
            </a:custGeom>
            <a:blipFill>
              <a:blip r:embed="rId2"/>
              <a:stretch>
                <a:fillRect l="-43342" r="-43342"/>
              </a:stretch>
            </a:blipFill>
          </p:spPr>
        </p:sp>
      </p:grpSp>
      <p:grpSp>
        <p:nvGrpSpPr>
          <p:cNvPr id="101" name="Group 101"/>
          <p:cNvGrpSpPr/>
          <p:nvPr/>
        </p:nvGrpSpPr>
        <p:grpSpPr>
          <a:xfrm>
            <a:off x="1102563" y="1154103"/>
            <a:ext cx="1553688" cy="1270637"/>
            <a:chOff x="0" y="0"/>
            <a:chExt cx="543719" cy="444664"/>
          </a:xfrm>
        </p:grpSpPr>
        <p:sp>
          <p:nvSpPr>
            <p:cNvPr id="102" name="Freeform 102"/>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3"/>
              <a:stretch>
                <a:fillRect l="-4521" r="-4521"/>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9535" y="-9535"/>
            <a:ext cx="18320909" cy="10314108"/>
            <a:chOff x="0" y="0"/>
            <a:chExt cx="24427878" cy="13752144"/>
          </a:xfrm>
        </p:grpSpPr>
        <p:sp>
          <p:nvSpPr>
            <p:cNvPr id="3" name="Freeform 3"/>
            <p:cNvSpPr/>
            <p:nvPr/>
          </p:nvSpPr>
          <p:spPr>
            <a:xfrm>
              <a:off x="0" y="0"/>
              <a:ext cx="24427814" cy="13752195"/>
            </a:xfrm>
            <a:custGeom>
              <a:avLst/>
              <a:gdLst/>
              <a:ahLst/>
              <a:cxnLst/>
              <a:rect l="l" t="t" r="r" b="b"/>
              <a:pathLst>
                <a:path w="24427814" h="13752195">
                  <a:moveTo>
                    <a:pt x="0" y="0"/>
                  </a:moveTo>
                  <a:lnTo>
                    <a:pt x="24427814" y="0"/>
                  </a:lnTo>
                  <a:lnTo>
                    <a:pt x="24427814" y="13752195"/>
                  </a:lnTo>
                  <a:lnTo>
                    <a:pt x="0" y="13752195"/>
                  </a:lnTo>
                  <a:close/>
                </a:path>
              </a:pathLst>
            </a:custGeom>
            <a:solidFill>
              <a:srgbClr val="3B1368"/>
            </a:solidFill>
            <a:ln w="19065" cap="sq">
              <a:solidFill>
                <a:srgbClr val="3B1368"/>
              </a:solidFill>
              <a:prstDash val="solid"/>
              <a:miter/>
            </a:ln>
          </p:spPr>
        </p:sp>
      </p:grpSp>
      <p:grpSp>
        <p:nvGrpSpPr>
          <p:cNvPr id="4" name="Group 4"/>
          <p:cNvGrpSpPr/>
          <p:nvPr/>
        </p:nvGrpSpPr>
        <p:grpSpPr>
          <a:xfrm>
            <a:off x="-9535" y="-9535"/>
            <a:ext cx="3768226" cy="10314108"/>
            <a:chOff x="0" y="0"/>
            <a:chExt cx="5024301" cy="13752144"/>
          </a:xfrm>
        </p:grpSpPr>
        <p:sp>
          <p:nvSpPr>
            <p:cNvPr id="5" name="Freeform 5"/>
            <p:cNvSpPr/>
            <p:nvPr/>
          </p:nvSpPr>
          <p:spPr>
            <a:xfrm>
              <a:off x="0" y="0"/>
              <a:ext cx="5024267" cy="13752195"/>
            </a:xfrm>
            <a:custGeom>
              <a:avLst/>
              <a:gdLst/>
              <a:ahLst/>
              <a:cxnLst/>
              <a:rect l="l" t="t" r="r" b="b"/>
              <a:pathLst>
                <a:path w="5024267" h="13752195">
                  <a:moveTo>
                    <a:pt x="0" y="0"/>
                  </a:moveTo>
                  <a:lnTo>
                    <a:pt x="5024267" y="0"/>
                  </a:lnTo>
                  <a:lnTo>
                    <a:pt x="5024267" y="13752195"/>
                  </a:lnTo>
                  <a:lnTo>
                    <a:pt x="0" y="13752195"/>
                  </a:lnTo>
                  <a:close/>
                </a:path>
              </a:pathLst>
            </a:custGeom>
            <a:solidFill>
              <a:srgbClr val="BFC6F8"/>
            </a:solidFill>
            <a:ln w="19065" cap="sq">
              <a:solidFill>
                <a:srgbClr val="BFC6F8"/>
              </a:solidFill>
              <a:prstDash val="solid"/>
              <a:miter/>
            </a:ln>
          </p:spPr>
        </p:sp>
      </p:grpSp>
      <p:grpSp>
        <p:nvGrpSpPr>
          <p:cNvPr id="6" name="Group 6"/>
          <p:cNvGrpSpPr/>
          <p:nvPr/>
        </p:nvGrpSpPr>
        <p:grpSpPr>
          <a:xfrm>
            <a:off x="4304252" y="9636157"/>
            <a:ext cx="3157147" cy="411804"/>
            <a:chOff x="0" y="0"/>
            <a:chExt cx="4209529" cy="549072"/>
          </a:xfrm>
        </p:grpSpPr>
        <p:sp>
          <p:nvSpPr>
            <p:cNvPr id="7" name="Freeform 7"/>
            <p:cNvSpPr/>
            <p:nvPr/>
          </p:nvSpPr>
          <p:spPr>
            <a:xfrm>
              <a:off x="0" y="0"/>
              <a:ext cx="4209529" cy="549069"/>
            </a:xfrm>
            <a:custGeom>
              <a:avLst/>
              <a:gdLst/>
              <a:ahLst/>
              <a:cxnLst/>
              <a:rect l="l" t="t" r="r" b="b"/>
              <a:pathLst>
                <a:path w="4209529" h="549069">
                  <a:moveTo>
                    <a:pt x="0" y="0"/>
                  </a:moveTo>
                  <a:lnTo>
                    <a:pt x="4209529" y="0"/>
                  </a:lnTo>
                  <a:lnTo>
                    <a:pt x="4209529" y="549069"/>
                  </a:lnTo>
                  <a:lnTo>
                    <a:pt x="0" y="549069"/>
                  </a:lnTo>
                  <a:close/>
                </a:path>
              </a:pathLst>
            </a:custGeom>
            <a:blipFill>
              <a:blip r:embed="rId1">
                <a:alphaModFix amt="0"/>
              </a:blip>
              <a:stretch>
                <a:fillRect t="-99385" b="-99385"/>
              </a:stretch>
            </a:blipFill>
          </p:spPr>
        </p:sp>
        <p:sp>
          <p:nvSpPr>
            <p:cNvPr id="8" name="TextBox 8"/>
            <p:cNvSpPr txBox="1"/>
            <p:nvPr/>
          </p:nvSpPr>
          <p:spPr>
            <a:xfrm>
              <a:off x="0" y="0"/>
              <a:ext cx="4209529" cy="549072"/>
            </a:xfrm>
            <a:prstGeom prst="rect">
              <a:avLst/>
            </a:prstGeom>
          </p:spPr>
          <p:txBody>
            <a:bodyPr lIns="0" tIns="0" rIns="0" bIns="0" rtlCol="0" anchor="ctr"/>
            <a:lstStyle/>
            <a:p>
              <a:pPr algn="l">
                <a:lnSpc>
                  <a:spcPts val="3240"/>
                </a:lnSpc>
              </a:pPr>
              <a:r>
                <a:rPr lang="en-US" sz="2700">
                  <a:solidFill>
                    <a:srgbClr val="FFFFFF"/>
                  </a:solidFill>
                  <a:latin typeface="Aptos"/>
                  <a:ea typeface="Aptos"/>
                  <a:cs typeface="Aptos"/>
                  <a:sym typeface="Aptos"/>
                </a:rPr>
                <a:t>Milestone 1</a:t>
              </a:r>
              <a:endParaRPr lang="en-US" sz="2700">
                <a:solidFill>
                  <a:srgbClr val="FFFFFF"/>
                </a:solidFill>
                <a:latin typeface="Aptos"/>
                <a:ea typeface="Aptos"/>
                <a:cs typeface="Aptos"/>
                <a:sym typeface="Aptos"/>
              </a:endParaRPr>
            </a:p>
          </p:txBody>
        </p:sp>
      </p:grpSp>
      <p:grpSp>
        <p:nvGrpSpPr>
          <p:cNvPr id="9" name="Group 9"/>
          <p:cNvGrpSpPr/>
          <p:nvPr/>
        </p:nvGrpSpPr>
        <p:grpSpPr>
          <a:xfrm>
            <a:off x="16266166" y="9636157"/>
            <a:ext cx="1441304" cy="411804"/>
            <a:chOff x="0" y="0"/>
            <a:chExt cx="1921739" cy="549072"/>
          </a:xfrm>
        </p:grpSpPr>
        <p:sp>
          <p:nvSpPr>
            <p:cNvPr id="10" name="Freeform 10"/>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1">
                <a:alphaModFix amt="0"/>
              </a:blip>
              <a:stretch>
                <a:fillRect t="-18197" b="-18197"/>
              </a:stretch>
            </a:blipFill>
          </p:spPr>
        </p:sp>
        <p:sp>
          <p:nvSpPr>
            <p:cNvPr id="11" name="TextBox 11"/>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a:t>
              </a:r>
              <a:r>
                <a:rPr lang="en-IN" altLang="en-US" sz="2100">
                  <a:solidFill>
                    <a:srgbClr val="FFFFFF"/>
                  </a:solidFill>
                  <a:latin typeface="Aptos"/>
                  <a:ea typeface="Aptos"/>
                  <a:cs typeface="Aptos"/>
                  <a:sym typeface="Aptos"/>
                </a:rPr>
                <a:t>7</a:t>
              </a:r>
              <a:endParaRPr lang="en-IN" altLang="en-US" sz="2100">
                <a:solidFill>
                  <a:srgbClr val="FFFFFF"/>
                </a:solidFill>
                <a:latin typeface="Aptos"/>
                <a:ea typeface="Aptos"/>
                <a:cs typeface="Aptos"/>
                <a:sym typeface="Aptos"/>
              </a:endParaRPr>
            </a:p>
          </p:txBody>
        </p:sp>
      </p:grpSp>
      <p:grpSp>
        <p:nvGrpSpPr>
          <p:cNvPr id="12" name="Group 12"/>
          <p:cNvGrpSpPr/>
          <p:nvPr/>
        </p:nvGrpSpPr>
        <p:grpSpPr>
          <a:xfrm>
            <a:off x="4304252" y="754971"/>
            <a:ext cx="13726725" cy="823608"/>
            <a:chOff x="0" y="0"/>
            <a:chExt cx="18302300" cy="1098144"/>
          </a:xfrm>
        </p:grpSpPr>
        <p:sp>
          <p:nvSpPr>
            <p:cNvPr id="13" name="Freeform 13"/>
            <p:cNvSpPr/>
            <p:nvPr/>
          </p:nvSpPr>
          <p:spPr>
            <a:xfrm>
              <a:off x="0" y="0"/>
              <a:ext cx="18302298" cy="1098138"/>
            </a:xfrm>
            <a:custGeom>
              <a:avLst/>
              <a:gdLst/>
              <a:ahLst/>
              <a:cxnLst/>
              <a:rect l="l" t="t" r="r" b="b"/>
              <a:pathLst>
                <a:path w="18302298" h="1098138">
                  <a:moveTo>
                    <a:pt x="0" y="0"/>
                  </a:moveTo>
                  <a:lnTo>
                    <a:pt x="18302298" y="0"/>
                  </a:lnTo>
                  <a:lnTo>
                    <a:pt x="18302298" y="1098138"/>
                  </a:lnTo>
                  <a:lnTo>
                    <a:pt x="0" y="1098138"/>
                  </a:lnTo>
                  <a:close/>
                </a:path>
              </a:pathLst>
            </a:custGeom>
            <a:blipFill>
              <a:blip r:embed="rId1">
                <a:alphaModFix amt="0"/>
              </a:blip>
              <a:stretch>
                <a:fillRect t="-274750" b="-274750"/>
              </a:stretch>
            </a:blipFill>
          </p:spPr>
        </p:sp>
        <p:sp>
          <p:nvSpPr>
            <p:cNvPr id="14" name="TextBox 14"/>
            <p:cNvSpPr txBox="1"/>
            <p:nvPr/>
          </p:nvSpPr>
          <p:spPr>
            <a:xfrm>
              <a:off x="0" y="-9525"/>
              <a:ext cx="18302300" cy="1107669"/>
            </a:xfrm>
            <a:prstGeom prst="rect">
              <a:avLst/>
            </a:prstGeom>
          </p:spPr>
          <p:txBody>
            <a:bodyPr lIns="0" tIns="0" rIns="0" bIns="0" rtlCol="0" anchor="ctr"/>
            <a:lstStyle/>
            <a:p>
              <a:pPr algn="l">
                <a:lnSpc>
                  <a:spcPts val="6485"/>
                </a:lnSpc>
              </a:pPr>
              <a:r>
                <a:rPr lang="en-US" sz="5405">
                  <a:solidFill>
                    <a:srgbClr val="FFFFFF"/>
                  </a:solidFill>
                  <a:latin typeface="Georgia" panose="02040502050405020303"/>
                  <a:ea typeface="Georgia" panose="02040502050405020303"/>
                  <a:cs typeface="Georgia" panose="02040502050405020303"/>
                  <a:sym typeface="Georgia" panose="02040502050405020303"/>
                </a:rPr>
                <a:t>Outlier Detection &amp; Treatment</a:t>
              </a:r>
              <a:endParaRPr lang="en-US" sz="54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15" name="Group 15"/>
          <p:cNvGrpSpPr/>
          <p:nvPr/>
        </p:nvGrpSpPr>
        <p:grpSpPr>
          <a:xfrm>
            <a:off x="4304252" y="1795487"/>
            <a:ext cx="13081568" cy="856477"/>
            <a:chOff x="0" y="0"/>
            <a:chExt cx="17442091" cy="1141970"/>
          </a:xfrm>
        </p:grpSpPr>
        <p:sp>
          <p:nvSpPr>
            <p:cNvPr id="16" name="Freeform 16"/>
            <p:cNvSpPr/>
            <p:nvPr/>
          </p:nvSpPr>
          <p:spPr>
            <a:xfrm>
              <a:off x="0" y="0"/>
              <a:ext cx="17442095" cy="1141973"/>
            </a:xfrm>
            <a:custGeom>
              <a:avLst/>
              <a:gdLst/>
              <a:ahLst/>
              <a:cxnLst/>
              <a:rect l="l" t="t" r="r" b="b"/>
              <a:pathLst>
                <a:path w="17442095" h="1141973">
                  <a:moveTo>
                    <a:pt x="0" y="0"/>
                  </a:moveTo>
                  <a:lnTo>
                    <a:pt x="17442095" y="0"/>
                  </a:lnTo>
                  <a:lnTo>
                    <a:pt x="17442095" y="1141973"/>
                  </a:lnTo>
                  <a:lnTo>
                    <a:pt x="0" y="1141973"/>
                  </a:lnTo>
                  <a:close/>
                </a:path>
              </a:pathLst>
            </a:custGeom>
            <a:blipFill>
              <a:blip r:embed="rId1">
                <a:alphaModFix amt="0"/>
              </a:blip>
              <a:stretch>
                <a:fillRect t="-266302" r="1364" b="-220793"/>
              </a:stretch>
            </a:blipFill>
          </p:spPr>
        </p:sp>
        <p:sp>
          <p:nvSpPr>
            <p:cNvPr id="17" name="TextBox 17"/>
            <p:cNvSpPr txBox="1"/>
            <p:nvPr/>
          </p:nvSpPr>
          <p:spPr>
            <a:xfrm>
              <a:off x="0" y="0"/>
              <a:ext cx="17442091" cy="1141970"/>
            </a:xfrm>
            <a:prstGeom prst="rect">
              <a:avLst/>
            </a:prstGeom>
          </p:spPr>
          <p:txBody>
            <a:bodyPr lIns="0" tIns="0" rIns="0" bIns="0" rtlCol="0" anchor="ctr"/>
            <a:lstStyle/>
            <a:p>
              <a:pPr algn="l">
                <a:lnSpc>
                  <a:spcPts val="3060"/>
                </a:lnSpc>
              </a:pPr>
              <a:r>
                <a:rPr lang="en-US" sz="2550">
                  <a:solidFill>
                    <a:srgbClr val="D9D7F2"/>
                  </a:solidFill>
                  <a:latin typeface="Aptos"/>
                  <a:ea typeface="Aptos"/>
                  <a:cs typeface="Aptos"/>
                  <a:sym typeface="Aptos"/>
                </a:rPr>
                <a:t>Boxplots and IQR were used to detect extreme values in price, freight and product dimensions.</a:t>
              </a:r>
              <a:endParaRPr lang="en-US" sz="2550">
                <a:solidFill>
                  <a:srgbClr val="D9D7F2"/>
                </a:solidFill>
                <a:latin typeface="Aptos"/>
                <a:ea typeface="Aptos"/>
                <a:cs typeface="Aptos"/>
                <a:sym typeface="Aptos"/>
              </a:endParaRPr>
            </a:p>
          </p:txBody>
        </p:sp>
      </p:grpSp>
      <p:grpSp>
        <p:nvGrpSpPr>
          <p:cNvPr id="18" name="Group 18"/>
          <p:cNvGrpSpPr/>
          <p:nvPr/>
        </p:nvGrpSpPr>
        <p:grpSpPr>
          <a:xfrm>
            <a:off x="4304252" y="2800297"/>
            <a:ext cx="8917906" cy="4718905"/>
            <a:chOff x="0" y="0"/>
            <a:chExt cx="12737897" cy="6740251"/>
          </a:xfrm>
        </p:grpSpPr>
        <p:sp>
          <p:nvSpPr>
            <p:cNvPr id="19" name="Freeform 19" descr="/mnt/data/notebook_outputs/cell27_out0.png"/>
            <p:cNvSpPr/>
            <p:nvPr/>
          </p:nvSpPr>
          <p:spPr>
            <a:xfrm>
              <a:off x="0" y="0"/>
              <a:ext cx="12737896" cy="6740251"/>
            </a:xfrm>
            <a:custGeom>
              <a:avLst/>
              <a:gdLst/>
              <a:ahLst/>
              <a:cxnLst/>
              <a:rect l="l" t="t" r="r" b="b"/>
              <a:pathLst>
                <a:path w="12737896" h="6740251">
                  <a:moveTo>
                    <a:pt x="0" y="0"/>
                  </a:moveTo>
                  <a:lnTo>
                    <a:pt x="12737896" y="0"/>
                  </a:lnTo>
                  <a:lnTo>
                    <a:pt x="12737896" y="6740251"/>
                  </a:lnTo>
                  <a:lnTo>
                    <a:pt x="0" y="6740251"/>
                  </a:lnTo>
                  <a:lnTo>
                    <a:pt x="0" y="0"/>
                  </a:lnTo>
                  <a:close/>
                </a:path>
              </a:pathLst>
            </a:custGeom>
            <a:blipFill>
              <a:blip r:embed="rId2"/>
              <a:stretch>
                <a:fillRect b="-198"/>
              </a:stretch>
            </a:blipFill>
          </p:spPr>
        </p:sp>
      </p:grpSp>
      <p:grpSp>
        <p:nvGrpSpPr>
          <p:cNvPr id="20" name="Group 20"/>
          <p:cNvGrpSpPr/>
          <p:nvPr/>
        </p:nvGrpSpPr>
        <p:grpSpPr>
          <a:xfrm>
            <a:off x="13600689" y="2800297"/>
            <a:ext cx="2524371" cy="531152"/>
            <a:chOff x="0" y="0"/>
            <a:chExt cx="3365828" cy="708203"/>
          </a:xfrm>
        </p:grpSpPr>
        <p:sp>
          <p:nvSpPr>
            <p:cNvPr id="21" name="Freeform 21"/>
            <p:cNvSpPr/>
            <p:nvPr/>
          </p:nvSpPr>
          <p:spPr>
            <a:xfrm>
              <a:off x="0" y="0"/>
              <a:ext cx="3365879" cy="708152"/>
            </a:xfrm>
            <a:custGeom>
              <a:avLst/>
              <a:gdLst/>
              <a:ahLst/>
              <a:cxnLst/>
              <a:rect l="l" t="t" r="r" b="b"/>
              <a:pathLst>
                <a:path w="3365879" h="708152">
                  <a:moveTo>
                    <a:pt x="0" y="0"/>
                  </a:moveTo>
                  <a:lnTo>
                    <a:pt x="3365879" y="0"/>
                  </a:lnTo>
                  <a:lnTo>
                    <a:pt x="3365879" y="708152"/>
                  </a:lnTo>
                  <a:lnTo>
                    <a:pt x="0" y="708152"/>
                  </a:lnTo>
                  <a:close/>
                </a:path>
              </a:pathLst>
            </a:custGeom>
            <a:solidFill>
              <a:srgbClr val="829BDC"/>
            </a:solidFill>
            <a:ln w="9532" cap="sq">
              <a:solidFill>
                <a:srgbClr val="D8D5E8"/>
              </a:solidFill>
              <a:prstDash val="solid"/>
              <a:miter/>
            </a:ln>
          </p:spPr>
        </p:sp>
      </p:grpSp>
      <p:grpSp>
        <p:nvGrpSpPr>
          <p:cNvPr id="22" name="Group 22"/>
          <p:cNvGrpSpPr/>
          <p:nvPr/>
        </p:nvGrpSpPr>
        <p:grpSpPr>
          <a:xfrm>
            <a:off x="13655370" y="2859972"/>
            <a:ext cx="2415009" cy="411802"/>
            <a:chOff x="0" y="0"/>
            <a:chExt cx="3220012" cy="549069"/>
          </a:xfrm>
        </p:grpSpPr>
        <p:sp>
          <p:nvSpPr>
            <p:cNvPr id="23" name="Freeform 23"/>
            <p:cNvSpPr/>
            <p:nvPr/>
          </p:nvSpPr>
          <p:spPr>
            <a:xfrm>
              <a:off x="0" y="0"/>
              <a:ext cx="3220015" cy="549066"/>
            </a:xfrm>
            <a:custGeom>
              <a:avLst/>
              <a:gdLst/>
              <a:ahLst/>
              <a:cxnLst/>
              <a:rect l="l" t="t" r="r" b="b"/>
              <a:pathLst>
                <a:path w="3220015" h="549066">
                  <a:moveTo>
                    <a:pt x="0" y="0"/>
                  </a:moveTo>
                  <a:lnTo>
                    <a:pt x="3220015" y="0"/>
                  </a:lnTo>
                  <a:lnTo>
                    <a:pt x="3220015" y="549066"/>
                  </a:lnTo>
                  <a:lnTo>
                    <a:pt x="0" y="549066"/>
                  </a:lnTo>
                  <a:close/>
                </a:path>
              </a:pathLst>
            </a:custGeom>
            <a:blipFill>
              <a:blip r:embed="rId1">
                <a:alphaModFix amt="0"/>
              </a:blip>
              <a:stretch>
                <a:fillRect t="-74704" r="-9131" b="-74705"/>
              </a:stretch>
            </a:blipFill>
          </p:spPr>
        </p:sp>
        <p:sp>
          <p:nvSpPr>
            <p:cNvPr id="24" name="TextBox 24"/>
            <p:cNvSpPr txBox="1"/>
            <p:nvPr/>
          </p:nvSpPr>
          <p:spPr>
            <a:xfrm>
              <a:off x="0" y="0"/>
              <a:ext cx="3220012" cy="549069"/>
            </a:xfrm>
            <a:prstGeom prst="rect">
              <a:avLst/>
            </a:prstGeom>
          </p:spPr>
          <p:txBody>
            <a:bodyPr lIns="0" tIns="0" rIns="0" bIns="0" rtlCol="0" anchor="ctr"/>
            <a:lstStyle/>
            <a:p>
              <a:pPr algn="l">
                <a:lnSpc>
                  <a:spcPts val="1765"/>
                </a:lnSpc>
              </a:pPr>
              <a:r>
                <a:rPr lang="en-US" sz="1470" b="1">
                  <a:solidFill>
                    <a:srgbClr val="FFFFFF"/>
                  </a:solidFill>
                  <a:latin typeface="Aptos Bold" panose="020B0004020202020204"/>
                  <a:ea typeface="Aptos Bold" panose="020B0004020202020204"/>
                  <a:cs typeface="Aptos Bold" panose="020B0004020202020204"/>
                  <a:sym typeface="Aptos Bold" panose="020B0004020202020204"/>
                </a:rPr>
                <a:t>Column</a:t>
              </a:r>
              <a:endParaRPr lang="en-US" sz="147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25" name="Group 25"/>
          <p:cNvGrpSpPr/>
          <p:nvPr/>
        </p:nvGrpSpPr>
        <p:grpSpPr>
          <a:xfrm>
            <a:off x="16116323" y="2800297"/>
            <a:ext cx="1581012" cy="531152"/>
            <a:chOff x="0" y="0"/>
            <a:chExt cx="2108016" cy="708203"/>
          </a:xfrm>
        </p:grpSpPr>
        <p:sp>
          <p:nvSpPr>
            <p:cNvPr id="26" name="Freeform 26"/>
            <p:cNvSpPr/>
            <p:nvPr/>
          </p:nvSpPr>
          <p:spPr>
            <a:xfrm>
              <a:off x="0" y="0"/>
              <a:ext cx="2107992" cy="708152"/>
            </a:xfrm>
            <a:custGeom>
              <a:avLst/>
              <a:gdLst/>
              <a:ahLst/>
              <a:cxnLst/>
              <a:rect l="l" t="t" r="r" b="b"/>
              <a:pathLst>
                <a:path w="2107992" h="708152">
                  <a:moveTo>
                    <a:pt x="0" y="0"/>
                  </a:moveTo>
                  <a:lnTo>
                    <a:pt x="2107992" y="0"/>
                  </a:lnTo>
                  <a:lnTo>
                    <a:pt x="2107992" y="708152"/>
                  </a:lnTo>
                  <a:lnTo>
                    <a:pt x="0" y="708152"/>
                  </a:lnTo>
                  <a:close/>
                </a:path>
              </a:pathLst>
            </a:custGeom>
            <a:solidFill>
              <a:srgbClr val="829BDC"/>
            </a:solidFill>
            <a:ln w="9532" cap="sq">
              <a:solidFill>
                <a:srgbClr val="D8D5E8"/>
              </a:solidFill>
              <a:prstDash val="solid"/>
              <a:miter/>
            </a:ln>
          </p:spPr>
        </p:sp>
      </p:grpSp>
      <p:grpSp>
        <p:nvGrpSpPr>
          <p:cNvPr id="27" name="Group 27"/>
          <p:cNvGrpSpPr/>
          <p:nvPr/>
        </p:nvGrpSpPr>
        <p:grpSpPr>
          <a:xfrm>
            <a:off x="16171004" y="2859972"/>
            <a:ext cx="1471650" cy="411802"/>
            <a:chOff x="0" y="0"/>
            <a:chExt cx="1962199" cy="549069"/>
          </a:xfrm>
        </p:grpSpPr>
        <p:sp>
          <p:nvSpPr>
            <p:cNvPr id="28" name="Freeform 28"/>
            <p:cNvSpPr/>
            <p:nvPr/>
          </p:nvSpPr>
          <p:spPr>
            <a:xfrm>
              <a:off x="0" y="0"/>
              <a:ext cx="1962196" cy="549066"/>
            </a:xfrm>
            <a:custGeom>
              <a:avLst/>
              <a:gdLst/>
              <a:ahLst/>
              <a:cxnLst/>
              <a:rect l="l" t="t" r="r" b="b"/>
              <a:pathLst>
                <a:path w="1962196" h="549066">
                  <a:moveTo>
                    <a:pt x="0" y="0"/>
                  </a:moveTo>
                  <a:lnTo>
                    <a:pt x="1962196" y="0"/>
                  </a:lnTo>
                  <a:lnTo>
                    <a:pt x="1962196" y="549066"/>
                  </a:lnTo>
                  <a:lnTo>
                    <a:pt x="0" y="549066"/>
                  </a:lnTo>
                  <a:close/>
                </a:path>
              </a:pathLst>
            </a:custGeom>
            <a:blipFill>
              <a:blip r:embed="rId1">
                <a:alphaModFix amt="0"/>
              </a:blip>
              <a:stretch>
                <a:fillRect t="-25991" r="-9131" b="-25992"/>
              </a:stretch>
            </a:blipFill>
          </p:spPr>
        </p:sp>
        <p:sp>
          <p:nvSpPr>
            <p:cNvPr id="29" name="TextBox 29"/>
            <p:cNvSpPr txBox="1"/>
            <p:nvPr/>
          </p:nvSpPr>
          <p:spPr>
            <a:xfrm>
              <a:off x="0" y="0"/>
              <a:ext cx="1962199" cy="549069"/>
            </a:xfrm>
            <a:prstGeom prst="rect">
              <a:avLst/>
            </a:prstGeom>
          </p:spPr>
          <p:txBody>
            <a:bodyPr lIns="0" tIns="0" rIns="0" bIns="0" rtlCol="0" anchor="ctr"/>
            <a:lstStyle/>
            <a:p>
              <a:pPr algn="ctr">
                <a:lnSpc>
                  <a:spcPts val="1765"/>
                </a:lnSpc>
              </a:pPr>
              <a:r>
                <a:rPr lang="en-US" sz="1470" b="1">
                  <a:solidFill>
                    <a:srgbClr val="FFFFFF"/>
                  </a:solidFill>
                  <a:latin typeface="Aptos Bold" panose="020B0004020202020204"/>
                  <a:ea typeface="Aptos Bold" panose="020B0004020202020204"/>
                  <a:cs typeface="Aptos Bold" panose="020B0004020202020204"/>
                  <a:sym typeface="Aptos Bold" panose="020B0004020202020204"/>
                </a:rPr>
                <a:t>Outliers</a:t>
              </a:r>
              <a:endParaRPr lang="en-US" sz="147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30" name="Group 30"/>
          <p:cNvGrpSpPr/>
          <p:nvPr/>
        </p:nvGrpSpPr>
        <p:grpSpPr>
          <a:xfrm>
            <a:off x="13600689" y="3321914"/>
            <a:ext cx="2524371" cy="531152"/>
            <a:chOff x="0" y="0"/>
            <a:chExt cx="3365828" cy="708203"/>
          </a:xfrm>
        </p:grpSpPr>
        <p:sp>
          <p:nvSpPr>
            <p:cNvPr id="31" name="Freeform 31"/>
            <p:cNvSpPr/>
            <p:nvPr/>
          </p:nvSpPr>
          <p:spPr>
            <a:xfrm>
              <a:off x="0" y="0"/>
              <a:ext cx="3365879" cy="708152"/>
            </a:xfrm>
            <a:custGeom>
              <a:avLst/>
              <a:gdLst/>
              <a:ahLst/>
              <a:cxnLst/>
              <a:rect l="l" t="t" r="r" b="b"/>
              <a:pathLst>
                <a:path w="3365879" h="708152">
                  <a:moveTo>
                    <a:pt x="0" y="0"/>
                  </a:moveTo>
                  <a:lnTo>
                    <a:pt x="3365879" y="0"/>
                  </a:lnTo>
                  <a:lnTo>
                    <a:pt x="3365879" y="708152"/>
                  </a:lnTo>
                  <a:lnTo>
                    <a:pt x="0" y="708152"/>
                  </a:lnTo>
                  <a:close/>
                </a:path>
              </a:pathLst>
            </a:custGeom>
            <a:solidFill>
              <a:srgbClr val="FFFFFF"/>
            </a:solidFill>
            <a:ln w="9532" cap="sq">
              <a:solidFill>
                <a:srgbClr val="D8D5E8"/>
              </a:solidFill>
              <a:prstDash val="solid"/>
              <a:miter/>
            </a:ln>
          </p:spPr>
        </p:sp>
      </p:grpSp>
      <p:grpSp>
        <p:nvGrpSpPr>
          <p:cNvPr id="32" name="Group 32"/>
          <p:cNvGrpSpPr/>
          <p:nvPr/>
        </p:nvGrpSpPr>
        <p:grpSpPr>
          <a:xfrm>
            <a:off x="13655370" y="3381589"/>
            <a:ext cx="2415009" cy="411802"/>
            <a:chOff x="0" y="0"/>
            <a:chExt cx="3220012" cy="549069"/>
          </a:xfrm>
        </p:grpSpPr>
        <p:sp>
          <p:nvSpPr>
            <p:cNvPr id="33" name="Freeform 33"/>
            <p:cNvSpPr/>
            <p:nvPr/>
          </p:nvSpPr>
          <p:spPr>
            <a:xfrm>
              <a:off x="0" y="0"/>
              <a:ext cx="3220015" cy="549066"/>
            </a:xfrm>
            <a:custGeom>
              <a:avLst/>
              <a:gdLst/>
              <a:ahLst/>
              <a:cxnLst/>
              <a:rect l="l" t="t" r="r" b="b"/>
              <a:pathLst>
                <a:path w="3220015" h="549066">
                  <a:moveTo>
                    <a:pt x="0" y="0"/>
                  </a:moveTo>
                  <a:lnTo>
                    <a:pt x="3220015" y="0"/>
                  </a:lnTo>
                  <a:lnTo>
                    <a:pt x="3220015" y="549066"/>
                  </a:lnTo>
                  <a:lnTo>
                    <a:pt x="0" y="549066"/>
                  </a:lnTo>
                  <a:close/>
                </a:path>
              </a:pathLst>
            </a:custGeom>
            <a:blipFill>
              <a:blip r:embed="rId1">
                <a:alphaModFix amt="0"/>
              </a:blip>
              <a:stretch>
                <a:fillRect t="-74704" r="-9131" b="-74705"/>
              </a:stretch>
            </a:blipFill>
          </p:spPr>
        </p:sp>
        <p:sp>
          <p:nvSpPr>
            <p:cNvPr id="34" name="TextBox 34"/>
            <p:cNvSpPr txBox="1"/>
            <p:nvPr/>
          </p:nvSpPr>
          <p:spPr>
            <a:xfrm>
              <a:off x="0" y="0"/>
              <a:ext cx="3220012" cy="549069"/>
            </a:xfrm>
            <a:prstGeom prst="rect">
              <a:avLst/>
            </a:prstGeom>
          </p:spPr>
          <p:txBody>
            <a:bodyPr lIns="0" tIns="0" rIns="0" bIns="0" rtlCol="0" anchor="ctr"/>
            <a:lstStyle/>
            <a:p>
              <a:pPr algn="l">
                <a:lnSpc>
                  <a:spcPts val="1765"/>
                </a:lnSpc>
              </a:pPr>
              <a:r>
                <a:rPr lang="en-US" sz="1470" b="1">
                  <a:solidFill>
                    <a:srgbClr val="221336"/>
                  </a:solidFill>
                  <a:latin typeface="Aptos Bold" panose="020B0004020202020204"/>
                  <a:ea typeface="Aptos Bold" panose="020B0004020202020204"/>
                  <a:cs typeface="Aptos Bold" panose="020B0004020202020204"/>
                  <a:sym typeface="Aptos Bold" panose="020B0004020202020204"/>
                </a:rPr>
                <a:t>price</a:t>
              </a:r>
              <a:endParaRPr lang="en-US" sz="1470"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35" name="Group 35"/>
          <p:cNvGrpSpPr/>
          <p:nvPr/>
        </p:nvGrpSpPr>
        <p:grpSpPr>
          <a:xfrm>
            <a:off x="16116323" y="3321914"/>
            <a:ext cx="1581012" cy="531152"/>
            <a:chOff x="0" y="0"/>
            <a:chExt cx="2108016" cy="708203"/>
          </a:xfrm>
        </p:grpSpPr>
        <p:sp>
          <p:nvSpPr>
            <p:cNvPr id="36" name="Freeform 36"/>
            <p:cNvSpPr/>
            <p:nvPr/>
          </p:nvSpPr>
          <p:spPr>
            <a:xfrm>
              <a:off x="0" y="0"/>
              <a:ext cx="2107992" cy="708152"/>
            </a:xfrm>
            <a:custGeom>
              <a:avLst/>
              <a:gdLst/>
              <a:ahLst/>
              <a:cxnLst/>
              <a:rect l="l" t="t" r="r" b="b"/>
              <a:pathLst>
                <a:path w="2107992" h="708152">
                  <a:moveTo>
                    <a:pt x="0" y="0"/>
                  </a:moveTo>
                  <a:lnTo>
                    <a:pt x="2107992" y="0"/>
                  </a:lnTo>
                  <a:lnTo>
                    <a:pt x="2107992" y="708152"/>
                  </a:lnTo>
                  <a:lnTo>
                    <a:pt x="0" y="708152"/>
                  </a:lnTo>
                  <a:close/>
                </a:path>
              </a:pathLst>
            </a:custGeom>
            <a:solidFill>
              <a:srgbClr val="FFFFFF"/>
            </a:solidFill>
            <a:ln w="9532" cap="sq">
              <a:solidFill>
                <a:srgbClr val="D8D5E8"/>
              </a:solidFill>
              <a:prstDash val="solid"/>
              <a:miter/>
            </a:ln>
          </p:spPr>
        </p:sp>
      </p:grpSp>
      <p:grpSp>
        <p:nvGrpSpPr>
          <p:cNvPr id="37" name="Group 37"/>
          <p:cNvGrpSpPr/>
          <p:nvPr/>
        </p:nvGrpSpPr>
        <p:grpSpPr>
          <a:xfrm>
            <a:off x="16171004" y="3381589"/>
            <a:ext cx="1471650" cy="411802"/>
            <a:chOff x="0" y="0"/>
            <a:chExt cx="1962199" cy="549069"/>
          </a:xfrm>
        </p:grpSpPr>
        <p:sp>
          <p:nvSpPr>
            <p:cNvPr id="38" name="Freeform 38"/>
            <p:cNvSpPr/>
            <p:nvPr/>
          </p:nvSpPr>
          <p:spPr>
            <a:xfrm>
              <a:off x="0" y="0"/>
              <a:ext cx="1962196" cy="549066"/>
            </a:xfrm>
            <a:custGeom>
              <a:avLst/>
              <a:gdLst/>
              <a:ahLst/>
              <a:cxnLst/>
              <a:rect l="l" t="t" r="r" b="b"/>
              <a:pathLst>
                <a:path w="1962196" h="549066">
                  <a:moveTo>
                    <a:pt x="0" y="0"/>
                  </a:moveTo>
                  <a:lnTo>
                    <a:pt x="1962196" y="0"/>
                  </a:lnTo>
                  <a:lnTo>
                    <a:pt x="1962196" y="549066"/>
                  </a:lnTo>
                  <a:lnTo>
                    <a:pt x="0" y="549066"/>
                  </a:lnTo>
                  <a:close/>
                </a:path>
              </a:pathLst>
            </a:custGeom>
            <a:blipFill>
              <a:blip r:embed="rId1">
                <a:alphaModFix amt="0"/>
              </a:blip>
              <a:stretch>
                <a:fillRect t="-25991" r="-9131" b="-25992"/>
              </a:stretch>
            </a:blipFill>
          </p:spPr>
        </p:sp>
        <p:sp>
          <p:nvSpPr>
            <p:cNvPr id="39" name="TextBox 39"/>
            <p:cNvSpPr txBox="1"/>
            <p:nvPr/>
          </p:nvSpPr>
          <p:spPr>
            <a:xfrm>
              <a:off x="0" y="0"/>
              <a:ext cx="1962199" cy="549069"/>
            </a:xfrm>
            <a:prstGeom prst="rect">
              <a:avLst/>
            </a:prstGeom>
          </p:spPr>
          <p:txBody>
            <a:bodyPr lIns="0" tIns="0" rIns="0" bIns="0" rtlCol="0" anchor="ctr"/>
            <a:lstStyle/>
            <a:p>
              <a:pPr algn="ctr">
                <a:lnSpc>
                  <a:spcPts val="1765"/>
                </a:lnSpc>
              </a:pPr>
              <a:r>
                <a:rPr lang="en-US" sz="1470">
                  <a:solidFill>
                    <a:srgbClr val="221336"/>
                  </a:solidFill>
                  <a:latin typeface="Aptos"/>
                  <a:ea typeface="Aptos"/>
                  <a:cs typeface="Aptos"/>
                  <a:sym typeface="Aptos"/>
                </a:rPr>
                <a:t>2,456</a:t>
              </a:r>
              <a:endParaRPr lang="en-US" sz="1470">
                <a:solidFill>
                  <a:srgbClr val="221336"/>
                </a:solidFill>
                <a:latin typeface="Aptos"/>
                <a:ea typeface="Aptos"/>
                <a:cs typeface="Aptos"/>
                <a:sym typeface="Aptos"/>
              </a:endParaRPr>
            </a:p>
          </p:txBody>
        </p:sp>
      </p:grpSp>
      <p:grpSp>
        <p:nvGrpSpPr>
          <p:cNvPr id="40" name="Group 40"/>
          <p:cNvGrpSpPr/>
          <p:nvPr/>
        </p:nvGrpSpPr>
        <p:grpSpPr>
          <a:xfrm>
            <a:off x="13600689" y="3843532"/>
            <a:ext cx="2524371" cy="531152"/>
            <a:chOff x="0" y="0"/>
            <a:chExt cx="3365828" cy="708203"/>
          </a:xfrm>
        </p:grpSpPr>
        <p:sp>
          <p:nvSpPr>
            <p:cNvPr id="41" name="Freeform 41"/>
            <p:cNvSpPr/>
            <p:nvPr/>
          </p:nvSpPr>
          <p:spPr>
            <a:xfrm>
              <a:off x="0" y="0"/>
              <a:ext cx="3365879" cy="708152"/>
            </a:xfrm>
            <a:custGeom>
              <a:avLst/>
              <a:gdLst/>
              <a:ahLst/>
              <a:cxnLst/>
              <a:rect l="l" t="t" r="r" b="b"/>
              <a:pathLst>
                <a:path w="3365879" h="708152">
                  <a:moveTo>
                    <a:pt x="0" y="0"/>
                  </a:moveTo>
                  <a:lnTo>
                    <a:pt x="3365879" y="0"/>
                  </a:lnTo>
                  <a:lnTo>
                    <a:pt x="3365879" y="708152"/>
                  </a:lnTo>
                  <a:lnTo>
                    <a:pt x="0" y="708152"/>
                  </a:lnTo>
                  <a:close/>
                </a:path>
              </a:pathLst>
            </a:custGeom>
            <a:solidFill>
              <a:srgbClr val="F0F2FF"/>
            </a:solidFill>
            <a:ln w="9532" cap="sq">
              <a:solidFill>
                <a:srgbClr val="D8D5E8"/>
              </a:solidFill>
              <a:prstDash val="solid"/>
              <a:miter/>
            </a:ln>
          </p:spPr>
        </p:sp>
      </p:grpSp>
      <p:grpSp>
        <p:nvGrpSpPr>
          <p:cNvPr id="42" name="Group 42"/>
          <p:cNvGrpSpPr/>
          <p:nvPr/>
        </p:nvGrpSpPr>
        <p:grpSpPr>
          <a:xfrm>
            <a:off x="13655370" y="3903207"/>
            <a:ext cx="2415009" cy="411802"/>
            <a:chOff x="0" y="0"/>
            <a:chExt cx="3220012" cy="549069"/>
          </a:xfrm>
        </p:grpSpPr>
        <p:sp>
          <p:nvSpPr>
            <p:cNvPr id="43" name="Freeform 43"/>
            <p:cNvSpPr/>
            <p:nvPr/>
          </p:nvSpPr>
          <p:spPr>
            <a:xfrm>
              <a:off x="0" y="0"/>
              <a:ext cx="3220015" cy="549066"/>
            </a:xfrm>
            <a:custGeom>
              <a:avLst/>
              <a:gdLst/>
              <a:ahLst/>
              <a:cxnLst/>
              <a:rect l="l" t="t" r="r" b="b"/>
              <a:pathLst>
                <a:path w="3220015" h="549066">
                  <a:moveTo>
                    <a:pt x="0" y="0"/>
                  </a:moveTo>
                  <a:lnTo>
                    <a:pt x="3220015" y="0"/>
                  </a:lnTo>
                  <a:lnTo>
                    <a:pt x="3220015" y="549066"/>
                  </a:lnTo>
                  <a:lnTo>
                    <a:pt x="0" y="549066"/>
                  </a:lnTo>
                  <a:close/>
                </a:path>
              </a:pathLst>
            </a:custGeom>
            <a:blipFill>
              <a:blip r:embed="rId1">
                <a:alphaModFix amt="0"/>
              </a:blip>
              <a:stretch>
                <a:fillRect t="-74704" r="-9131" b="-74705"/>
              </a:stretch>
            </a:blipFill>
          </p:spPr>
        </p:sp>
        <p:sp>
          <p:nvSpPr>
            <p:cNvPr id="44" name="TextBox 44"/>
            <p:cNvSpPr txBox="1"/>
            <p:nvPr/>
          </p:nvSpPr>
          <p:spPr>
            <a:xfrm>
              <a:off x="0" y="0"/>
              <a:ext cx="3220012" cy="549069"/>
            </a:xfrm>
            <a:prstGeom prst="rect">
              <a:avLst/>
            </a:prstGeom>
          </p:spPr>
          <p:txBody>
            <a:bodyPr lIns="0" tIns="0" rIns="0" bIns="0" rtlCol="0" anchor="ctr"/>
            <a:lstStyle/>
            <a:p>
              <a:pPr algn="l">
                <a:lnSpc>
                  <a:spcPts val="1765"/>
                </a:lnSpc>
              </a:pPr>
              <a:r>
                <a:rPr lang="en-US" sz="1470" b="1">
                  <a:solidFill>
                    <a:srgbClr val="221336"/>
                  </a:solidFill>
                  <a:latin typeface="Aptos Bold" panose="020B0004020202020204"/>
                  <a:ea typeface="Aptos Bold" panose="020B0004020202020204"/>
                  <a:cs typeface="Aptos Bold" panose="020B0004020202020204"/>
                  <a:sym typeface="Aptos Bold" panose="020B0004020202020204"/>
                </a:rPr>
                <a:t>freight_value</a:t>
              </a:r>
              <a:endParaRPr lang="en-US" sz="1470"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45" name="Group 45"/>
          <p:cNvGrpSpPr/>
          <p:nvPr/>
        </p:nvGrpSpPr>
        <p:grpSpPr>
          <a:xfrm>
            <a:off x="16116323" y="3843532"/>
            <a:ext cx="1581012" cy="531152"/>
            <a:chOff x="0" y="0"/>
            <a:chExt cx="2108016" cy="708203"/>
          </a:xfrm>
        </p:grpSpPr>
        <p:sp>
          <p:nvSpPr>
            <p:cNvPr id="46" name="Freeform 46"/>
            <p:cNvSpPr/>
            <p:nvPr/>
          </p:nvSpPr>
          <p:spPr>
            <a:xfrm>
              <a:off x="0" y="0"/>
              <a:ext cx="2107992" cy="708152"/>
            </a:xfrm>
            <a:custGeom>
              <a:avLst/>
              <a:gdLst/>
              <a:ahLst/>
              <a:cxnLst/>
              <a:rect l="l" t="t" r="r" b="b"/>
              <a:pathLst>
                <a:path w="2107992" h="708152">
                  <a:moveTo>
                    <a:pt x="0" y="0"/>
                  </a:moveTo>
                  <a:lnTo>
                    <a:pt x="2107992" y="0"/>
                  </a:lnTo>
                  <a:lnTo>
                    <a:pt x="2107992" y="708152"/>
                  </a:lnTo>
                  <a:lnTo>
                    <a:pt x="0" y="708152"/>
                  </a:lnTo>
                  <a:close/>
                </a:path>
              </a:pathLst>
            </a:custGeom>
            <a:solidFill>
              <a:srgbClr val="F0F2FF"/>
            </a:solidFill>
            <a:ln w="9532" cap="sq">
              <a:solidFill>
                <a:srgbClr val="D8D5E8"/>
              </a:solidFill>
              <a:prstDash val="solid"/>
              <a:miter/>
            </a:ln>
          </p:spPr>
        </p:sp>
      </p:grpSp>
      <p:grpSp>
        <p:nvGrpSpPr>
          <p:cNvPr id="47" name="Group 47"/>
          <p:cNvGrpSpPr/>
          <p:nvPr/>
        </p:nvGrpSpPr>
        <p:grpSpPr>
          <a:xfrm>
            <a:off x="16171004" y="3903207"/>
            <a:ext cx="1471650" cy="411802"/>
            <a:chOff x="0" y="0"/>
            <a:chExt cx="1962199" cy="549069"/>
          </a:xfrm>
        </p:grpSpPr>
        <p:sp>
          <p:nvSpPr>
            <p:cNvPr id="48" name="Freeform 48"/>
            <p:cNvSpPr/>
            <p:nvPr/>
          </p:nvSpPr>
          <p:spPr>
            <a:xfrm>
              <a:off x="0" y="0"/>
              <a:ext cx="1962196" cy="549066"/>
            </a:xfrm>
            <a:custGeom>
              <a:avLst/>
              <a:gdLst/>
              <a:ahLst/>
              <a:cxnLst/>
              <a:rect l="l" t="t" r="r" b="b"/>
              <a:pathLst>
                <a:path w="1962196" h="549066">
                  <a:moveTo>
                    <a:pt x="0" y="0"/>
                  </a:moveTo>
                  <a:lnTo>
                    <a:pt x="1962196" y="0"/>
                  </a:lnTo>
                  <a:lnTo>
                    <a:pt x="1962196" y="549066"/>
                  </a:lnTo>
                  <a:lnTo>
                    <a:pt x="0" y="549066"/>
                  </a:lnTo>
                  <a:close/>
                </a:path>
              </a:pathLst>
            </a:custGeom>
            <a:blipFill>
              <a:blip r:embed="rId1">
                <a:alphaModFix amt="0"/>
              </a:blip>
              <a:stretch>
                <a:fillRect t="-25991" r="-9131" b="-25992"/>
              </a:stretch>
            </a:blipFill>
          </p:spPr>
        </p:sp>
        <p:sp>
          <p:nvSpPr>
            <p:cNvPr id="49" name="TextBox 49"/>
            <p:cNvSpPr txBox="1"/>
            <p:nvPr/>
          </p:nvSpPr>
          <p:spPr>
            <a:xfrm>
              <a:off x="0" y="0"/>
              <a:ext cx="1962199" cy="549069"/>
            </a:xfrm>
            <a:prstGeom prst="rect">
              <a:avLst/>
            </a:prstGeom>
          </p:spPr>
          <p:txBody>
            <a:bodyPr lIns="0" tIns="0" rIns="0" bIns="0" rtlCol="0" anchor="ctr"/>
            <a:lstStyle/>
            <a:p>
              <a:pPr algn="ctr">
                <a:lnSpc>
                  <a:spcPts val="1765"/>
                </a:lnSpc>
              </a:pPr>
              <a:r>
                <a:rPr lang="en-US" sz="1470">
                  <a:solidFill>
                    <a:srgbClr val="221336"/>
                  </a:solidFill>
                  <a:latin typeface="Aptos"/>
                  <a:ea typeface="Aptos"/>
                  <a:cs typeface="Aptos"/>
                  <a:sym typeface="Aptos"/>
                </a:rPr>
                <a:t>1,528</a:t>
              </a:r>
              <a:endParaRPr lang="en-US" sz="1470">
                <a:solidFill>
                  <a:srgbClr val="221336"/>
                </a:solidFill>
                <a:latin typeface="Aptos"/>
                <a:ea typeface="Aptos"/>
                <a:cs typeface="Aptos"/>
                <a:sym typeface="Aptos"/>
              </a:endParaRPr>
            </a:p>
          </p:txBody>
        </p:sp>
      </p:grpSp>
      <p:grpSp>
        <p:nvGrpSpPr>
          <p:cNvPr id="50" name="Group 50"/>
          <p:cNvGrpSpPr/>
          <p:nvPr/>
        </p:nvGrpSpPr>
        <p:grpSpPr>
          <a:xfrm>
            <a:off x="13600689" y="4365149"/>
            <a:ext cx="2524371" cy="531152"/>
            <a:chOff x="0" y="0"/>
            <a:chExt cx="3365828" cy="708203"/>
          </a:xfrm>
        </p:grpSpPr>
        <p:sp>
          <p:nvSpPr>
            <p:cNvPr id="51" name="Freeform 51"/>
            <p:cNvSpPr/>
            <p:nvPr/>
          </p:nvSpPr>
          <p:spPr>
            <a:xfrm>
              <a:off x="0" y="0"/>
              <a:ext cx="3365879" cy="708152"/>
            </a:xfrm>
            <a:custGeom>
              <a:avLst/>
              <a:gdLst/>
              <a:ahLst/>
              <a:cxnLst/>
              <a:rect l="l" t="t" r="r" b="b"/>
              <a:pathLst>
                <a:path w="3365879" h="708152">
                  <a:moveTo>
                    <a:pt x="0" y="0"/>
                  </a:moveTo>
                  <a:lnTo>
                    <a:pt x="3365879" y="0"/>
                  </a:lnTo>
                  <a:lnTo>
                    <a:pt x="3365879" y="708152"/>
                  </a:lnTo>
                  <a:lnTo>
                    <a:pt x="0" y="708152"/>
                  </a:lnTo>
                  <a:close/>
                </a:path>
              </a:pathLst>
            </a:custGeom>
            <a:solidFill>
              <a:srgbClr val="FFFFFF"/>
            </a:solidFill>
            <a:ln w="9532" cap="sq">
              <a:solidFill>
                <a:srgbClr val="D8D5E8"/>
              </a:solidFill>
              <a:prstDash val="solid"/>
              <a:miter/>
            </a:ln>
          </p:spPr>
        </p:sp>
      </p:grpSp>
      <p:grpSp>
        <p:nvGrpSpPr>
          <p:cNvPr id="52" name="Group 52"/>
          <p:cNvGrpSpPr/>
          <p:nvPr/>
        </p:nvGrpSpPr>
        <p:grpSpPr>
          <a:xfrm>
            <a:off x="13655370" y="4424815"/>
            <a:ext cx="2415009" cy="411802"/>
            <a:chOff x="0" y="0"/>
            <a:chExt cx="3220012" cy="549069"/>
          </a:xfrm>
        </p:grpSpPr>
        <p:sp>
          <p:nvSpPr>
            <p:cNvPr id="53" name="Freeform 53"/>
            <p:cNvSpPr/>
            <p:nvPr/>
          </p:nvSpPr>
          <p:spPr>
            <a:xfrm>
              <a:off x="0" y="0"/>
              <a:ext cx="3220015" cy="549066"/>
            </a:xfrm>
            <a:custGeom>
              <a:avLst/>
              <a:gdLst/>
              <a:ahLst/>
              <a:cxnLst/>
              <a:rect l="l" t="t" r="r" b="b"/>
              <a:pathLst>
                <a:path w="3220015" h="549066">
                  <a:moveTo>
                    <a:pt x="0" y="0"/>
                  </a:moveTo>
                  <a:lnTo>
                    <a:pt x="3220015" y="0"/>
                  </a:lnTo>
                  <a:lnTo>
                    <a:pt x="3220015" y="549066"/>
                  </a:lnTo>
                  <a:lnTo>
                    <a:pt x="0" y="549066"/>
                  </a:lnTo>
                  <a:close/>
                </a:path>
              </a:pathLst>
            </a:custGeom>
            <a:blipFill>
              <a:blip r:embed="rId1">
                <a:alphaModFix amt="0"/>
              </a:blip>
              <a:stretch>
                <a:fillRect t="-74704" r="-9131" b="-74705"/>
              </a:stretch>
            </a:blipFill>
          </p:spPr>
        </p:sp>
        <p:sp>
          <p:nvSpPr>
            <p:cNvPr id="54" name="TextBox 54"/>
            <p:cNvSpPr txBox="1"/>
            <p:nvPr/>
          </p:nvSpPr>
          <p:spPr>
            <a:xfrm>
              <a:off x="0" y="0"/>
              <a:ext cx="3220012" cy="549069"/>
            </a:xfrm>
            <a:prstGeom prst="rect">
              <a:avLst/>
            </a:prstGeom>
          </p:spPr>
          <p:txBody>
            <a:bodyPr lIns="0" tIns="0" rIns="0" bIns="0" rtlCol="0" anchor="ctr"/>
            <a:lstStyle/>
            <a:p>
              <a:pPr algn="l">
                <a:lnSpc>
                  <a:spcPts val="1765"/>
                </a:lnSpc>
              </a:pPr>
              <a:r>
                <a:rPr lang="en-US" sz="1470" b="1">
                  <a:solidFill>
                    <a:srgbClr val="221336"/>
                  </a:solidFill>
                  <a:latin typeface="Aptos Bold" panose="020B0004020202020204"/>
                  <a:ea typeface="Aptos Bold" panose="020B0004020202020204"/>
                  <a:cs typeface="Aptos Bold" panose="020B0004020202020204"/>
                  <a:sym typeface="Aptos Bold" panose="020B0004020202020204"/>
                </a:rPr>
                <a:t>product_weight_g</a:t>
              </a:r>
              <a:endParaRPr lang="en-US" sz="1470"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55" name="Group 55"/>
          <p:cNvGrpSpPr/>
          <p:nvPr/>
        </p:nvGrpSpPr>
        <p:grpSpPr>
          <a:xfrm>
            <a:off x="16116323" y="4365149"/>
            <a:ext cx="1581012" cy="531152"/>
            <a:chOff x="0" y="0"/>
            <a:chExt cx="2108016" cy="708203"/>
          </a:xfrm>
        </p:grpSpPr>
        <p:sp>
          <p:nvSpPr>
            <p:cNvPr id="56" name="Freeform 56"/>
            <p:cNvSpPr/>
            <p:nvPr/>
          </p:nvSpPr>
          <p:spPr>
            <a:xfrm>
              <a:off x="0" y="0"/>
              <a:ext cx="2107992" cy="708152"/>
            </a:xfrm>
            <a:custGeom>
              <a:avLst/>
              <a:gdLst/>
              <a:ahLst/>
              <a:cxnLst/>
              <a:rect l="l" t="t" r="r" b="b"/>
              <a:pathLst>
                <a:path w="2107992" h="708152">
                  <a:moveTo>
                    <a:pt x="0" y="0"/>
                  </a:moveTo>
                  <a:lnTo>
                    <a:pt x="2107992" y="0"/>
                  </a:lnTo>
                  <a:lnTo>
                    <a:pt x="2107992" y="708152"/>
                  </a:lnTo>
                  <a:lnTo>
                    <a:pt x="0" y="708152"/>
                  </a:lnTo>
                  <a:close/>
                </a:path>
              </a:pathLst>
            </a:custGeom>
            <a:solidFill>
              <a:srgbClr val="FFFFFF"/>
            </a:solidFill>
            <a:ln w="9532" cap="sq">
              <a:solidFill>
                <a:srgbClr val="D8D5E8"/>
              </a:solidFill>
              <a:prstDash val="solid"/>
              <a:miter/>
            </a:ln>
          </p:spPr>
        </p:sp>
      </p:grpSp>
      <p:grpSp>
        <p:nvGrpSpPr>
          <p:cNvPr id="57" name="Group 57"/>
          <p:cNvGrpSpPr/>
          <p:nvPr/>
        </p:nvGrpSpPr>
        <p:grpSpPr>
          <a:xfrm>
            <a:off x="16171004" y="4424815"/>
            <a:ext cx="1471650" cy="411802"/>
            <a:chOff x="0" y="0"/>
            <a:chExt cx="1962199" cy="549069"/>
          </a:xfrm>
        </p:grpSpPr>
        <p:sp>
          <p:nvSpPr>
            <p:cNvPr id="58" name="Freeform 58"/>
            <p:cNvSpPr/>
            <p:nvPr/>
          </p:nvSpPr>
          <p:spPr>
            <a:xfrm>
              <a:off x="0" y="0"/>
              <a:ext cx="1962196" cy="549066"/>
            </a:xfrm>
            <a:custGeom>
              <a:avLst/>
              <a:gdLst/>
              <a:ahLst/>
              <a:cxnLst/>
              <a:rect l="l" t="t" r="r" b="b"/>
              <a:pathLst>
                <a:path w="1962196" h="549066">
                  <a:moveTo>
                    <a:pt x="0" y="0"/>
                  </a:moveTo>
                  <a:lnTo>
                    <a:pt x="1962196" y="0"/>
                  </a:lnTo>
                  <a:lnTo>
                    <a:pt x="1962196" y="549066"/>
                  </a:lnTo>
                  <a:lnTo>
                    <a:pt x="0" y="549066"/>
                  </a:lnTo>
                  <a:close/>
                </a:path>
              </a:pathLst>
            </a:custGeom>
            <a:blipFill>
              <a:blip r:embed="rId1">
                <a:alphaModFix amt="0"/>
              </a:blip>
              <a:stretch>
                <a:fillRect t="-25991" r="-9131" b="-25992"/>
              </a:stretch>
            </a:blipFill>
          </p:spPr>
        </p:sp>
        <p:sp>
          <p:nvSpPr>
            <p:cNvPr id="59" name="TextBox 59"/>
            <p:cNvSpPr txBox="1"/>
            <p:nvPr/>
          </p:nvSpPr>
          <p:spPr>
            <a:xfrm>
              <a:off x="0" y="0"/>
              <a:ext cx="1962199" cy="549069"/>
            </a:xfrm>
            <a:prstGeom prst="rect">
              <a:avLst/>
            </a:prstGeom>
          </p:spPr>
          <p:txBody>
            <a:bodyPr lIns="0" tIns="0" rIns="0" bIns="0" rtlCol="0" anchor="ctr"/>
            <a:lstStyle/>
            <a:p>
              <a:pPr algn="ctr">
                <a:lnSpc>
                  <a:spcPts val="1765"/>
                </a:lnSpc>
              </a:pPr>
              <a:r>
                <a:rPr lang="en-US" sz="1470">
                  <a:solidFill>
                    <a:srgbClr val="221336"/>
                  </a:solidFill>
                  <a:latin typeface="Aptos"/>
                  <a:ea typeface="Aptos"/>
                  <a:cs typeface="Aptos"/>
                  <a:sym typeface="Aptos"/>
                </a:rPr>
                <a:t>3,602</a:t>
              </a:r>
              <a:endParaRPr lang="en-US" sz="1470">
                <a:solidFill>
                  <a:srgbClr val="221336"/>
                </a:solidFill>
                <a:latin typeface="Aptos"/>
                <a:ea typeface="Aptos"/>
                <a:cs typeface="Aptos"/>
                <a:sym typeface="Aptos"/>
              </a:endParaRPr>
            </a:p>
          </p:txBody>
        </p:sp>
      </p:grpSp>
      <p:grpSp>
        <p:nvGrpSpPr>
          <p:cNvPr id="60" name="Group 60"/>
          <p:cNvGrpSpPr/>
          <p:nvPr/>
        </p:nvGrpSpPr>
        <p:grpSpPr>
          <a:xfrm>
            <a:off x="13600689" y="4886757"/>
            <a:ext cx="2524371" cy="531152"/>
            <a:chOff x="0" y="0"/>
            <a:chExt cx="3365828" cy="708203"/>
          </a:xfrm>
        </p:grpSpPr>
        <p:sp>
          <p:nvSpPr>
            <p:cNvPr id="61" name="Freeform 61"/>
            <p:cNvSpPr/>
            <p:nvPr/>
          </p:nvSpPr>
          <p:spPr>
            <a:xfrm>
              <a:off x="0" y="0"/>
              <a:ext cx="3365879" cy="708152"/>
            </a:xfrm>
            <a:custGeom>
              <a:avLst/>
              <a:gdLst/>
              <a:ahLst/>
              <a:cxnLst/>
              <a:rect l="l" t="t" r="r" b="b"/>
              <a:pathLst>
                <a:path w="3365879" h="708152">
                  <a:moveTo>
                    <a:pt x="0" y="0"/>
                  </a:moveTo>
                  <a:lnTo>
                    <a:pt x="3365879" y="0"/>
                  </a:lnTo>
                  <a:lnTo>
                    <a:pt x="3365879" y="708152"/>
                  </a:lnTo>
                  <a:lnTo>
                    <a:pt x="0" y="708152"/>
                  </a:lnTo>
                  <a:close/>
                </a:path>
              </a:pathLst>
            </a:custGeom>
            <a:solidFill>
              <a:srgbClr val="F0F2FF"/>
            </a:solidFill>
            <a:ln w="9532" cap="sq">
              <a:solidFill>
                <a:srgbClr val="D8D5E8"/>
              </a:solidFill>
              <a:prstDash val="solid"/>
              <a:miter/>
            </a:ln>
          </p:spPr>
        </p:sp>
      </p:grpSp>
      <p:grpSp>
        <p:nvGrpSpPr>
          <p:cNvPr id="62" name="Group 62"/>
          <p:cNvGrpSpPr/>
          <p:nvPr/>
        </p:nvGrpSpPr>
        <p:grpSpPr>
          <a:xfrm>
            <a:off x="13655370" y="4946433"/>
            <a:ext cx="2415009" cy="411802"/>
            <a:chOff x="0" y="0"/>
            <a:chExt cx="3220012" cy="549069"/>
          </a:xfrm>
        </p:grpSpPr>
        <p:sp>
          <p:nvSpPr>
            <p:cNvPr id="63" name="Freeform 63"/>
            <p:cNvSpPr/>
            <p:nvPr/>
          </p:nvSpPr>
          <p:spPr>
            <a:xfrm>
              <a:off x="0" y="0"/>
              <a:ext cx="3220015" cy="549066"/>
            </a:xfrm>
            <a:custGeom>
              <a:avLst/>
              <a:gdLst/>
              <a:ahLst/>
              <a:cxnLst/>
              <a:rect l="l" t="t" r="r" b="b"/>
              <a:pathLst>
                <a:path w="3220015" h="549066">
                  <a:moveTo>
                    <a:pt x="0" y="0"/>
                  </a:moveTo>
                  <a:lnTo>
                    <a:pt x="3220015" y="0"/>
                  </a:lnTo>
                  <a:lnTo>
                    <a:pt x="3220015" y="549066"/>
                  </a:lnTo>
                  <a:lnTo>
                    <a:pt x="0" y="549066"/>
                  </a:lnTo>
                  <a:close/>
                </a:path>
              </a:pathLst>
            </a:custGeom>
            <a:blipFill>
              <a:blip r:embed="rId1">
                <a:alphaModFix amt="0"/>
              </a:blip>
              <a:stretch>
                <a:fillRect t="-74704" r="-9131" b="-74705"/>
              </a:stretch>
            </a:blipFill>
          </p:spPr>
        </p:sp>
        <p:sp>
          <p:nvSpPr>
            <p:cNvPr id="64" name="TextBox 64"/>
            <p:cNvSpPr txBox="1"/>
            <p:nvPr/>
          </p:nvSpPr>
          <p:spPr>
            <a:xfrm>
              <a:off x="0" y="0"/>
              <a:ext cx="3220012" cy="549069"/>
            </a:xfrm>
            <a:prstGeom prst="rect">
              <a:avLst/>
            </a:prstGeom>
          </p:spPr>
          <p:txBody>
            <a:bodyPr lIns="0" tIns="0" rIns="0" bIns="0" rtlCol="0" anchor="ctr"/>
            <a:lstStyle/>
            <a:p>
              <a:pPr algn="l">
                <a:lnSpc>
                  <a:spcPts val="1765"/>
                </a:lnSpc>
              </a:pPr>
              <a:r>
                <a:rPr lang="en-US" sz="1470" b="1">
                  <a:solidFill>
                    <a:srgbClr val="221336"/>
                  </a:solidFill>
                  <a:latin typeface="Aptos Bold" panose="020B0004020202020204"/>
                  <a:ea typeface="Aptos Bold" panose="020B0004020202020204"/>
                  <a:cs typeface="Aptos Bold" panose="020B0004020202020204"/>
                  <a:sym typeface="Aptos Bold" panose="020B0004020202020204"/>
                </a:rPr>
                <a:t>product_length_cm</a:t>
              </a:r>
              <a:endParaRPr lang="en-US" sz="1470"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65" name="Group 65"/>
          <p:cNvGrpSpPr/>
          <p:nvPr/>
        </p:nvGrpSpPr>
        <p:grpSpPr>
          <a:xfrm>
            <a:off x="16116323" y="4886757"/>
            <a:ext cx="1581012" cy="531152"/>
            <a:chOff x="0" y="0"/>
            <a:chExt cx="2108016" cy="708203"/>
          </a:xfrm>
        </p:grpSpPr>
        <p:sp>
          <p:nvSpPr>
            <p:cNvPr id="66" name="Freeform 66"/>
            <p:cNvSpPr/>
            <p:nvPr/>
          </p:nvSpPr>
          <p:spPr>
            <a:xfrm>
              <a:off x="0" y="0"/>
              <a:ext cx="2107992" cy="708152"/>
            </a:xfrm>
            <a:custGeom>
              <a:avLst/>
              <a:gdLst/>
              <a:ahLst/>
              <a:cxnLst/>
              <a:rect l="l" t="t" r="r" b="b"/>
              <a:pathLst>
                <a:path w="2107992" h="708152">
                  <a:moveTo>
                    <a:pt x="0" y="0"/>
                  </a:moveTo>
                  <a:lnTo>
                    <a:pt x="2107992" y="0"/>
                  </a:lnTo>
                  <a:lnTo>
                    <a:pt x="2107992" y="708152"/>
                  </a:lnTo>
                  <a:lnTo>
                    <a:pt x="0" y="708152"/>
                  </a:lnTo>
                  <a:close/>
                </a:path>
              </a:pathLst>
            </a:custGeom>
            <a:solidFill>
              <a:srgbClr val="F0F2FF"/>
            </a:solidFill>
            <a:ln w="9532" cap="sq">
              <a:solidFill>
                <a:srgbClr val="D8D5E8"/>
              </a:solidFill>
              <a:prstDash val="solid"/>
              <a:miter/>
            </a:ln>
          </p:spPr>
        </p:sp>
      </p:grpSp>
      <p:grpSp>
        <p:nvGrpSpPr>
          <p:cNvPr id="67" name="Group 67"/>
          <p:cNvGrpSpPr/>
          <p:nvPr/>
        </p:nvGrpSpPr>
        <p:grpSpPr>
          <a:xfrm>
            <a:off x="16171004" y="4946433"/>
            <a:ext cx="1471650" cy="411802"/>
            <a:chOff x="0" y="0"/>
            <a:chExt cx="1962199" cy="549069"/>
          </a:xfrm>
        </p:grpSpPr>
        <p:sp>
          <p:nvSpPr>
            <p:cNvPr id="68" name="Freeform 68"/>
            <p:cNvSpPr/>
            <p:nvPr/>
          </p:nvSpPr>
          <p:spPr>
            <a:xfrm>
              <a:off x="0" y="0"/>
              <a:ext cx="1962196" cy="549066"/>
            </a:xfrm>
            <a:custGeom>
              <a:avLst/>
              <a:gdLst/>
              <a:ahLst/>
              <a:cxnLst/>
              <a:rect l="l" t="t" r="r" b="b"/>
              <a:pathLst>
                <a:path w="1962196" h="549066">
                  <a:moveTo>
                    <a:pt x="0" y="0"/>
                  </a:moveTo>
                  <a:lnTo>
                    <a:pt x="1962196" y="0"/>
                  </a:lnTo>
                  <a:lnTo>
                    <a:pt x="1962196" y="549066"/>
                  </a:lnTo>
                  <a:lnTo>
                    <a:pt x="0" y="549066"/>
                  </a:lnTo>
                  <a:close/>
                </a:path>
              </a:pathLst>
            </a:custGeom>
            <a:blipFill>
              <a:blip r:embed="rId1">
                <a:alphaModFix amt="0"/>
              </a:blip>
              <a:stretch>
                <a:fillRect t="-25991" r="-9131" b="-25992"/>
              </a:stretch>
            </a:blipFill>
          </p:spPr>
        </p:sp>
        <p:sp>
          <p:nvSpPr>
            <p:cNvPr id="69" name="TextBox 69"/>
            <p:cNvSpPr txBox="1"/>
            <p:nvPr/>
          </p:nvSpPr>
          <p:spPr>
            <a:xfrm>
              <a:off x="0" y="0"/>
              <a:ext cx="1962199" cy="549069"/>
            </a:xfrm>
            <a:prstGeom prst="rect">
              <a:avLst/>
            </a:prstGeom>
          </p:spPr>
          <p:txBody>
            <a:bodyPr lIns="0" tIns="0" rIns="0" bIns="0" rtlCol="0" anchor="ctr"/>
            <a:lstStyle/>
            <a:p>
              <a:pPr algn="ctr">
                <a:lnSpc>
                  <a:spcPts val="1765"/>
                </a:lnSpc>
              </a:pPr>
              <a:r>
                <a:rPr lang="en-US" sz="1470">
                  <a:solidFill>
                    <a:srgbClr val="221336"/>
                  </a:solidFill>
                  <a:latin typeface="Aptos"/>
                  <a:ea typeface="Aptos"/>
                  <a:cs typeface="Aptos"/>
                  <a:sym typeface="Aptos"/>
                </a:rPr>
                <a:t>2,877</a:t>
              </a:r>
              <a:endParaRPr lang="en-US" sz="1470">
                <a:solidFill>
                  <a:srgbClr val="221336"/>
                </a:solidFill>
                <a:latin typeface="Aptos"/>
                <a:ea typeface="Aptos"/>
                <a:cs typeface="Aptos"/>
                <a:sym typeface="Aptos"/>
              </a:endParaRPr>
            </a:p>
          </p:txBody>
        </p:sp>
      </p:grpSp>
      <p:grpSp>
        <p:nvGrpSpPr>
          <p:cNvPr id="70" name="Group 70"/>
          <p:cNvGrpSpPr/>
          <p:nvPr/>
        </p:nvGrpSpPr>
        <p:grpSpPr>
          <a:xfrm>
            <a:off x="13600689" y="5408375"/>
            <a:ext cx="2524371" cy="531152"/>
            <a:chOff x="0" y="0"/>
            <a:chExt cx="3365828" cy="708203"/>
          </a:xfrm>
        </p:grpSpPr>
        <p:sp>
          <p:nvSpPr>
            <p:cNvPr id="71" name="Freeform 71"/>
            <p:cNvSpPr/>
            <p:nvPr/>
          </p:nvSpPr>
          <p:spPr>
            <a:xfrm>
              <a:off x="0" y="0"/>
              <a:ext cx="3365879" cy="708152"/>
            </a:xfrm>
            <a:custGeom>
              <a:avLst/>
              <a:gdLst/>
              <a:ahLst/>
              <a:cxnLst/>
              <a:rect l="l" t="t" r="r" b="b"/>
              <a:pathLst>
                <a:path w="3365879" h="708152">
                  <a:moveTo>
                    <a:pt x="0" y="0"/>
                  </a:moveTo>
                  <a:lnTo>
                    <a:pt x="3365879" y="0"/>
                  </a:lnTo>
                  <a:lnTo>
                    <a:pt x="3365879" y="708152"/>
                  </a:lnTo>
                  <a:lnTo>
                    <a:pt x="0" y="708152"/>
                  </a:lnTo>
                  <a:close/>
                </a:path>
              </a:pathLst>
            </a:custGeom>
            <a:solidFill>
              <a:srgbClr val="FFFFFF"/>
            </a:solidFill>
            <a:ln w="9532" cap="sq">
              <a:solidFill>
                <a:srgbClr val="D8D5E8"/>
              </a:solidFill>
              <a:prstDash val="solid"/>
              <a:miter/>
            </a:ln>
          </p:spPr>
        </p:sp>
      </p:grpSp>
      <p:grpSp>
        <p:nvGrpSpPr>
          <p:cNvPr id="72" name="Group 72"/>
          <p:cNvGrpSpPr/>
          <p:nvPr/>
        </p:nvGrpSpPr>
        <p:grpSpPr>
          <a:xfrm>
            <a:off x="13655370" y="5468050"/>
            <a:ext cx="2415009" cy="411802"/>
            <a:chOff x="0" y="0"/>
            <a:chExt cx="3220012" cy="549069"/>
          </a:xfrm>
        </p:grpSpPr>
        <p:sp>
          <p:nvSpPr>
            <p:cNvPr id="73" name="Freeform 73"/>
            <p:cNvSpPr/>
            <p:nvPr/>
          </p:nvSpPr>
          <p:spPr>
            <a:xfrm>
              <a:off x="0" y="0"/>
              <a:ext cx="3220015" cy="549066"/>
            </a:xfrm>
            <a:custGeom>
              <a:avLst/>
              <a:gdLst/>
              <a:ahLst/>
              <a:cxnLst/>
              <a:rect l="l" t="t" r="r" b="b"/>
              <a:pathLst>
                <a:path w="3220015" h="549066">
                  <a:moveTo>
                    <a:pt x="0" y="0"/>
                  </a:moveTo>
                  <a:lnTo>
                    <a:pt x="3220015" y="0"/>
                  </a:lnTo>
                  <a:lnTo>
                    <a:pt x="3220015" y="549066"/>
                  </a:lnTo>
                  <a:lnTo>
                    <a:pt x="0" y="549066"/>
                  </a:lnTo>
                  <a:close/>
                </a:path>
              </a:pathLst>
            </a:custGeom>
            <a:blipFill>
              <a:blip r:embed="rId1">
                <a:alphaModFix amt="0"/>
              </a:blip>
              <a:stretch>
                <a:fillRect t="-74704" r="-9131" b="-74705"/>
              </a:stretch>
            </a:blipFill>
          </p:spPr>
        </p:sp>
        <p:sp>
          <p:nvSpPr>
            <p:cNvPr id="74" name="TextBox 74"/>
            <p:cNvSpPr txBox="1"/>
            <p:nvPr/>
          </p:nvSpPr>
          <p:spPr>
            <a:xfrm>
              <a:off x="0" y="0"/>
              <a:ext cx="3220012" cy="549069"/>
            </a:xfrm>
            <a:prstGeom prst="rect">
              <a:avLst/>
            </a:prstGeom>
          </p:spPr>
          <p:txBody>
            <a:bodyPr lIns="0" tIns="0" rIns="0" bIns="0" rtlCol="0" anchor="ctr"/>
            <a:lstStyle/>
            <a:p>
              <a:pPr algn="l">
                <a:lnSpc>
                  <a:spcPts val="1765"/>
                </a:lnSpc>
              </a:pPr>
              <a:r>
                <a:rPr lang="en-US" sz="1470" b="1">
                  <a:solidFill>
                    <a:srgbClr val="221336"/>
                  </a:solidFill>
                  <a:latin typeface="Aptos Bold" panose="020B0004020202020204"/>
                  <a:ea typeface="Aptos Bold" panose="020B0004020202020204"/>
                  <a:cs typeface="Aptos Bold" panose="020B0004020202020204"/>
                  <a:sym typeface="Aptos Bold" panose="020B0004020202020204"/>
                </a:rPr>
                <a:t>product_height_cm</a:t>
              </a:r>
              <a:endParaRPr lang="en-US" sz="1470"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75" name="Group 75"/>
          <p:cNvGrpSpPr/>
          <p:nvPr/>
        </p:nvGrpSpPr>
        <p:grpSpPr>
          <a:xfrm>
            <a:off x="16116323" y="5408375"/>
            <a:ext cx="1581012" cy="531152"/>
            <a:chOff x="0" y="0"/>
            <a:chExt cx="2108016" cy="708203"/>
          </a:xfrm>
        </p:grpSpPr>
        <p:sp>
          <p:nvSpPr>
            <p:cNvPr id="76" name="Freeform 76"/>
            <p:cNvSpPr/>
            <p:nvPr/>
          </p:nvSpPr>
          <p:spPr>
            <a:xfrm>
              <a:off x="0" y="0"/>
              <a:ext cx="2107992" cy="708152"/>
            </a:xfrm>
            <a:custGeom>
              <a:avLst/>
              <a:gdLst/>
              <a:ahLst/>
              <a:cxnLst/>
              <a:rect l="l" t="t" r="r" b="b"/>
              <a:pathLst>
                <a:path w="2107992" h="708152">
                  <a:moveTo>
                    <a:pt x="0" y="0"/>
                  </a:moveTo>
                  <a:lnTo>
                    <a:pt x="2107992" y="0"/>
                  </a:lnTo>
                  <a:lnTo>
                    <a:pt x="2107992" y="708152"/>
                  </a:lnTo>
                  <a:lnTo>
                    <a:pt x="0" y="708152"/>
                  </a:lnTo>
                  <a:close/>
                </a:path>
              </a:pathLst>
            </a:custGeom>
            <a:solidFill>
              <a:srgbClr val="FFFFFF"/>
            </a:solidFill>
            <a:ln w="9532" cap="sq">
              <a:solidFill>
                <a:srgbClr val="D8D5E8"/>
              </a:solidFill>
              <a:prstDash val="solid"/>
              <a:miter/>
            </a:ln>
          </p:spPr>
        </p:sp>
      </p:grpSp>
      <p:grpSp>
        <p:nvGrpSpPr>
          <p:cNvPr id="77" name="Group 77"/>
          <p:cNvGrpSpPr/>
          <p:nvPr/>
        </p:nvGrpSpPr>
        <p:grpSpPr>
          <a:xfrm>
            <a:off x="16171004" y="5468050"/>
            <a:ext cx="1471650" cy="411802"/>
            <a:chOff x="0" y="0"/>
            <a:chExt cx="1962199" cy="549069"/>
          </a:xfrm>
        </p:grpSpPr>
        <p:sp>
          <p:nvSpPr>
            <p:cNvPr id="78" name="Freeform 78"/>
            <p:cNvSpPr/>
            <p:nvPr/>
          </p:nvSpPr>
          <p:spPr>
            <a:xfrm>
              <a:off x="0" y="0"/>
              <a:ext cx="1962196" cy="549066"/>
            </a:xfrm>
            <a:custGeom>
              <a:avLst/>
              <a:gdLst/>
              <a:ahLst/>
              <a:cxnLst/>
              <a:rect l="l" t="t" r="r" b="b"/>
              <a:pathLst>
                <a:path w="1962196" h="549066">
                  <a:moveTo>
                    <a:pt x="0" y="0"/>
                  </a:moveTo>
                  <a:lnTo>
                    <a:pt x="1962196" y="0"/>
                  </a:lnTo>
                  <a:lnTo>
                    <a:pt x="1962196" y="549066"/>
                  </a:lnTo>
                  <a:lnTo>
                    <a:pt x="0" y="549066"/>
                  </a:lnTo>
                  <a:close/>
                </a:path>
              </a:pathLst>
            </a:custGeom>
            <a:blipFill>
              <a:blip r:embed="rId1">
                <a:alphaModFix amt="0"/>
              </a:blip>
              <a:stretch>
                <a:fillRect t="-25991" r="-9131" b="-25992"/>
              </a:stretch>
            </a:blipFill>
          </p:spPr>
        </p:sp>
        <p:sp>
          <p:nvSpPr>
            <p:cNvPr id="79" name="TextBox 79"/>
            <p:cNvSpPr txBox="1"/>
            <p:nvPr/>
          </p:nvSpPr>
          <p:spPr>
            <a:xfrm>
              <a:off x="0" y="0"/>
              <a:ext cx="1962199" cy="549069"/>
            </a:xfrm>
            <a:prstGeom prst="rect">
              <a:avLst/>
            </a:prstGeom>
          </p:spPr>
          <p:txBody>
            <a:bodyPr lIns="0" tIns="0" rIns="0" bIns="0" rtlCol="0" anchor="ctr"/>
            <a:lstStyle/>
            <a:p>
              <a:pPr algn="ctr">
                <a:lnSpc>
                  <a:spcPts val="1765"/>
                </a:lnSpc>
              </a:pPr>
              <a:r>
                <a:rPr lang="en-US" sz="1470">
                  <a:solidFill>
                    <a:srgbClr val="221336"/>
                  </a:solidFill>
                  <a:latin typeface="Aptos"/>
                  <a:ea typeface="Aptos"/>
                  <a:cs typeface="Aptos"/>
                  <a:sym typeface="Aptos"/>
                </a:rPr>
                <a:t>2,824</a:t>
              </a:r>
              <a:endParaRPr lang="en-US" sz="1470">
                <a:solidFill>
                  <a:srgbClr val="221336"/>
                </a:solidFill>
                <a:latin typeface="Aptos"/>
                <a:ea typeface="Aptos"/>
                <a:cs typeface="Aptos"/>
                <a:sym typeface="Aptos"/>
              </a:endParaRPr>
            </a:p>
          </p:txBody>
        </p:sp>
      </p:grpSp>
      <p:grpSp>
        <p:nvGrpSpPr>
          <p:cNvPr id="80" name="Group 80"/>
          <p:cNvGrpSpPr/>
          <p:nvPr/>
        </p:nvGrpSpPr>
        <p:grpSpPr>
          <a:xfrm>
            <a:off x="13600689" y="5929993"/>
            <a:ext cx="2524371" cy="531152"/>
            <a:chOff x="0" y="0"/>
            <a:chExt cx="3365828" cy="708203"/>
          </a:xfrm>
        </p:grpSpPr>
        <p:sp>
          <p:nvSpPr>
            <p:cNvPr id="81" name="Freeform 81"/>
            <p:cNvSpPr/>
            <p:nvPr/>
          </p:nvSpPr>
          <p:spPr>
            <a:xfrm>
              <a:off x="0" y="0"/>
              <a:ext cx="3365879" cy="708152"/>
            </a:xfrm>
            <a:custGeom>
              <a:avLst/>
              <a:gdLst/>
              <a:ahLst/>
              <a:cxnLst/>
              <a:rect l="l" t="t" r="r" b="b"/>
              <a:pathLst>
                <a:path w="3365879" h="708152">
                  <a:moveTo>
                    <a:pt x="0" y="0"/>
                  </a:moveTo>
                  <a:lnTo>
                    <a:pt x="3365879" y="0"/>
                  </a:lnTo>
                  <a:lnTo>
                    <a:pt x="3365879" y="708152"/>
                  </a:lnTo>
                  <a:lnTo>
                    <a:pt x="0" y="708152"/>
                  </a:lnTo>
                  <a:close/>
                </a:path>
              </a:pathLst>
            </a:custGeom>
            <a:solidFill>
              <a:srgbClr val="F0F2FF"/>
            </a:solidFill>
            <a:ln w="9532" cap="sq">
              <a:solidFill>
                <a:srgbClr val="D8D5E8"/>
              </a:solidFill>
              <a:prstDash val="solid"/>
              <a:miter/>
            </a:ln>
          </p:spPr>
        </p:sp>
      </p:grpSp>
      <p:grpSp>
        <p:nvGrpSpPr>
          <p:cNvPr id="82" name="Group 82"/>
          <p:cNvGrpSpPr/>
          <p:nvPr/>
        </p:nvGrpSpPr>
        <p:grpSpPr>
          <a:xfrm>
            <a:off x="13655370" y="5989668"/>
            <a:ext cx="2415009" cy="411802"/>
            <a:chOff x="0" y="0"/>
            <a:chExt cx="3220012" cy="549069"/>
          </a:xfrm>
        </p:grpSpPr>
        <p:sp>
          <p:nvSpPr>
            <p:cNvPr id="83" name="Freeform 83"/>
            <p:cNvSpPr/>
            <p:nvPr/>
          </p:nvSpPr>
          <p:spPr>
            <a:xfrm>
              <a:off x="0" y="0"/>
              <a:ext cx="3220015" cy="549066"/>
            </a:xfrm>
            <a:custGeom>
              <a:avLst/>
              <a:gdLst/>
              <a:ahLst/>
              <a:cxnLst/>
              <a:rect l="l" t="t" r="r" b="b"/>
              <a:pathLst>
                <a:path w="3220015" h="549066">
                  <a:moveTo>
                    <a:pt x="0" y="0"/>
                  </a:moveTo>
                  <a:lnTo>
                    <a:pt x="3220015" y="0"/>
                  </a:lnTo>
                  <a:lnTo>
                    <a:pt x="3220015" y="549066"/>
                  </a:lnTo>
                  <a:lnTo>
                    <a:pt x="0" y="549066"/>
                  </a:lnTo>
                  <a:close/>
                </a:path>
              </a:pathLst>
            </a:custGeom>
            <a:blipFill>
              <a:blip r:embed="rId1">
                <a:alphaModFix amt="0"/>
              </a:blip>
              <a:stretch>
                <a:fillRect t="-74704" r="-9131" b="-74705"/>
              </a:stretch>
            </a:blipFill>
          </p:spPr>
        </p:sp>
        <p:sp>
          <p:nvSpPr>
            <p:cNvPr id="84" name="TextBox 84"/>
            <p:cNvSpPr txBox="1"/>
            <p:nvPr/>
          </p:nvSpPr>
          <p:spPr>
            <a:xfrm>
              <a:off x="0" y="0"/>
              <a:ext cx="3220012" cy="549069"/>
            </a:xfrm>
            <a:prstGeom prst="rect">
              <a:avLst/>
            </a:prstGeom>
          </p:spPr>
          <p:txBody>
            <a:bodyPr lIns="0" tIns="0" rIns="0" bIns="0" rtlCol="0" anchor="ctr"/>
            <a:lstStyle/>
            <a:p>
              <a:pPr algn="l">
                <a:lnSpc>
                  <a:spcPts val="1765"/>
                </a:lnSpc>
              </a:pPr>
              <a:r>
                <a:rPr lang="en-US" sz="1470" b="1">
                  <a:solidFill>
                    <a:srgbClr val="221336"/>
                  </a:solidFill>
                  <a:latin typeface="Aptos Bold" panose="020B0004020202020204"/>
                  <a:ea typeface="Aptos Bold" panose="020B0004020202020204"/>
                  <a:cs typeface="Aptos Bold" panose="020B0004020202020204"/>
                  <a:sym typeface="Aptos Bold" panose="020B0004020202020204"/>
                </a:rPr>
                <a:t>product_width_cm</a:t>
              </a:r>
              <a:endParaRPr lang="en-US" sz="1470"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85" name="Group 85"/>
          <p:cNvGrpSpPr/>
          <p:nvPr/>
        </p:nvGrpSpPr>
        <p:grpSpPr>
          <a:xfrm>
            <a:off x="16116323" y="5929993"/>
            <a:ext cx="1581012" cy="531152"/>
            <a:chOff x="0" y="0"/>
            <a:chExt cx="2108016" cy="708203"/>
          </a:xfrm>
        </p:grpSpPr>
        <p:sp>
          <p:nvSpPr>
            <p:cNvPr id="86" name="Freeform 86"/>
            <p:cNvSpPr/>
            <p:nvPr/>
          </p:nvSpPr>
          <p:spPr>
            <a:xfrm>
              <a:off x="0" y="0"/>
              <a:ext cx="2107992" cy="708152"/>
            </a:xfrm>
            <a:custGeom>
              <a:avLst/>
              <a:gdLst/>
              <a:ahLst/>
              <a:cxnLst/>
              <a:rect l="l" t="t" r="r" b="b"/>
              <a:pathLst>
                <a:path w="2107992" h="708152">
                  <a:moveTo>
                    <a:pt x="0" y="0"/>
                  </a:moveTo>
                  <a:lnTo>
                    <a:pt x="2107992" y="0"/>
                  </a:lnTo>
                  <a:lnTo>
                    <a:pt x="2107992" y="708152"/>
                  </a:lnTo>
                  <a:lnTo>
                    <a:pt x="0" y="708152"/>
                  </a:lnTo>
                  <a:close/>
                </a:path>
              </a:pathLst>
            </a:custGeom>
            <a:solidFill>
              <a:srgbClr val="F0F2FF"/>
            </a:solidFill>
            <a:ln w="9532" cap="sq">
              <a:solidFill>
                <a:srgbClr val="D8D5E8"/>
              </a:solidFill>
              <a:prstDash val="solid"/>
              <a:miter/>
            </a:ln>
          </p:spPr>
        </p:sp>
      </p:grpSp>
      <p:grpSp>
        <p:nvGrpSpPr>
          <p:cNvPr id="87" name="Group 87"/>
          <p:cNvGrpSpPr/>
          <p:nvPr/>
        </p:nvGrpSpPr>
        <p:grpSpPr>
          <a:xfrm>
            <a:off x="16171004" y="5989668"/>
            <a:ext cx="1471650" cy="411802"/>
            <a:chOff x="0" y="0"/>
            <a:chExt cx="1962199" cy="549069"/>
          </a:xfrm>
        </p:grpSpPr>
        <p:sp>
          <p:nvSpPr>
            <p:cNvPr id="88" name="Freeform 88"/>
            <p:cNvSpPr/>
            <p:nvPr/>
          </p:nvSpPr>
          <p:spPr>
            <a:xfrm>
              <a:off x="0" y="0"/>
              <a:ext cx="1962196" cy="549066"/>
            </a:xfrm>
            <a:custGeom>
              <a:avLst/>
              <a:gdLst/>
              <a:ahLst/>
              <a:cxnLst/>
              <a:rect l="l" t="t" r="r" b="b"/>
              <a:pathLst>
                <a:path w="1962196" h="549066">
                  <a:moveTo>
                    <a:pt x="0" y="0"/>
                  </a:moveTo>
                  <a:lnTo>
                    <a:pt x="1962196" y="0"/>
                  </a:lnTo>
                  <a:lnTo>
                    <a:pt x="1962196" y="549066"/>
                  </a:lnTo>
                  <a:lnTo>
                    <a:pt x="0" y="549066"/>
                  </a:lnTo>
                  <a:close/>
                </a:path>
              </a:pathLst>
            </a:custGeom>
            <a:blipFill>
              <a:blip r:embed="rId1">
                <a:alphaModFix amt="0"/>
              </a:blip>
              <a:stretch>
                <a:fillRect t="-25991" r="-9131" b="-25992"/>
              </a:stretch>
            </a:blipFill>
          </p:spPr>
        </p:sp>
        <p:sp>
          <p:nvSpPr>
            <p:cNvPr id="89" name="TextBox 89"/>
            <p:cNvSpPr txBox="1"/>
            <p:nvPr/>
          </p:nvSpPr>
          <p:spPr>
            <a:xfrm>
              <a:off x="0" y="0"/>
              <a:ext cx="1962199" cy="549069"/>
            </a:xfrm>
            <a:prstGeom prst="rect">
              <a:avLst/>
            </a:prstGeom>
          </p:spPr>
          <p:txBody>
            <a:bodyPr lIns="0" tIns="0" rIns="0" bIns="0" rtlCol="0" anchor="ctr"/>
            <a:lstStyle/>
            <a:p>
              <a:pPr algn="ctr">
                <a:lnSpc>
                  <a:spcPts val="1765"/>
                </a:lnSpc>
              </a:pPr>
              <a:r>
                <a:rPr lang="en-US" sz="1470">
                  <a:solidFill>
                    <a:srgbClr val="221336"/>
                  </a:solidFill>
                  <a:latin typeface="Aptos"/>
                  <a:ea typeface="Aptos"/>
                  <a:cs typeface="Aptos"/>
                  <a:sym typeface="Aptos"/>
                </a:rPr>
                <a:t>0</a:t>
              </a:r>
              <a:endParaRPr lang="en-US" sz="1470">
                <a:solidFill>
                  <a:srgbClr val="221336"/>
                </a:solidFill>
                <a:latin typeface="Aptos"/>
                <a:ea typeface="Aptos"/>
                <a:cs typeface="Aptos"/>
                <a:sym typeface="Aptos"/>
              </a:endParaRPr>
            </a:p>
          </p:txBody>
        </p:sp>
      </p:grpSp>
      <p:grpSp>
        <p:nvGrpSpPr>
          <p:cNvPr id="90" name="Group 90"/>
          <p:cNvGrpSpPr/>
          <p:nvPr/>
        </p:nvGrpSpPr>
        <p:grpSpPr>
          <a:xfrm>
            <a:off x="4304252" y="8085420"/>
            <a:ext cx="3389738" cy="1015013"/>
            <a:chOff x="0" y="0"/>
            <a:chExt cx="4519651" cy="1353350"/>
          </a:xfrm>
        </p:grpSpPr>
        <p:sp>
          <p:nvSpPr>
            <p:cNvPr id="91" name="Freeform 91"/>
            <p:cNvSpPr/>
            <p:nvPr/>
          </p:nvSpPr>
          <p:spPr>
            <a:xfrm>
              <a:off x="0" y="0"/>
              <a:ext cx="4519676" cy="1353312"/>
            </a:xfrm>
            <a:custGeom>
              <a:avLst/>
              <a:gdLst/>
              <a:ahLst/>
              <a:cxnLst/>
              <a:rect l="l" t="t" r="r" b="b"/>
              <a:pathLst>
                <a:path w="4519676" h="1353312">
                  <a:moveTo>
                    <a:pt x="0" y="169164"/>
                  </a:moveTo>
                  <a:cubicBezTo>
                    <a:pt x="0" y="75692"/>
                    <a:pt x="75692" y="0"/>
                    <a:pt x="169164" y="0"/>
                  </a:cubicBezTo>
                  <a:lnTo>
                    <a:pt x="4350512" y="0"/>
                  </a:lnTo>
                  <a:cubicBezTo>
                    <a:pt x="4443984" y="0"/>
                    <a:pt x="4519676" y="75692"/>
                    <a:pt x="4519676" y="169164"/>
                  </a:cubicBezTo>
                  <a:lnTo>
                    <a:pt x="4519676" y="1184148"/>
                  </a:lnTo>
                  <a:cubicBezTo>
                    <a:pt x="4519676" y="1277620"/>
                    <a:pt x="4443984" y="1353312"/>
                    <a:pt x="4350512" y="1353312"/>
                  </a:cubicBezTo>
                  <a:lnTo>
                    <a:pt x="169164" y="1353312"/>
                  </a:lnTo>
                  <a:cubicBezTo>
                    <a:pt x="75692" y="1353312"/>
                    <a:pt x="0" y="1277620"/>
                    <a:pt x="0" y="1184148"/>
                  </a:cubicBezTo>
                  <a:close/>
                </a:path>
              </a:pathLst>
            </a:custGeom>
            <a:solidFill>
              <a:srgbClr val="829BDC"/>
            </a:solidFill>
            <a:ln w="26691" cap="sq">
              <a:solidFill>
                <a:srgbClr val="1B0E2C"/>
              </a:solidFill>
              <a:prstDash val="solid"/>
              <a:miter/>
            </a:ln>
          </p:spPr>
        </p:sp>
      </p:grpSp>
      <p:grpSp>
        <p:nvGrpSpPr>
          <p:cNvPr id="92" name="Group 92"/>
          <p:cNvGrpSpPr/>
          <p:nvPr/>
        </p:nvGrpSpPr>
        <p:grpSpPr>
          <a:xfrm>
            <a:off x="4660763" y="8290941"/>
            <a:ext cx="2676716" cy="356892"/>
            <a:chOff x="0" y="0"/>
            <a:chExt cx="3568954" cy="475856"/>
          </a:xfrm>
        </p:grpSpPr>
        <p:sp>
          <p:nvSpPr>
            <p:cNvPr id="93" name="Freeform 93"/>
            <p:cNvSpPr/>
            <p:nvPr/>
          </p:nvSpPr>
          <p:spPr>
            <a:xfrm>
              <a:off x="0" y="0"/>
              <a:ext cx="3568948" cy="475860"/>
            </a:xfrm>
            <a:custGeom>
              <a:avLst/>
              <a:gdLst/>
              <a:ahLst/>
              <a:cxnLst/>
              <a:rect l="l" t="t" r="r" b="b"/>
              <a:pathLst>
                <a:path w="3568948" h="475860">
                  <a:moveTo>
                    <a:pt x="0" y="0"/>
                  </a:moveTo>
                  <a:lnTo>
                    <a:pt x="3568948" y="0"/>
                  </a:lnTo>
                  <a:lnTo>
                    <a:pt x="3568948" y="475860"/>
                  </a:lnTo>
                  <a:lnTo>
                    <a:pt x="0" y="475860"/>
                  </a:lnTo>
                  <a:close/>
                </a:path>
              </a:pathLst>
            </a:custGeom>
            <a:blipFill>
              <a:blip r:embed="rId1">
                <a:alphaModFix amt="0"/>
              </a:blip>
              <a:stretch>
                <a:fillRect t="-96138" b="-96137"/>
              </a:stretch>
            </a:blipFill>
          </p:spPr>
        </p:sp>
        <p:sp>
          <p:nvSpPr>
            <p:cNvPr id="94" name="TextBox 94"/>
            <p:cNvSpPr txBox="1"/>
            <p:nvPr/>
          </p:nvSpPr>
          <p:spPr>
            <a:xfrm>
              <a:off x="0" y="-9525"/>
              <a:ext cx="3568954" cy="485381"/>
            </a:xfrm>
            <a:prstGeom prst="rect">
              <a:avLst/>
            </a:prstGeom>
          </p:spPr>
          <p:txBody>
            <a:bodyPr lIns="0" tIns="0" rIns="0" bIns="0" rtlCol="0" anchor="ctr"/>
            <a:lstStyle/>
            <a:p>
              <a:pPr algn="ctr">
                <a:lnSpc>
                  <a:spcPts val="3420"/>
                </a:lnSpc>
              </a:pPr>
              <a:r>
                <a:rPr lang="en-US" sz="2850">
                  <a:solidFill>
                    <a:srgbClr val="FFFFFF"/>
                  </a:solidFill>
                  <a:latin typeface="Georgia" panose="02040502050405020303"/>
                  <a:ea typeface="Georgia" panose="02040502050405020303"/>
                  <a:cs typeface="Georgia" panose="02040502050405020303"/>
                  <a:sym typeface="Georgia" panose="02040502050405020303"/>
                </a:rPr>
                <a:t>81,170</a:t>
              </a:r>
              <a:endParaRPr lang="en-US" sz="285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95" name="Group 95"/>
          <p:cNvGrpSpPr/>
          <p:nvPr/>
        </p:nvGrpSpPr>
        <p:grpSpPr>
          <a:xfrm>
            <a:off x="4660763" y="8702745"/>
            <a:ext cx="2676716" cy="219627"/>
            <a:chOff x="0" y="0"/>
            <a:chExt cx="3568954" cy="292837"/>
          </a:xfrm>
        </p:grpSpPr>
        <p:sp>
          <p:nvSpPr>
            <p:cNvPr id="96" name="Freeform 96"/>
            <p:cNvSpPr/>
            <p:nvPr/>
          </p:nvSpPr>
          <p:spPr>
            <a:xfrm>
              <a:off x="0" y="0"/>
              <a:ext cx="3568948" cy="292837"/>
            </a:xfrm>
            <a:custGeom>
              <a:avLst/>
              <a:gdLst/>
              <a:ahLst/>
              <a:cxnLst/>
              <a:rect l="l" t="t" r="r" b="b"/>
              <a:pathLst>
                <a:path w="3568948" h="292837">
                  <a:moveTo>
                    <a:pt x="0" y="0"/>
                  </a:moveTo>
                  <a:lnTo>
                    <a:pt x="3568948" y="0"/>
                  </a:lnTo>
                  <a:lnTo>
                    <a:pt x="3568948" y="292837"/>
                  </a:lnTo>
                  <a:lnTo>
                    <a:pt x="0" y="292837"/>
                  </a:lnTo>
                  <a:close/>
                </a:path>
              </a:pathLst>
            </a:custGeom>
            <a:blipFill>
              <a:blip r:embed="rId1">
                <a:alphaModFix amt="0"/>
              </a:blip>
              <a:stretch>
                <a:fillRect t="-187474" b="-187474"/>
              </a:stretch>
            </a:blipFill>
          </p:spPr>
        </p:sp>
        <p:sp>
          <p:nvSpPr>
            <p:cNvPr id="97" name="TextBox 97"/>
            <p:cNvSpPr txBox="1"/>
            <p:nvPr/>
          </p:nvSpPr>
          <p:spPr>
            <a:xfrm>
              <a:off x="0" y="0"/>
              <a:ext cx="3568954" cy="292837"/>
            </a:xfrm>
            <a:prstGeom prst="rect">
              <a:avLst/>
            </a:prstGeom>
          </p:spPr>
          <p:txBody>
            <a:bodyPr lIns="0" tIns="0" rIns="0" bIns="0" rtlCol="0" anchor="ctr"/>
            <a:lstStyle/>
            <a:p>
              <a:pPr algn="ctr">
                <a:lnSpc>
                  <a:spcPts val="1495"/>
                </a:lnSpc>
              </a:pPr>
              <a:r>
                <a:rPr lang="en-US" sz="1245">
                  <a:solidFill>
                    <a:srgbClr val="D9D7F2"/>
                  </a:solidFill>
                  <a:latin typeface="Aptos"/>
                  <a:ea typeface="Aptos"/>
                  <a:cs typeface="Aptos"/>
                  <a:sym typeface="Aptos"/>
                </a:rPr>
                <a:t>before IQR filtering</a:t>
              </a:r>
              <a:endParaRPr lang="en-US" sz="1245">
                <a:solidFill>
                  <a:srgbClr val="D9D7F2"/>
                </a:solidFill>
                <a:latin typeface="Aptos"/>
                <a:ea typeface="Aptos"/>
                <a:cs typeface="Aptos"/>
                <a:sym typeface="Aptos"/>
              </a:endParaRPr>
            </a:p>
          </p:txBody>
        </p:sp>
      </p:grpSp>
      <p:grpSp>
        <p:nvGrpSpPr>
          <p:cNvPr id="98" name="Group 98"/>
          <p:cNvGrpSpPr/>
          <p:nvPr/>
        </p:nvGrpSpPr>
        <p:grpSpPr>
          <a:xfrm>
            <a:off x="8403212" y="8560137"/>
            <a:ext cx="1753972" cy="38129"/>
            <a:chOff x="0" y="0"/>
            <a:chExt cx="2338629" cy="50838"/>
          </a:xfrm>
        </p:grpSpPr>
        <p:sp>
          <p:nvSpPr>
            <p:cNvPr id="99" name="Freeform 99"/>
            <p:cNvSpPr/>
            <p:nvPr/>
          </p:nvSpPr>
          <p:spPr>
            <a:xfrm>
              <a:off x="0" y="0"/>
              <a:ext cx="2338578" cy="50800"/>
            </a:xfrm>
            <a:custGeom>
              <a:avLst/>
              <a:gdLst/>
              <a:ahLst/>
              <a:cxnLst/>
              <a:rect l="l" t="t" r="r" b="b"/>
              <a:pathLst>
                <a:path w="2338578" h="50800">
                  <a:moveTo>
                    <a:pt x="0" y="0"/>
                  </a:moveTo>
                  <a:lnTo>
                    <a:pt x="2338578" y="50800"/>
                  </a:lnTo>
                </a:path>
              </a:pathLst>
            </a:custGeom>
            <a:blipFill>
              <a:blip r:embed="rId1">
                <a:alphaModFix amt="0"/>
              </a:blip>
              <a:stretch>
                <a:fillRect t="-846975" r="-2" b="-847050"/>
              </a:stretch>
            </a:blipFill>
            <a:ln w="38130" cap="sq">
              <a:solidFill>
                <a:srgbClr val="C6C9F6"/>
              </a:solidFill>
              <a:prstDash val="solid"/>
              <a:miter/>
            </a:ln>
          </p:spPr>
        </p:sp>
      </p:grpSp>
      <p:grpSp>
        <p:nvGrpSpPr>
          <p:cNvPr id="100" name="Group 100"/>
          <p:cNvGrpSpPr/>
          <p:nvPr/>
        </p:nvGrpSpPr>
        <p:grpSpPr>
          <a:xfrm>
            <a:off x="10467936" y="8085420"/>
            <a:ext cx="3389738" cy="1015013"/>
            <a:chOff x="0" y="0"/>
            <a:chExt cx="4519651" cy="1353350"/>
          </a:xfrm>
        </p:grpSpPr>
        <p:sp>
          <p:nvSpPr>
            <p:cNvPr id="101" name="Freeform 101"/>
            <p:cNvSpPr/>
            <p:nvPr/>
          </p:nvSpPr>
          <p:spPr>
            <a:xfrm>
              <a:off x="0" y="0"/>
              <a:ext cx="4519676" cy="1353312"/>
            </a:xfrm>
            <a:custGeom>
              <a:avLst/>
              <a:gdLst/>
              <a:ahLst/>
              <a:cxnLst/>
              <a:rect l="l" t="t" r="r" b="b"/>
              <a:pathLst>
                <a:path w="4519676" h="1353312">
                  <a:moveTo>
                    <a:pt x="0" y="169164"/>
                  </a:moveTo>
                  <a:cubicBezTo>
                    <a:pt x="0" y="75692"/>
                    <a:pt x="75692" y="0"/>
                    <a:pt x="169164" y="0"/>
                  </a:cubicBezTo>
                  <a:lnTo>
                    <a:pt x="4350512" y="0"/>
                  </a:lnTo>
                  <a:cubicBezTo>
                    <a:pt x="4443984" y="0"/>
                    <a:pt x="4519676" y="75692"/>
                    <a:pt x="4519676" y="169164"/>
                  </a:cubicBezTo>
                  <a:lnTo>
                    <a:pt x="4519676" y="1184148"/>
                  </a:lnTo>
                  <a:cubicBezTo>
                    <a:pt x="4519676" y="1277620"/>
                    <a:pt x="4443984" y="1353312"/>
                    <a:pt x="4350512" y="1353312"/>
                  </a:cubicBezTo>
                  <a:lnTo>
                    <a:pt x="169164" y="1353312"/>
                  </a:lnTo>
                  <a:cubicBezTo>
                    <a:pt x="75692" y="1353312"/>
                    <a:pt x="0" y="1277620"/>
                    <a:pt x="0" y="1184148"/>
                  </a:cubicBezTo>
                  <a:close/>
                </a:path>
              </a:pathLst>
            </a:custGeom>
            <a:solidFill>
              <a:srgbClr val="829BDC"/>
            </a:solidFill>
            <a:ln w="26691" cap="sq">
              <a:solidFill>
                <a:srgbClr val="1B0E2C"/>
              </a:solidFill>
              <a:prstDash val="solid"/>
              <a:miter/>
            </a:ln>
          </p:spPr>
        </p:sp>
      </p:grpSp>
      <p:grpSp>
        <p:nvGrpSpPr>
          <p:cNvPr id="102" name="Group 102"/>
          <p:cNvGrpSpPr/>
          <p:nvPr/>
        </p:nvGrpSpPr>
        <p:grpSpPr>
          <a:xfrm>
            <a:off x="10824447" y="8290941"/>
            <a:ext cx="2676716" cy="356892"/>
            <a:chOff x="0" y="0"/>
            <a:chExt cx="3568954" cy="475856"/>
          </a:xfrm>
        </p:grpSpPr>
        <p:sp>
          <p:nvSpPr>
            <p:cNvPr id="103" name="Freeform 103"/>
            <p:cNvSpPr/>
            <p:nvPr/>
          </p:nvSpPr>
          <p:spPr>
            <a:xfrm>
              <a:off x="0" y="0"/>
              <a:ext cx="3568948" cy="475860"/>
            </a:xfrm>
            <a:custGeom>
              <a:avLst/>
              <a:gdLst/>
              <a:ahLst/>
              <a:cxnLst/>
              <a:rect l="l" t="t" r="r" b="b"/>
              <a:pathLst>
                <a:path w="3568948" h="475860">
                  <a:moveTo>
                    <a:pt x="0" y="0"/>
                  </a:moveTo>
                  <a:lnTo>
                    <a:pt x="3568948" y="0"/>
                  </a:lnTo>
                  <a:lnTo>
                    <a:pt x="3568948" y="475860"/>
                  </a:lnTo>
                  <a:lnTo>
                    <a:pt x="0" y="475860"/>
                  </a:lnTo>
                  <a:close/>
                </a:path>
              </a:pathLst>
            </a:custGeom>
            <a:blipFill>
              <a:blip r:embed="rId1">
                <a:alphaModFix amt="0"/>
              </a:blip>
              <a:stretch>
                <a:fillRect t="-96138" b="-96137"/>
              </a:stretch>
            </a:blipFill>
          </p:spPr>
        </p:sp>
        <p:sp>
          <p:nvSpPr>
            <p:cNvPr id="104" name="TextBox 104"/>
            <p:cNvSpPr txBox="1"/>
            <p:nvPr/>
          </p:nvSpPr>
          <p:spPr>
            <a:xfrm>
              <a:off x="0" y="-9525"/>
              <a:ext cx="3568954" cy="485381"/>
            </a:xfrm>
            <a:prstGeom prst="rect">
              <a:avLst/>
            </a:prstGeom>
          </p:spPr>
          <p:txBody>
            <a:bodyPr lIns="0" tIns="0" rIns="0" bIns="0" rtlCol="0" anchor="ctr"/>
            <a:lstStyle/>
            <a:p>
              <a:pPr algn="ctr">
                <a:lnSpc>
                  <a:spcPts val="3420"/>
                </a:lnSpc>
              </a:pPr>
              <a:r>
                <a:rPr lang="en-US" sz="2850">
                  <a:solidFill>
                    <a:srgbClr val="FFFFFF"/>
                  </a:solidFill>
                  <a:latin typeface="Georgia" panose="02040502050405020303"/>
                  <a:ea typeface="Georgia" panose="02040502050405020303"/>
                  <a:cs typeface="Georgia" panose="02040502050405020303"/>
                  <a:sym typeface="Georgia" panose="02040502050405020303"/>
                </a:rPr>
                <a:t>66,039</a:t>
              </a:r>
              <a:endParaRPr lang="en-US" sz="2850">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105" name="Group 105"/>
          <p:cNvGrpSpPr/>
          <p:nvPr/>
        </p:nvGrpSpPr>
        <p:grpSpPr>
          <a:xfrm>
            <a:off x="10824447" y="8702745"/>
            <a:ext cx="2676716" cy="219627"/>
            <a:chOff x="0" y="0"/>
            <a:chExt cx="3568954" cy="292837"/>
          </a:xfrm>
        </p:grpSpPr>
        <p:sp>
          <p:nvSpPr>
            <p:cNvPr id="106" name="Freeform 106"/>
            <p:cNvSpPr/>
            <p:nvPr/>
          </p:nvSpPr>
          <p:spPr>
            <a:xfrm>
              <a:off x="0" y="0"/>
              <a:ext cx="3568948" cy="292837"/>
            </a:xfrm>
            <a:custGeom>
              <a:avLst/>
              <a:gdLst/>
              <a:ahLst/>
              <a:cxnLst/>
              <a:rect l="l" t="t" r="r" b="b"/>
              <a:pathLst>
                <a:path w="3568948" h="292837">
                  <a:moveTo>
                    <a:pt x="0" y="0"/>
                  </a:moveTo>
                  <a:lnTo>
                    <a:pt x="3568948" y="0"/>
                  </a:lnTo>
                  <a:lnTo>
                    <a:pt x="3568948" y="292837"/>
                  </a:lnTo>
                  <a:lnTo>
                    <a:pt x="0" y="292837"/>
                  </a:lnTo>
                  <a:close/>
                </a:path>
              </a:pathLst>
            </a:custGeom>
            <a:blipFill>
              <a:blip r:embed="rId1">
                <a:alphaModFix amt="0"/>
              </a:blip>
              <a:stretch>
                <a:fillRect t="-187474" b="-187474"/>
              </a:stretch>
            </a:blipFill>
          </p:spPr>
        </p:sp>
        <p:sp>
          <p:nvSpPr>
            <p:cNvPr id="107" name="TextBox 107"/>
            <p:cNvSpPr txBox="1"/>
            <p:nvPr/>
          </p:nvSpPr>
          <p:spPr>
            <a:xfrm>
              <a:off x="0" y="0"/>
              <a:ext cx="3568954" cy="292837"/>
            </a:xfrm>
            <a:prstGeom prst="rect">
              <a:avLst/>
            </a:prstGeom>
          </p:spPr>
          <p:txBody>
            <a:bodyPr lIns="0" tIns="0" rIns="0" bIns="0" rtlCol="0" anchor="ctr"/>
            <a:lstStyle/>
            <a:p>
              <a:pPr algn="ctr">
                <a:lnSpc>
                  <a:spcPts val="1495"/>
                </a:lnSpc>
              </a:pPr>
              <a:r>
                <a:rPr lang="en-US" sz="1245">
                  <a:solidFill>
                    <a:srgbClr val="D9D7F2"/>
                  </a:solidFill>
                  <a:latin typeface="Aptos"/>
                  <a:ea typeface="Aptos"/>
                  <a:cs typeface="Aptos"/>
                  <a:sym typeface="Aptos"/>
                </a:rPr>
                <a:t>after IQR filtering</a:t>
              </a:r>
              <a:endParaRPr lang="en-US" sz="1245">
                <a:solidFill>
                  <a:srgbClr val="D9D7F2"/>
                </a:solidFill>
                <a:latin typeface="Aptos"/>
                <a:ea typeface="Aptos"/>
                <a:cs typeface="Aptos"/>
                <a:sym typeface="Aptos"/>
              </a:endParaRPr>
            </a:p>
          </p:txBody>
        </p:sp>
      </p:grpSp>
      <p:grpSp>
        <p:nvGrpSpPr>
          <p:cNvPr id="108" name="Group 108"/>
          <p:cNvGrpSpPr/>
          <p:nvPr/>
        </p:nvGrpSpPr>
        <p:grpSpPr>
          <a:xfrm>
            <a:off x="14315227" y="7690718"/>
            <a:ext cx="3382108" cy="1543170"/>
            <a:chOff x="0" y="0"/>
            <a:chExt cx="4509478" cy="2057560"/>
          </a:xfrm>
        </p:grpSpPr>
        <p:sp>
          <p:nvSpPr>
            <p:cNvPr id="109" name="Freeform 109"/>
            <p:cNvSpPr/>
            <p:nvPr/>
          </p:nvSpPr>
          <p:spPr>
            <a:xfrm>
              <a:off x="0" y="0"/>
              <a:ext cx="4509516" cy="2057455"/>
            </a:xfrm>
            <a:custGeom>
              <a:avLst/>
              <a:gdLst/>
              <a:ahLst/>
              <a:cxnLst/>
              <a:rect l="l" t="t" r="r" b="b"/>
              <a:pathLst>
                <a:path w="4509516" h="2057455">
                  <a:moveTo>
                    <a:pt x="0" y="342909"/>
                  </a:moveTo>
                  <a:cubicBezTo>
                    <a:pt x="0" y="153568"/>
                    <a:pt x="130302" y="0"/>
                    <a:pt x="290957" y="0"/>
                  </a:cubicBezTo>
                  <a:lnTo>
                    <a:pt x="4218559" y="0"/>
                  </a:lnTo>
                  <a:cubicBezTo>
                    <a:pt x="4379214" y="0"/>
                    <a:pt x="4509516" y="153568"/>
                    <a:pt x="4509516" y="342909"/>
                  </a:cubicBezTo>
                  <a:lnTo>
                    <a:pt x="4509516" y="1714546"/>
                  </a:lnTo>
                  <a:cubicBezTo>
                    <a:pt x="4509516" y="1903887"/>
                    <a:pt x="4379214" y="2057455"/>
                    <a:pt x="4218559" y="2057455"/>
                  </a:cubicBezTo>
                  <a:lnTo>
                    <a:pt x="290957" y="2057455"/>
                  </a:lnTo>
                  <a:cubicBezTo>
                    <a:pt x="130302" y="2057598"/>
                    <a:pt x="0" y="1904036"/>
                    <a:pt x="0" y="1714695"/>
                  </a:cubicBezTo>
                  <a:close/>
                </a:path>
              </a:pathLst>
            </a:custGeom>
            <a:solidFill>
              <a:srgbClr val="FFFFFF">
                <a:alpha val="1176"/>
              </a:srgbClr>
            </a:solidFill>
            <a:ln w="19065" cap="sq">
              <a:solidFill>
                <a:srgbClr val="C6C9F6"/>
              </a:solidFill>
              <a:prstDash val="solid"/>
              <a:miter/>
            </a:ln>
          </p:spPr>
        </p:sp>
      </p:grpSp>
      <p:grpSp>
        <p:nvGrpSpPr>
          <p:cNvPr id="110" name="Group 110"/>
          <p:cNvGrpSpPr/>
          <p:nvPr/>
        </p:nvGrpSpPr>
        <p:grpSpPr>
          <a:xfrm>
            <a:off x="14489486" y="7849787"/>
            <a:ext cx="3033608" cy="1250646"/>
            <a:chOff x="0" y="0"/>
            <a:chExt cx="4044810" cy="1667528"/>
          </a:xfrm>
        </p:grpSpPr>
        <p:sp>
          <p:nvSpPr>
            <p:cNvPr id="111" name="Freeform 111"/>
            <p:cNvSpPr/>
            <p:nvPr/>
          </p:nvSpPr>
          <p:spPr>
            <a:xfrm>
              <a:off x="0" y="0"/>
              <a:ext cx="4044808" cy="1667525"/>
            </a:xfrm>
            <a:custGeom>
              <a:avLst/>
              <a:gdLst/>
              <a:ahLst/>
              <a:cxnLst/>
              <a:rect l="l" t="t" r="r" b="b"/>
              <a:pathLst>
                <a:path w="4044808" h="1667525">
                  <a:moveTo>
                    <a:pt x="0" y="0"/>
                  </a:moveTo>
                  <a:lnTo>
                    <a:pt x="4044808" y="0"/>
                  </a:lnTo>
                  <a:lnTo>
                    <a:pt x="4044808" y="1667525"/>
                  </a:lnTo>
                  <a:lnTo>
                    <a:pt x="0" y="1667525"/>
                  </a:lnTo>
                  <a:close/>
                </a:path>
              </a:pathLst>
            </a:custGeom>
            <a:blipFill>
              <a:blip r:embed="rId1">
                <a:alphaModFix amt="0"/>
              </a:blip>
              <a:stretch>
                <a:fillRect t="-4458" b="9930"/>
              </a:stretch>
            </a:blipFill>
          </p:spPr>
        </p:sp>
        <p:sp>
          <p:nvSpPr>
            <p:cNvPr id="112" name="TextBox 112"/>
            <p:cNvSpPr txBox="1"/>
            <p:nvPr/>
          </p:nvSpPr>
          <p:spPr>
            <a:xfrm>
              <a:off x="0" y="0"/>
              <a:ext cx="4044810" cy="1667528"/>
            </a:xfrm>
            <a:prstGeom prst="rect">
              <a:avLst/>
            </a:prstGeom>
          </p:spPr>
          <p:txBody>
            <a:bodyPr lIns="0" tIns="0" rIns="0" bIns="0" rtlCol="0" anchor="ctr"/>
            <a:lstStyle/>
            <a:p>
              <a:pPr algn="l">
                <a:lnSpc>
                  <a:spcPts val="1945"/>
                </a:lnSpc>
              </a:pPr>
              <a:r>
                <a:rPr lang="en-US" sz="1620">
                  <a:solidFill>
                    <a:srgbClr val="D9D7F2"/>
                  </a:solidFill>
                  <a:latin typeface="Aptos"/>
                  <a:ea typeface="Aptos"/>
                  <a:cs typeface="Aptos"/>
                  <a:sym typeface="Aptos"/>
                </a:rPr>
                <a:t>Note: IQR filtering reduces extreme values and makes basic visualisation easier. For future ML, outliers can also be capped instead of removed.</a:t>
              </a:r>
              <a:endParaRPr lang="en-US" sz="1620">
                <a:solidFill>
                  <a:srgbClr val="D9D7F2"/>
                </a:solidFill>
                <a:latin typeface="Aptos"/>
                <a:ea typeface="Aptos"/>
                <a:cs typeface="Aptos"/>
                <a:sym typeface="Aptos"/>
              </a:endParaRPr>
            </a:p>
          </p:txBody>
        </p:sp>
      </p:grpSp>
      <p:grpSp>
        <p:nvGrpSpPr>
          <p:cNvPr id="113" name="Group 113"/>
          <p:cNvGrpSpPr/>
          <p:nvPr/>
        </p:nvGrpSpPr>
        <p:grpSpPr>
          <a:xfrm>
            <a:off x="1097735" y="1160169"/>
            <a:ext cx="1553688" cy="1270637"/>
            <a:chOff x="0" y="0"/>
            <a:chExt cx="543719" cy="444664"/>
          </a:xfrm>
        </p:grpSpPr>
        <p:sp>
          <p:nvSpPr>
            <p:cNvPr id="114" name="Freeform 114"/>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3"/>
              <a:stretch>
                <a:fillRect l="-4521" r="-4521"/>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9535" y="-9535"/>
            <a:ext cx="18320909" cy="10314108"/>
            <a:chOff x="0" y="0"/>
            <a:chExt cx="24427878" cy="13752144"/>
          </a:xfrm>
        </p:grpSpPr>
        <p:sp>
          <p:nvSpPr>
            <p:cNvPr id="3" name="Freeform 3"/>
            <p:cNvSpPr/>
            <p:nvPr/>
          </p:nvSpPr>
          <p:spPr>
            <a:xfrm>
              <a:off x="0" y="0"/>
              <a:ext cx="24427814" cy="13752195"/>
            </a:xfrm>
            <a:custGeom>
              <a:avLst/>
              <a:gdLst/>
              <a:ahLst/>
              <a:cxnLst/>
              <a:rect l="l" t="t" r="r" b="b"/>
              <a:pathLst>
                <a:path w="24427814" h="13752195">
                  <a:moveTo>
                    <a:pt x="0" y="0"/>
                  </a:moveTo>
                  <a:lnTo>
                    <a:pt x="24427814" y="0"/>
                  </a:lnTo>
                  <a:lnTo>
                    <a:pt x="24427814" y="13752195"/>
                  </a:lnTo>
                  <a:lnTo>
                    <a:pt x="0" y="13752195"/>
                  </a:lnTo>
                  <a:close/>
                </a:path>
              </a:pathLst>
            </a:custGeom>
            <a:solidFill>
              <a:srgbClr val="3B1368"/>
            </a:solidFill>
            <a:ln w="19065" cap="sq">
              <a:solidFill>
                <a:srgbClr val="3B1368"/>
              </a:solidFill>
              <a:prstDash val="solid"/>
              <a:miter/>
            </a:ln>
          </p:spPr>
        </p:sp>
      </p:grpSp>
      <p:grpSp>
        <p:nvGrpSpPr>
          <p:cNvPr id="4" name="Group 4"/>
          <p:cNvGrpSpPr/>
          <p:nvPr/>
        </p:nvGrpSpPr>
        <p:grpSpPr>
          <a:xfrm>
            <a:off x="-9535" y="-9535"/>
            <a:ext cx="4126714" cy="10314108"/>
            <a:chOff x="0" y="0"/>
            <a:chExt cx="5502285" cy="13752144"/>
          </a:xfrm>
        </p:grpSpPr>
        <p:sp>
          <p:nvSpPr>
            <p:cNvPr id="5" name="Freeform 5"/>
            <p:cNvSpPr/>
            <p:nvPr/>
          </p:nvSpPr>
          <p:spPr>
            <a:xfrm>
              <a:off x="0" y="0"/>
              <a:ext cx="5502248" cy="13752195"/>
            </a:xfrm>
            <a:custGeom>
              <a:avLst/>
              <a:gdLst/>
              <a:ahLst/>
              <a:cxnLst/>
              <a:rect l="l" t="t" r="r" b="b"/>
              <a:pathLst>
                <a:path w="5502248" h="13752195">
                  <a:moveTo>
                    <a:pt x="0" y="0"/>
                  </a:moveTo>
                  <a:lnTo>
                    <a:pt x="5502248" y="0"/>
                  </a:lnTo>
                  <a:lnTo>
                    <a:pt x="5502248" y="13752195"/>
                  </a:lnTo>
                  <a:lnTo>
                    <a:pt x="0" y="13752195"/>
                  </a:lnTo>
                  <a:close/>
                </a:path>
              </a:pathLst>
            </a:custGeom>
            <a:solidFill>
              <a:srgbClr val="BFC6F8"/>
            </a:solidFill>
            <a:ln w="19065" cap="sq">
              <a:solidFill>
                <a:srgbClr val="BFC6F8"/>
              </a:solidFill>
              <a:prstDash val="solid"/>
              <a:miter/>
            </a:ln>
          </p:spPr>
        </p:sp>
      </p:grpSp>
      <p:grpSp>
        <p:nvGrpSpPr>
          <p:cNvPr id="6" name="Group 6"/>
          <p:cNvGrpSpPr/>
          <p:nvPr/>
        </p:nvGrpSpPr>
        <p:grpSpPr>
          <a:xfrm>
            <a:off x="4780555" y="9636157"/>
            <a:ext cx="3157147" cy="411804"/>
            <a:chOff x="0" y="0"/>
            <a:chExt cx="4209529" cy="549072"/>
          </a:xfrm>
        </p:grpSpPr>
        <p:sp>
          <p:nvSpPr>
            <p:cNvPr id="7" name="Freeform 7"/>
            <p:cNvSpPr/>
            <p:nvPr/>
          </p:nvSpPr>
          <p:spPr>
            <a:xfrm>
              <a:off x="0" y="0"/>
              <a:ext cx="4209529" cy="549069"/>
            </a:xfrm>
            <a:custGeom>
              <a:avLst/>
              <a:gdLst/>
              <a:ahLst/>
              <a:cxnLst/>
              <a:rect l="l" t="t" r="r" b="b"/>
              <a:pathLst>
                <a:path w="4209529" h="549069">
                  <a:moveTo>
                    <a:pt x="0" y="0"/>
                  </a:moveTo>
                  <a:lnTo>
                    <a:pt x="4209529" y="0"/>
                  </a:lnTo>
                  <a:lnTo>
                    <a:pt x="4209529" y="549069"/>
                  </a:lnTo>
                  <a:lnTo>
                    <a:pt x="0" y="549069"/>
                  </a:lnTo>
                  <a:close/>
                </a:path>
              </a:pathLst>
            </a:custGeom>
            <a:blipFill>
              <a:blip r:embed="rId1">
                <a:alphaModFix amt="0"/>
              </a:blip>
              <a:stretch>
                <a:fillRect t="-99385" b="-99385"/>
              </a:stretch>
            </a:blipFill>
          </p:spPr>
        </p:sp>
        <p:sp>
          <p:nvSpPr>
            <p:cNvPr id="8" name="TextBox 8"/>
            <p:cNvSpPr txBox="1"/>
            <p:nvPr/>
          </p:nvSpPr>
          <p:spPr>
            <a:xfrm>
              <a:off x="0" y="0"/>
              <a:ext cx="4209529" cy="549072"/>
            </a:xfrm>
            <a:prstGeom prst="rect">
              <a:avLst/>
            </a:prstGeom>
          </p:spPr>
          <p:txBody>
            <a:bodyPr lIns="0" tIns="0" rIns="0" bIns="0" rtlCol="0" anchor="ctr"/>
            <a:lstStyle/>
            <a:p>
              <a:pPr algn="l">
                <a:lnSpc>
                  <a:spcPts val="3240"/>
                </a:lnSpc>
              </a:pPr>
              <a:r>
                <a:rPr lang="en-US" sz="2700">
                  <a:solidFill>
                    <a:srgbClr val="FFFFFF"/>
                  </a:solidFill>
                  <a:latin typeface="Aptos"/>
                  <a:ea typeface="Aptos"/>
                  <a:cs typeface="Aptos"/>
                  <a:sym typeface="Aptos"/>
                </a:rPr>
                <a:t>Milestone 1</a:t>
              </a:r>
              <a:endParaRPr lang="en-US" sz="2700">
                <a:solidFill>
                  <a:srgbClr val="FFFFFF"/>
                </a:solidFill>
                <a:latin typeface="Aptos"/>
                <a:ea typeface="Aptos"/>
                <a:cs typeface="Aptos"/>
                <a:sym typeface="Aptos"/>
              </a:endParaRPr>
            </a:p>
          </p:txBody>
        </p:sp>
      </p:grpSp>
      <p:grpSp>
        <p:nvGrpSpPr>
          <p:cNvPr id="9" name="Group 9"/>
          <p:cNvGrpSpPr/>
          <p:nvPr/>
        </p:nvGrpSpPr>
        <p:grpSpPr>
          <a:xfrm>
            <a:off x="16266166" y="9636157"/>
            <a:ext cx="1441304" cy="411804"/>
            <a:chOff x="0" y="0"/>
            <a:chExt cx="1921739" cy="549072"/>
          </a:xfrm>
        </p:grpSpPr>
        <p:sp>
          <p:nvSpPr>
            <p:cNvPr id="10" name="Freeform 10"/>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1">
                <a:alphaModFix amt="0"/>
              </a:blip>
              <a:stretch>
                <a:fillRect t="-18197" b="-18197"/>
              </a:stretch>
            </a:blipFill>
          </p:spPr>
        </p:sp>
        <p:sp>
          <p:nvSpPr>
            <p:cNvPr id="11" name="TextBox 11"/>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a:t>
              </a:r>
              <a:r>
                <a:rPr lang="en-IN" altLang="en-US" sz="2100">
                  <a:solidFill>
                    <a:srgbClr val="FFFFFF"/>
                  </a:solidFill>
                  <a:latin typeface="Aptos"/>
                  <a:ea typeface="Aptos"/>
                  <a:cs typeface="Aptos"/>
                  <a:sym typeface="Aptos"/>
                </a:rPr>
                <a:t>8</a:t>
              </a:r>
              <a:endParaRPr lang="en-IN" altLang="en-US" sz="2100">
                <a:solidFill>
                  <a:srgbClr val="FFFFFF"/>
                </a:solidFill>
                <a:latin typeface="Aptos"/>
                <a:ea typeface="Aptos"/>
                <a:cs typeface="Aptos"/>
                <a:sym typeface="Aptos"/>
              </a:endParaRPr>
            </a:p>
          </p:txBody>
        </p:sp>
      </p:grpSp>
      <p:grpSp>
        <p:nvGrpSpPr>
          <p:cNvPr id="12" name="Group 12"/>
          <p:cNvGrpSpPr/>
          <p:nvPr/>
        </p:nvGrpSpPr>
        <p:grpSpPr>
          <a:xfrm>
            <a:off x="4780555" y="754971"/>
            <a:ext cx="13726725" cy="823608"/>
            <a:chOff x="0" y="0"/>
            <a:chExt cx="18302300" cy="1098144"/>
          </a:xfrm>
        </p:grpSpPr>
        <p:sp>
          <p:nvSpPr>
            <p:cNvPr id="13" name="Freeform 13"/>
            <p:cNvSpPr/>
            <p:nvPr/>
          </p:nvSpPr>
          <p:spPr>
            <a:xfrm>
              <a:off x="0" y="0"/>
              <a:ext cx="18302298" cy="1098138"/>
            </a:xfrm>
            <a:custGeom>
              <a:avLst/>
              <a:gdLst/>
              <a:ahLst/>
              <a:cxnLst/>
              <a:rect l="l" t="t" r="r" b="b"/>
              <a:pathLst>
                <a:path w="18302298" h="1098138">
                  <a:moveTo>
                    <a:pt x="0" y="0"/>
                  </a:moveTo>
                  <a:lnTo>
                    <a:pt x="18302298" y="0"/>
                  </a:lnTo>
                  <a:lnTo>
                    <a:pt x="18302298" y="1098138"/>
                  </a:lnTo>
                  <a:lnTo>
                    <a:pt x="0" y="1098138"/>
                  </a:lnTo>
                  <a:close/>
                </a:path>
              </a:pathLst>
            </a:custGeom>
            <a:blipFill>
              <a:blip r:embed="rId1">
                <a:alphaModFix amt="0"/>
              </a:blip>
              <a:stretch>
                <a:fillRect t="-274750" b="-274750"/>
              </a:stretch>
            </a:blipFill>
          </p:spPr>
        </p:sp>
        <p:sp>
          <p:nvSpPr>
            <p:cNvPr id="14" name="TextBox 14"/>
            <p:cNvSpPr txBox="1"/>
            <p:nvPr/>
          </p:nvSpPr>
          <p:spPr>
            <a:xfrm>
              <a:off x="0" y="-9525"/>
              <a:ext cx="18302300" cy="1107669"/>
            </a:xfrm>
            <a:prstGeom prst="rect">
              <a:avLst/>
            </a:prstGeom>
          </p:spPr>
          <p:txBody>
            <a:bodyPr lIns="0" tIns="0" rIns="0" bIns="0" rtlCol="0" anchor="ctr"/>
            <a:lstStyle/>
            <a:p>
              <a:pPr algn="l">
                <a:lnSpc>
                  <a:spcPts val="6845"/>
                </a:lnSpc>
              </a:pPr>
              <a:r>
                <a:rPr lang="en-US" sz="5705">
                  <a:solidFill>
                    <a:srgbClr val="FFFFFF"/>
                  </a:solidFill>
                  <a:latin typeface="Georgia" panose="02040502050405020303"/>
                  <a:ea typeface="Georgia" panose="02040502050405020303"/>
                  <a:cs typeface="Georgia" panose="02040502050405020303"/>
                  <a:sym typeface="Georgia" panose="02040502050405020303"/>
                </a:rPr>
                <a:t>Final Validation &amp; Output</a:t>
              </a:r>
              <a:endParaRPr lang="en-US" sz="57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15" name="Group 15"/>
          <p:cNvGrpSpPr/>
          <p:nvPr/>
        </p:nvGrpSpPr>
        <p:grpSpPr>
          <a:xfrm>
            <a:off x="4821731" y="1990373"/>
            <a:ext cx="12903117" cy="466706"/>
            <a:chOff x="0" y="0"/>
            <a:chExt cx="17204157" cy="622275"/>
          </a:xfrm>
        </p:grpSpPr>
        <p:sp>
          <p:nvSpPr>
            <p:cNvPr id="16" name="Freeform 16"/>
            <p:cNvSpPr/>
            <p:nvPr/>
          </p:nvSpPr>
          <p:spPr>
            <a:xfrm>
              <a:off x="0" y="0"/>
              <a:ext cx="17204161" cy="622278"/>
            </a:xfrm>
            <a:custGeom>
              <a:avLst/>
              <a:gdLst/>
              <a:ahLst/>
              <a:cxnLst/>
              <a:rect l="l" t="t" r="r" b="b"/>
              <a:pathLst>
                <a:path w="17204161" h="622278">
                  <a:moveTo>
                    <a:pt x="0" y="0"/>
                  </a:moveTo>
                  <a:lnTo>
                    <a:pt x="17204161" y="0"/>
                  </a:lnTo>
                  <a:lnTo>
                    <a:pt x="17204161" y="622278"/>
                  </a:lnTo>
                  <a:lnTo>
                    <a:pt x="0" y="622278"/>
                  </a:lnTo>
                  <a:close/>
                </a:path>
              </a:pathLst>
            </a:custGeom>
            <a:blipFill>
              <a:blip r:embed="rId1">
                <a:alphaModFix amt="0"/>
              </a:blip>
              <a:stretch>
                <a:fillRect t="-488704" b="-488703"/>
              </a:stretch>
            </a:blipFill>
          </p:spPr>
        </p:sp>
        <p:sp>
          <p:nvSpPr>
            <p:cNvPr id="17" name="TextBox 17"/>
            <p:cNvSpPr txBox="1"/>
            <p:nvPr/>
          </p:nvSpPr>
          <p:spPr>
            <a:xfrm>
              <a:off x="0" y="0"/>
              <a:ext cx="17204157" cy="622275"/>
            </a:xfrm>
            <a:prstGeom prst="rect">
              <a:avLst/>
            </a:prstGeom>
          </p:spPr>
          <p:txBody>
            <a:bodyPr lIns="0" tIns="0" rIns="0" bIns="0" rtlCol="0" anchor="ctr"/>
            <a:lstStyle/>
            <a:p>
              <a:pPr algn="l">
                <a:lnSpc>
                  <a:spcPts val="3060"/>
                </a:lnSpc>
              </a:pPr>
              <a:r>
                <a:rPr lang="en-US" sz="2550">
                  <a:solidFill>
                    <a:srgbClr val="D9D7F2"/>
                  </a:solidFill>
                  <a:latin typeface="Aptos"/>
                  <a:ea typeface="Aptos"/>
                  <a:cs typeface="Aptos"/>
                  <a:sym typeface="Aptos"/>
                </a:rPr>
                <a:t>The cleaned dataset is saved and ready for Milestone 2 Exploratory Data Analysis.</a:t>
              </a:r>
              <a:endParaRPr lang="en-US" sz="2550">
                <a:solidFill>
                  <a:srgbClr val="D9D7F2"/>
                </a:solidFill>
                <a:latin typeface="Aptos"/>
                <a:ea typeface="Aptos"/>
                <a:cs typeface="Aptos"/>
                <a:sym typeface="Aptos"/>
              </a:endParaRPr>
            </a:p>
          </p:txBody>
        </p:sp>
      </p:grpSp>
      <p:grpSp>
        <p:nvGrpSpPr>
          <p:cNvPr id="18" name="Group 18"/>
          <p:cNvGrpSpPr/>
          <p:nvPr/>
        </p:nvGrpSpPr>
        <p:grpSpPr>
          <a:xfrm>
            <a:off x="4775783" y="2603316"/>
            <a:ext cx="3098044" cy="544878"/>
            <a:chOff x="0" y="0"/>
            <a:chExt cx="4130726" cy="726504"/>
          </a:xfrm>
        </p:grpSpPr>
        <p:sp>
          <p:nvSpPr>
            <p:cNvPr id="19" name="Freeform 19"/>
            <p:cNvSpPr/>
            <p:nvPr/>
          </p:nvSpPr>
          <p:spPr>
            <a:xfrm>
              <a:off x="0" y="0"/>
              <a:ext cx="4130675" cy="726440"/>
            </a:xfrm>
            <a:custGeom>
              <a:avLst/>
              <a:gdLst/>
              <a:ahLst/>
              <a:cxnLst/>
              <a:rect l="l" t="t" r="r" b="b"/>
              <a:pathLst>
                <a:path w="4130675" h="726440">
                  <a:moveTo>
                    <a:pt x="0" y="0"/>
                  </a:moveTo>
                  <a:lnTo>
                    <a:pt x="4130675" y="0"/>
                  </a:lnTo>
                  <a:lnTo>
                    <a:pt x="4130675" y="726440"/>
                  </a:lnTo>
                  <a:lnTo>
                    <a:pt x="0" y="726440"/>
                  </a:lnTo>
                  <a:close/>
                </a:path>
              </a:pathLst>
            </a:custGeom>
            <a:solidFill>
              <a:srgbClr val="829BDC"/>
            </a:solidFill>
            <a:ln w="9532" cap="sq">
              <a:solidFill>
                <a:srgbClr val="D8D5E8"/>
              </a:solidFill>
              <a:prstDash val="solid"/>
              <a:miter/>
            </a:ln>
          </p:spPr>
        </p:sp>
      </p:grpSp>
      <p:grpSp>
        <p:nvGrpSpPr>
          <p:cNvPr id="20" name="Group 20"/>
          <p:cNvGrpSpPr/>
          <p:nvPr/>
        </p:nvGrpSpPr>
        <p:grpSpPr>
          <a:xfrm>
            <a:off x="4835457" y="2662980"/>
            <a:ext cx="2978696" cy="425529"/>
            <a:chOff x="0" y="0"/>
            <a:chExt cx="3971595" cy="567372"/>
          </a:xfrm>
        </p:grpSpPr>
        <p:sp>
          <p:nvSpPr>
            <p:cNvPr id="21" name="Freeform 21"/>
            <p:cNvSpPr/>
            <p:nvPr/>
          </p:nvSpPr>
          <p:spPr>
            <a:xfrm>
              <a:off x="0" y="0"/>
              <a:ext cx="3971599" cy="567371"/>
            </a:xfrm>
            <a:custGeom>
              <a:avLst/>
              <a:gdLst/>
              <a:ahLst/>
              <a:cxnLst/>
              <a:rect l="l" t="t" r="r" b="b"/>
              <a:pathLst>
                <a:path w="3971599" h="567371">
                  <a:moveTo>
                    <a:pt x="0" y="0"/>
                  </a:moveTo>
                  <a:lnTo>
                    <a:pt x="3971599" y="0"/>
                  </a:lnTo>
                  <a:lnTo>
                    <a:pt x="3971599" y="567371"/>
                  </a:lnTo>
                  <a:lnTo>
                    <a:pt x="0" y="567371"/>
                  </a:lnTo>
                  <a:close/>
                </a:path>
              </a:pathLst>
            </a:custGeom>
            <a:blipFill>
              <a:blip r:embed="rId1">
                <a:alphaModFix amt="0"/>
              </a:blip>
              <a:stretch>
                <a:fillRect t="-86395" b="-86395"/>
              </a:stretch>
            </a:blipFill>
          </p:spPr>
        </p:sp>
        <p:sp>
          <p:nvSpPr>
            <p:cNvPr id="22" name="TextBox 22"/>
            <p:cNvSpPr txBox="1"/>
            <p:nvPr/>
          </p:nvSpPr>
          <p:spPr>
            <a:xfrm>
              <a:off x="0" y="0"/>
              <a:ext cx="3971595" cy="567372"/>
            </a:xfrm>
            <a:prstGeom prst="rect">
              <a:avLst/>
            </a:prstGeom>
          </p:spPr>
          <p:txBody>
            <a:bodyPr lIns="0" tIns="0" rIns="0" bIns="0" rtlCol="0" anchor="ctr"/>
            <a:lstStyle/>
            <a:p>
              <a:pPr algn="l">
                <a:lnSpc>
                  <a:spcPts val="1820"/>
                </a:lnSpc>
              </a:pPr>
              <a:r>
                <a:rPr lang="en-US" sz="1515" b="1">
                  <a:solidFill>
                    <a:srgbClr val="FFFFFF"/>
                  </a:solidFill>
                  <a:latin typeface="Aptos Bold" panose="020B0004020202020204"/>
                  <a:ea typeface="Aptos Bold" panose="020B0004020202020204"/>
                  <a:cs typeface="Aptos Bold" panose="020B0004020202020204"/>
                  <a:sym typeface="Aptos Bold" panose="020B0004020202020204"/>
                </a:rPr>
                <a:t>Check</a:t>
              </a:r>
              <a:endParaRPr lang="en-US" sz="151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23" name="Group 23"/>
          <p:cNvGrpSpPr/>
          <p:nvPr/>
        </p:nvGrpSpPr>
        <p:grpSpPr>
          <a:xfrm>
            <a:off x="7864302" y="2603316"/>
            <a:ext cx="1999907" cy="544878"/>
            <a:chOff x="0" y="0"/>
            <a:chExt cx="2666543" cy="726504"/>
          </a:xfrm>
        </p:grpSpPr>
        <p:sp>
          <p:nvSpPr>
            <p:cNvPr id="24" name="Freeform 24"/>
            <p:cNvSpPr/>
            <p:nvPr/>
          </p:nvSpPr>
          <p:spPr>
            <a:xfrm>
              <a:off x="0" y="0"/>
              <a:ext cx="2666492" cy="726440"/>
            </a:xfrm>
            <a:custGeom>
              <a:avLst/>
              <a:gdLst/>
              <a:ahLst/>
              <a:cxnLst/>
              <a:rect l="l" t="t" r="r" b="b"/>
              <a:pathLst>
                <a:path w="2666492" h="726440">
                  <a:moveTo>
                    <a:pt x="0" y="0"/>
                  </a:moveTo>
                  <a:lnTo>
                    <a:pt x="2666492" y="0"/>
                  </a:lnTo>
                  <a:lnTo>
                    <a:pt x="2666492" y="726440"/>
                  </a:lnTo>
                  <a:lnTo>
                    <a:pt x="0" y="726440"/>
                  </a:lnTo>
                  <a:close/>
                </a:path>
              </a:pathLst>
            </a:custGeom>
            <a:solidFill>
              <a:srgbClr val="829BDC"/>
            </a:solidFill>
            <a:ln w="9532" cap="sq">
              <a:solidFill>
                <a:srgbClr val="D8D5E8"/>
              </a:solidFill>
              <a:prstDash val="solid"/>
              <a:miter/>
            </a:ln>
          </p:spPr>
        </p:sp>
      </p:grpSp>
      <p:grpSp>
        <p:nvGrpSpPr>
          <p:cNvPr id="25" name="Group 25"/>
          <p:cNvGrpSpPr/>
          <p:nvPr/>
        </p:nvGrpSpPr>
        <p:grpSpPr>
          <a:xfrm>
            <a:off x="7923967" y="2662980"/>
            <a:ext cx="1880559" cy="425529"/>
            <a:chOff x="0" y="0"/>
            <a:chExt cx="2507412" cy="567372"/>
          </a:xfrm>
        </p:grpSpPr>
        <p:sp>
          <p:nvSpPr>
            <p:cNvPr id="26" name="Freeform 26"/>
            <p:cNvSpPr/>
            <p:nvPr/>
          </p:nvSpPr>
          <p:spPr>
            <a:xfrm>
              <a:off x="0" y="0"/>
              <a:ext cx="2507415" cy="567371"/>
            </a:xfrm>
            <a:custGeom>
              <a:avLst/>
              <a:gdLst/>
              <a:ahLst/>
              <a:cxnLst/>
              <a:rect l="l" t="t" r="r" b="b"/>
              <a:pathLst>
                <a:path w="2507415" h="567371">
                  <a:moveTo>
                    <a:pt x="0" y="0"/>
                  </a:moveTo>
                  <a:lnTo>
                    <a:pt x="2507415" y="0"/>
                  </a:lnTo>
                  <a:lnTo>
                    <a:pt x="2507415" y="567371"/>
                  </a:lnTo>
                  <a:lnTo>
                    <a:pt x="0" y="567371"/>
                  </a:lnTo>
                  <a:close/>
                </a:path>
              </a:pathLst>
            </a:custGeom>
            <a:blipFill>
              <a:blip r:embed="rId1">
                <a:alphaModFix amt="0"/>
              </a:blip>
              <a:stretch>
                <a:fillRect t="-36111" b="-36111"/>
              </a:stretch>
            </a:blipFill>
          </p:spPr>
        </p:sp>
        <p:sp>
          <p:nvSpPr>
            <p:cNvPr id="27" name="TextBox 27"/>
            <p:cNvSpPr txBox="1"/>
            <p:nvPr/>
          </p:nvSpPr>
          <p:spPr>
            <a:xfrm>
              <a:off x="0" y="0"/>
              <a:ext cx="2507412" cy="567372"/>
            </a:xfrm>
            <a:prstGeom prst="rect">
              <a:avLst/>
            </a:prstGeom>
          </p:spPr>
          <p:txBody>
            <a:bodyPr lIns="0" tIns="0" rIns="0" bIns="0" rtlCol="0" anchor="ctr"/>
            <a:lstStyle/>
            <a:p>
              <a:pPr algn="ctr">
                <a:lnSpc>
                  <a:spcPts val="1820"/>
                </a:lnSpc>
              </a:pPr>
              <a:r>
                <a:rPr lang="en-US" sz="1515" b="1">
                  <a:solidFill>
                    <a:srgbClr val="FFFFFF"/>
                  </a:solidFill>
                  <a:latin typeface="Aptos Bold" panose="020B0004020202020204"/>
                  <a:ea typeface="Aptos Bold" panose="020B0004020202020204"/>
                  <a:cs typeface="Aptos Bold" panose="020B0004020202020204"/>
                  <a:sym typeface="Aptos Bold" panose="020B0004020202020204"/>
                </a:rPr>
                <a:t>Raw Dataset</a:t>
              </a:r>
              <a:endParaRPr lang="en-US" sz="151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28" name="Group 28"/>
          <p:cNvGrpSpPr/>
          <p:nvPr/>
        </p:nvGrpSpPr>
        <p:grpSpPr>
          <a:xfrm>
            <a:off x="9854675" y="2603316"/>
            <a:ext cx="3372583" cy="544878"/>
            <a:chOff x="0" y="0"/>
            <a:chExt cx="4496778" cy="726504"/>
          </a:xfrm>
        </p:grpSpPr>
        <p:sp>
          <p:nvSpPr>
            <p:cNvPr id="29" name="Freeform 29"/>
            <p:cNvSpPr/>
            <p:nvPr/>
          </p:nvSpPr>
          <p:spPr>
            <a:xfrm>
              <a:off x="0" y="0"/>
              <a:ext cx="4496816" cy="726440"/>
            </a:xfrm>
            <a:custGeom>
              <a:avLst/>
              <a:gdLst/>
              <a:ahLst/>
              <a:cxnLst/>
              <a:rect l="l" t="t" r="r" b="b"/>
              <a:pathLst>
                <a:path w="4496816" h="726440">
                  <a:moveTo>
                    <a:pt x="0" y="0"/>
                  </a:moveTo>
                  <a:lnTo>
                    <a:pt x="4496816" y="0"/>
                  </a:lnTo>
                  <a:lnTo>
                    <a:pt x="4496816" y="726440"/>
                  </a:lnTo>
                  <a:lnTo>
                    <a:pt x="0" y="726440"/>
                  </a:lnTo>
                  <a:close/>
                </a:path>
              </a:pathLst>
            </a:custGeom>
            <a:solidFill>
              <a:srgbClr val="829BDC"/>
            </a:solidFill>
            <a:ln w="9532" cap="sq">
              <a:solidFill>
                <a:srgbClr val="D8D5E8"/>
              </a:solidFill>
              <a:prstDash val="solid"/>
              <a:miter/>
            </a:ln>
          </p:spPr>
        </p:sp>
      </p:grpSp>
      <p:grpSp>
        <p:nvGrpSpPr>
          <p:cNvPr id="30" name="Group 30"/>
          <p:cNvGrpSpPr/>
          <p:nvPr/>
        </p:nvGrpSpPr>
        <p:grpSpPr>
          <a:xfrm>
            <a:off x="9914349" y="2662980"/>
            <a:ext cx="3253235" cy="425529"/>
            <a:chOff x="0" y="0"/>
            <a:chExt cx="4337647" cy="567372"/>
          </a:xfrm>
        </p:grpSpPr>
        <p:sp>
          <p:nvSpPr>
            <p:cNvPr id="31" name="Freeform 31"/>
            <p:cNvSpPr/>
            <p:nvPr/>
          </p:nvSpPr>
          <p:spPr>
            <a:xfrm>
              <a:off x="0" y="0"/>
              <a:ext cx="4337645" cy="567371"/>
            </a:xfrm>
            <a:custGeom>
              <a:avLst/>
              <a:gdLst/>
              <a:ahLst/>
              <a:cxnLst/>
              <a:rect l="l" t="t" r="r" b="b"/>
              <a:pathLst>
                <a:path w="4337645" h="567371">
                  <a:moveTo>
                    <a:pt x="0" y="0"/>
                  </a:moveTo>
                  <a:lnTo>
                    <a:pt x="4337645" y="0"/>
                  </a:lnTo>
                  <a:lnTo>
                    <a:pt x="4337645" y="567371"/>
                  </a:lnTo>
                  <a:lnTo>
                    <a:pt x="0" y="567371"/>
                  </a:lnTo>
                  <a:close/>
                </a:path>
              </a:pathLst>
            </a:custGeom>
            <a:blipFill>
              <a:blip r:embed="rId1">
                <a:alphaModFix amt="0"/>
              </a:blip>
              <a:stretch>
                <a:fillRect t="-98966" b="-98966"/>
              </a:stretch>
            </a:blipFill>
          </p:spPr>
        </p:sp>
        <p:sp>
          <p:nvSpPr>
            <p:cNvPr id="32" name="TextBox 32"/>
            <p:cNvSpPr txBox="1"/>
            <p:nvPr/>
          </p:nvSpPr>
          <p:spPr>
            <a:xfrm>
              <a:off x="0" y="0"/>
              <a:ext cx="4337647" cy="567372"/>
            </a:xfrm>
            <a:prstGeom prst="rect">
              <a:avLst/>
            </a:prstGeom>
          </p:spPr>
          <p:txBody>
            <a:bodyPr lIns="0" tIns="0" rIns="0" bIns="0" rtlCol="0" anchor="ctr"/>
            <a:lstStyle/>
            <a:p>
              <a:pPr algn="ctr">
                <a:lnSpc>
                  <a:spcPts val="1820"/>
                </a:lnSpc>
              </a:pPr>
              <a:r>
                <a:rPr lang="en-US" sz="1515" b="1">
                  <a:solidFill>
                    <a:srgbClr val="FFFFFF"/>
                  </a:solidFill>
                  <a:latin typeface="Aptos Bold" panose="020B0004020202020204"/>
                  <a:ea typeface="Aptos Bold" panose="020B0004020202020204"/>
                  <a:cs typeface="Aptos Bold" panose="020B0004020202020204"/>
                  <a:sym typeface="Aptos Bold" panose="020B0004020202020204"/>
                </a:rPr>
                <a:t>After Preprocessing</a:t>
              </a:r>
              <a:endParaRPr lang="en-US" sz="1515"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33" name="Group 33"/>
          <p:cNvGrpSpPr/>
          <p:nvPr/>
        </p:nvGrpSpPr>
        <p:grpSpPr>
          <a:xfrm>
            <a:off x="4775783" y="3138649"/>
            <a:ext cx="3098044" cy="544878"/>
            <a:chOff x="0" y="0"/>
            <a:chExt cx="4130726" cy="726504"/>
          </a:xfrm>
        </p:grpSpPr>
        <p:sp>
          <p:nvSpPr>
            <p:cNvPr id="34" name="Freeform 34"/>
            <p:cNvSpPr/>
            <p:nvPr/>
          </p:nvSpPr>
          <p:spPr>
            <a:xfrm>
              <a:off x="0" y="0"/>
              <a:ext cx="4130675" cy="726440"/>
            </a:xfrm>
            <a:custGeom>
              <a:avLst/>
              <a:gdLst/>
              <a:ahLst/>
              <a:cxnLst/>
              <a:rect l="l" t="t" r="r" b="b"/>
              <a:pathLst>
                <a:path w="4130675" h="726440">
                  <a:moveTo>
                    <a:pt x="0" y="0"/>
                  </a:moveTo>
                  <a:lnTo>
                    <a:pt x="4130675" y="0"/>
                  </a:lnTo>
                  <a:lnTo>
                    <a:pt x="4130675" y="726440"/>
                  </a:lnTo>
                  <a:lnTo>
                    <a:pt x="0" y="726440"/>
                  </a:lnTo>
                  <a:close/>
                </a:path>
              </a:pathLst>
            </a:custGeom>
            <a:solidFill>
              <a:srgbClr val="FFFFFF"/>
            </a:solidFill>
            <a:ln w="9532" cap="sq">
              <a:solidFill>
                <a:srgbClr val="D8D5E8"/>
              </a:solidFill>
              <a:prstDash val="solid"/>
              <a:miter/>
            </a:ln>
          </p:spPr>
        </p:sp>
      </p:grpSp>
      <p:grpSp>
        <p:nvGrpSpPr>
          <p:cNvPr id="35" name="Group 35"/>
          <p:cNvGrpSpPr/>
          <p:nvPr/>
        </p:nvGrpSpPr>
        <p:grpSpPr>
          <a:xfrm>
            <a:off x="4835457" y="3198324"/>
            <a:ext cx="2978696" cy="425529"/>
            <a:chOff x="0" y="0"/>
            <a:chExt cx="3971595" cy="567372"/>
          </a:xfrm>
        </p:grpSpPr>
        <p:sp>
          <p:nvSpPr>
            <p:cNvPr id="36" name="Freeform 36"/>
            <p:cNvSpPr/>
            <p:nvPr/>
          </p:nvSpPr>
          <p:spPr>
            <a:xfrm>
              <a:off x="0" y="0"/>
              <a:ext cx="3971599" cy="567371"/>
            </a:xfrm>
            <a:custGeom>
              <a:avLst/>
              <a:gdLst/>
              <a:ahLst/>
              <a:cxnLst/>
              <a:rect l="l" t="t" r="r" b="b"/>
              <a:pathLst>
                <a:path w="3971599" h="567371">
                  <a:moveTo>
                    <a:pt x="0" y="0"/>
                  </a:moveTo>
                  <a:lnTo>
                    <a:pt x="3971599" y="0"/>
                  </a:lnTo>
                  <a:lnTo>
                    <a:pt x="3971599" y="567371"/>
                  </a:lnTo>
                  <a:lnTo>
                    <a:pt x="0" y="567371"/>
                  </a:lnTo>
                  <a:close/>
                </a:path>
              </a:pathLst>
            </a:custGeom>
            <a:blipFill>
              <a:blip r:embed="rId1">
                <a:alphaModFix amt="0"/>
              </a:blip>
              <a:stretch>
                <a:fillRect t="-86395" b="-86395"/>
              </a:stretch>
            </a:blipFill>
          </p:spPr>
        </p:sp>
        <p:sp>
          <p:nvSpPr>
            <p:cNvPr id="37" name="TextBox 37"/>
            <p:cNvSpPr txBox="1"/>
            <p:nvPr/>
          </p:nvSpPr>
          <p:spPr>
            <a:xfrm>
              <a:off x="0" y="0"/>
              <a:ext cx="3971595" cy="567372"/>
            </a:xfrm>
            <a:prstGeom prst="rect">
              <a:avLst/>
            </a:prstGeom>
          </p:spPr>
          <p:txBody>
            <a:bodyPr lIns="0" tIns="0" rIns="0" bIns="0" rtlCol="0" anchor="ctr"/>
            <a:lstStyle/>
            <a:p>
              <a:pPr algn="l">
                <a:lnSpc>
                  <a:spcPts val="1820"/>
                </a:lnSpc>
              </a:pPr>
              <a:r>
                <a:rPr lang="en-US" sz="1515" b="1">
                  <a:solidFill>
                    <a:srgbClr val="221336"/>
                  </a:solidFill>
                  <a:latin typeface="Aptos Bold" panose="020B0004020202020204"/>
                  <a:ea typeface="Aptos Bold" panose="020B0004020202020204"/>
                  <a:cs typeface="Aptos Bold" panose="020B0004020202020204"/>
                  <a:sym typeface="Aptos Bold" panose="020B0004020202020204"/>
                </a:rPr>
                <a:t>Rows</a:t>
              </a:r>
              <a:endParaRPr lang="en-US" sz="1515"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38" name="Group 38"/>
          <p:cNvGrpSpPr/>
          <p:nvPr/>
        </p:nvGrpSpPr>
        <p:grpSpPr>
          <a:xfrm>
            <a:off x="7864302" y="3138649"/>
            <a:ext cx="1999907" cy="544878"/>
            <a:chOff x="0" y="0"/>
            <a:chExt cx="2666543" cy="726504"/>
          </a:xfrm>
        </p:grpSpPr>
        <p:sp>
          <p:nvSpPr>
            <p:cNvPr id="39" name="Freeform 39"/>
            <p:cNvSpPr/>
            <p:nvPr/>
          </p:nvSpPr>
          <p:spPr>
            <a:xfrm>
              <a:off x="0" y="0"/>
              <a:ext cx="2666492" cy="726440"/>
            </a:xfrm>
            <a:custGeom>
              <a:avLst/>
              <a:gdLst/>
              <a:ahLst/>
              <a:cxnLst/>
              <a:rect l="l" t="t" r="r" b="b"/>
              <a:pathLst>
                <a:path w="2666492" h="726440">
                  <a:moveTo>
                    <a:pt x="0" y="0"/>
                  </a:moveTo>
                  <a:lnTo>
                    <a:pt x="2666492" y="0"/>
                  </a:lnTo>
                  <a:lnTo>
                    <a:pt x="2666492" y="726440"/>
                  </a:lnTo>
                  <a:lnTo>
                    <a:pt x="0" y="726440"/>
                  </a:lnTo>
                  <a:close/>
                </a:path>
              </a:pathLst>
            </a:custGeom>
            <a:solidFill>
              <a:srgbClr val="FFFFFF"/>
            </a:solidFill>
            <a:ln w="9532" cap="sq">
              <a:solidFill>
                <a:srgbClr val="D8D5E8"/>
              </a:solidFill>
              <a:prstDash val="solid"/>
              <a:miter/>
            </a:ln>
          </p:spPr>
        </p:sp>
      </p:grpSp>
      <p:grpSp>
        <p:nvGrpSpPr>
          <p:cNvPr id="40" name="Group 40"/>
          <p:cNvGrpSpPr/>
          <p:nvPr/>
        </p:nvGrpSpPr>
        <p:grpSpPr>
          <a:xfrm>
            <a:off x="7923967" y="3198324"/>
            <a:ext cx="1880559" cy="425529"/>
            <a:chOff x="0" y="0"/>
            <a:chExt cx="2507412" cy="567372"/>
          </a:xfrm>
        </p:grpSpPr>
        <p:sp>
          <p:nvSpPr>
            <p:cNvPr id="41" name="Freeform 41"/>
            <p:cNvSpPr/>
            <p:nvPr/>
          </p:nvSpPr>
          <p:spPr>
            <a:xfrm>
              <a:off x="0" y="0"/>
              <a:ext cx="2507415" cy="567371"/>
            </a:xfrm>
            <a:custGeom>
              <a:avLst/>
              <a:gdLst/>
              <a:ahLst/>
              <a:cxnLst/>
              <a:rect l="l" t="t" r="r" b="b"/>
              <a:pathLst>
                <a:path w="2507415" h="567371">
                  <a:moveTo>
                    <a:pt x="0" y="0"/>
                  </a:moveTo>
                  <a:lnTo>
                    <a:pt x="2507415" y="0"/>
                  </a:lnTo>
                  <a:lnTo>
                    <a:pt x="2507415" y="567371"/>
                  </a:lnTo>
                  <a:lnTo>
                    <a:pt x="0" y="567371"/>
                  </a:lnTo>
                  <a:close/>
                </a:path>
              </a:pathLst>
            </a:custGeom>
            <a:blipFill>
              <a:blip r:embed="rId1">
                <a:alphaModFix amt="0"/>
              </a:blip>
              <a:stretch>
                <a:fillRect t="-36111" b="-36111"/>
              </a:stretch>
            </a:blipFill>
          </p:spPr>
        </p:sp>
        <p:sp>
          <p:nvSpPr>
            <p:cNvPr id="42" name="TextBox 42"/>
            <p:cNvSpPr txBox="1"/>
            <p:nvPr/>
          </p:nvSpPr>
          <p:spPr>
            <a:xfrm>
              <a:off x="0" y="0"/>
              <a:ext cx="2507412"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119,143</a:t>
              </a:r>
              <a:endParaRPr lang="en-US" sz="1515">
                <a:solidFill>
                  <a:srgbClr val="221336"/>
                </a:solidFill>
                <a:latin typeface="Aptos"/>
                <a:ea typeface="Aptos"/>
                <a:cs typeface="Aptos"/>
                <a:sym typeface="Aptos"/>
              </a:endParaRPr>
            </a:p>
          </p:txBody>
        </p:sp>
      </p:grpSp>
      <p:grpSp>
        <p:nvGrpSpPr>
          <p:cNvPr id="43" name="Group 43"/>
          <p:cNvGrpSpPr/>
          <p:nvPr/>
        </p:nvGrpSpPr>
        <p:grpSpPr>
          <a:xfrm>
            <a:off x="9854675" y="3138649"/>
            <a:ext cx="3372583" cy="544878"/>
            <a:chOff x="0" y="0"/>
            <a:chExt cx="4496778" cy="726504"/>
          </a:xfrm>
        </p:grpSpPr>
        <p:sp>
          <p:nvSpPr>
            <p:cNvPr id="44" name="Freeform 44"/>
            <p:cNvSpPr/>
            <p:nvPr/>
          </p:nvSpPr>
          <p:spPr>
            <a:xfrm>
              <a:off x="0" y="0"/>
              <a:ext cx="4496816" cy="726440"/>
            </a:xfrm>
            <a:custGeom>
              <a:avLst/>
              <a:gdLst/>
              <a:ahLst/>
              <a:cxnLst/>
              <a:rect l="l" t="t" r="r" b="b"/>
              <a:pathLst>
                <a:path w="4496816" h="726440">
                  <a:moveTo>
                    <a:pt x="0" y="0"/>
                  </a:moveTo>
                  <a:lnTo>
                    <a:pt x="4496816" y="0"/>
                  </a:lnTo>
                  <a:lnTo>
                    <a:pt x="4496816" y="726440"/>
                  </a:lnTo>
                  <a:lnTo>
                    <a:pt x="0" y="726440"/>
                  </a:lnTo>
                  <a:close/>
                </a:path>
              </a:pathLst>
            </a:custGeom>
            <a:solidFill>
              <a:srgbClr val="FFFFFF"/>
            </a:solidFill>
            <a:ln w="9532" cap="sq">
              <a:solidFill>
                <a:srgbClr val="D8D5E8"/>
              </a:solidFill>
              <a:prstDash val="solid"/>
              <a:miter/>
            </a:ln>
          </p:spPr>
        </p:sp>
      </p:grpSp>
      <p:grpSp>
        <p:nvGrpSpPr>
          <p:cNvPr id="45" name="Group 45"/>
          <p:cNvGrpSpPr/>
          <p:nvPr/>
        </p:nvGrpSpPr>
        <p:grpSpPr>
          <a:xfrm>
            <a:off x="9914349" y="3198324"/>
            <a:ext cx="3253235" cy="425529"/>
            <a:chOff x="0" y="0"/>
            <a:chExt cx="4337647" cy="567372"/>
          </a:xfrm>
        </p:grpSpPr>
        <p:sp>
          <p:nvSpPr>
            <p:cNvPr id="46" name="Freeform 46"/>
            <p:cNvSpPr/>
            <p:nvPr/>
          </p:nvSpPr>
          <p:spPr>
            <a:xfrm>
              <a:off x="0" y="0"/>
              <a:ext cx="4337645" cy="567371"/>
            </a:xfrm>
            <a:custGeom>
              <a:avLst/>
              <a:gdLst/>
              <a:ahLst/>
              <a:cxnLst/>
              <a:rect l="l" t="t" r="r" b="b"/>
              <a:pathLst>
                <a:path w="4337645" h="567371">
                  <a:moveTo>
                    <a:pt x="0" y="0"/>
                  </a:moveTo>
                  <a:lnTo>
                    <a:pt x="4337645" y="0"/>
                  </a:lnTo>
                  <a:lnTo>
                    <a:pt x="4337645" y="567371"/>
                  </a:lnTo>
                  <a:lnTo>
                    <a:pt x="0" y="567371"/>
                  </a:lnTo>
                  <a:close/>
                </a:path>
              </a:pathLst>
            </a:custGeom>
            <a:blipFill>
              <a:blip r:embed="rId1">
                <a:alphaModFix amt="0"/>
              </a:blip>
              <a:stretch>
                <a:fillRect t="-98966" b="-98966"/>
              </a:stretch>
            </a:blipFill>
          </p:spPr>
        </p:sp>
        <p:sp>
          <p:nvSpPr>
            <p:cNvPr id="47" name="TextBox 47"/>
            <p:cNvSpPr txBox="1"/>
            <p:nvPr/>
          </p:nvSpPr>
          <p:spPr>
            <a:xfrm>
              <a:off x="0" y="0"/>
              <a:ext cx="4337647"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66,039</a:t>
              </a:r>
              <a:endParaRPr lang="en-US" sz="1515">
                <a:solidFill>
                  <a:srgbClr val="221336"/>
                </a:solidFill>
                <a:latin typeface="Aptos"/>
                <a:ea typeface="Aptos"/>
                <a:cs typeface="Aptos"/>
                <a:sym typeface="Aptos"/>
              </a:endParaRPr>
            </a:p>
          </p:txBody>
        </p:sp>
      </p:grpSp>
      <p:grpSp>
        <p:nvGrpSpPr>
          <p:cNvPr id="48" name="Group 48"/>
          <p:cNvGrpSpPr/>
          <p:nvPr/>
        </p:nvGrpSpPr>
        <p:grpSpPr>
          <a:xfrm>
            <a:off x="4775783" y="3673993"/>
            <a:ext cx="3098044" cy="544878"/>
            <a:chOff x="0" y="0"/>
            <a:chExt cx="4130726" cy="726504"/>
          </a:xfrm>
        </p:grpSpPr>
        <p:sp>
          <p:nvSpPr>
            <p:cNvPr id="49" name="Freeform 49"/>
            <p:cNvSpPr/>
            <p:nvPr/>
          </p:nvSpPr>
          <p:spPr>
            <a:xfrm>
              <a:off x="0" y="0"/>
              <a:ext cx="4130675" cy="726440"/>
            </a:xfrm>
            <a:custGeom>
              <a:avLst/>
              <a:gdLst/>
              <a:ahLst/>
              <a:cxnLst/>
              <a:rect l="l" t="t" r="r" b="b"/>
              <a:pathLst>
                <a:path w="4130675" h="726440">
                  <a:moveTo>
                    <a:pt x="0" y="0"/>
                  </a:moveTo>
                  <a:lnTo>
                    <a:pt x="4130675" y="0"/>
                  </a:lnTo>
                  <a:lnTo>
                    <a:pt x="4130675" y="726440"/>
                  </a:lnTo>
                  <a:lnTo>
                    <a:pt x="0" y="726440"/>
                  </a:lnTo>
                  <a:close/>
                </a:path>
              </a:pathLst>
            </a:custGeom>
            <a:solidFill>
              <a:srgbClr val="F0F2FF"/>
            </a:solidFill>
            <a:ln w="9532" cap="sq">
              <a:solidFill>
                <a:srgbClr val="D8D5E8"/>
              </a:solidFill>
              <a:prstDash val="solid"/>
              <a:miter/>
            </a:ln>
          </p:spPr>
        </p:sp>
      </p:grpSp>
      <p:grpSp>
        <p:nvGrpSpPr>
          <p:cNvPr id="50" name="Group 50"/>
          <p:cNvGrpSpPr/>
          <p:nvPr/>
        </p:nvGrpSpPr>
        <p:grpSpPr>
          <a:xfrm>
            <a:off x="4835457" y="3733667"/>
            <a:ext cx="2978696" cy="425529"/>
            <a:chOff x="0" y="0"/>
            <a:chExt cx="3971595" cy="567372"/>
          </a:xfrm>
        </p:grpSpPr>
        <p:sp>
          <p:nvSpPr>
            <p:cNvPr id="51" name="Freeform 51"/>
            <p:cNvSpPr/>
            <p:nvPr/>
          </p:nvSpPr>
          <p:spPr>
            <a:xfrm>
              <a:off x="0" y="0"/>
              <a:ext cx="3971599" cy="567371"/>
            </a:xfrm>
            <a:custGeom>
              <a:avLst/>
              <a:gdLst/>
              <a:ahLst/>
              <a:cxnLst/>
              <a:rect l="l" t="t" r="r" b="b"/>
              <a:pathLst>
                <a:path w="3971599" h="567371">
                  <a:moveTo>
                    <a:pt x="0" y="0"/>
                  </a:moveTo>
                  <a:lnTo>
                    <a:pt x="3971599" y="0"/>
                  </a:lnTo>
                  <a:lnTo>
                    <a:pt x="3971599" y="567371"/>
                  </a:lnTo>
                  <a:lnTo>
                    <a:pt x="0" y="567371"/>
                  </a:lnTo>
                  <a:close/>
                </a:path>
              </a:pathLst>
            </a:custGeom>
            <a:blipFill>
              <a:blip r:embed="rId1">
                <a:alphaModFix amt="0"/>
              </a:blip>
              <a:stretch>
                <a:fillRect t="-86395" b="-86395"/>
              </a:stretch>
            </a:blipFill>
          </p:spPr>
        </p:sp>
        <p:sp>
          <p:nvSpPr>
            <p:cNvPr id="52" name="TextBox 52"/>
            <p:cNvSpPr txBox="1"/>
            <p:nvPr/>
          </p:nvSpPr>
          <p:spPr>
            <a:xfrm>
              <a:off x="0" y="0"/>
              <a:ext cx="3971595" cy="567372"/>
            </a:xfrm>
            <a:prstGeom prst="rect">
              <a:avLst/>
            </a:prstGeom>
          </p:spPr>
          <p:txBody>
            <a:bodyPr lIns="0" tIns="0" rIns="0" bIns="0" rtlCol="0" anchor="ctr"/>
            <a:lstStyle/>
            <a:p>
              <a:pPr algn="l">
                <a:lnSpc>
                  <a:spcPts val="1820"/>
                </a:lnSpc>
              </a:pPr>
              <a:r>
                <a:rPr lang="en-US" sz="1515" b="1">
                  <a:solidFill>
                    <a:srgbClr val="221336"/>
                  </a:solidFill>
                  <a:latin typeface="Aptos Bold" panose="020B0004020202020204"/>
                  <a:ea typeface="Aptos Bold" panose="020B0004020202020204"/>
                  <a:cs typeface="Aptos Bold" panose="020B0004020202020204"/>
                  <a:sym typeface="Aptos Bold" panose="020B0004020202020204"/>
                </a:rPr>
                <a:t>Columns</a:t>
              </a:r>
              <a:endParaRPr lang="en-US" sz="1515"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53" name="Group 53"/>
          <p:cNvGrpSpPr/>
          <p:nvPr/>
        </p:nvGrpSpPr>
        <p:grpSpPr>
          <a:xfrm>
            <a:off x="7864302" y="3673993"/>
            <a:ext cx="1999907" cy="544878"/>
            <a:chOff x="0" y="0"/>
            <a:chExt cx="2666543" cy="726504"/>
          </a:xfrm>
        </p:grpSpPr>
        <p:sp>
          <p:nvSpPr>
            <p:cNvPr id="54" name="Freeform 54"/>
            <p:cNvSpPr/>
            <p:nvPr/>
          </p:nvSpPr>
          <p:spPr>
            <a:xfrm>
              <a:off x="0" y="0"/>
              <a:ext cx="2666492" cy="726440"/>
            </a:xfrm>
            <a:custGeom>
              <a:avLst/>
              <a:gdLst/>
              <a:ahLst/>
              <a:cxnLst/>
              <a:rect l="l" t="t" r="r" b="b"/>
              <a:pathLst>
                <a:path w="2666492" h="726440">
                  <a:moveTo>
                    <a:pt x="0" y="0"/>
                  </a:moveTo>
                  <a:lnTo>
                    <a:pt x="2666492" y="0"/>
                  </a:lnTo>
                  <a:lnTo>
                    <a:pt x="2666492" y="726440"/>
                  </a:lnTo>
                  <a:lnTo>
                    <a:pt x="0" y="726440"/>
                  </a:lnTo>
                  <a:close/>
                </a:path>
              </a:pathLst>
            </a:custGeom>
            <a:solidFill>
              <a:srgbClr val="F0F2FF"/>
            </a:solidFill>
            <a:ln w="9532" cap="sq">
              <a:solidFill>
                <a:srgbClr val="D8D5E8"/>
              </a:solidFill>
              <a:prstDash val="solid"/>
              <a:miter/>
            </a:ln>
          </p:spPr>
        </p:sp>
      </p:grpSp>
      <p:grpSp>
        <p:nvGrpSpPr>
          <p:cNvPr id="55" name="Group 55"/>
          <p:cNvGrpSpPr/>
          <p:nvPr/>
        </p:nvGrpSpPr>
        <p:grpSpPr>
          <a:xfrm>
            <a:off x="7923967" y="3733667"/>
            <a:ext cx="1880559" cy="425529"/>
            <a:chOff x="0" y="0"/>
            <a:chExt cx="2507412" cy="567372"/>
          </a:xfrm>
        </p:grpSpPr>
        <p:sp>
          <p:nvSpPr>
            <p:cNvPr id="56" name="Freeform 56"/>
            <p:cNvSpPr/>
            <p:nvPr/>
          </p:nvSpPr>
          <p:spPr>
            <a:xfrm>
              <a:off x="0" y="0"/>
              <a:ext cx="2507415" cy="567371"/>
            </a:xfrm>
            <a:custGeom>
              <a:avLst/>
              <a:gdLst/>
              <a:ahLst/>
              <a:cxnLst/>
              <a:rect l="l" t="t" r="r" b="b"/>
              <a:pathLst>
                <a:path w="2507415" h="567371">
                  <a:moveTo>
                    <a:pt x="0" y="0"/>
                  </a:moveTo>
                  <a:lnTo>
                    <a:pt x="2507415" y="0"/>
                  </a:lnTo>
                  <a:lnTo>
                    <a:pt x="2507415" y="567371"/>
                  </a:lnTo>
                  <a:lnTo>
                    <a:pt x="0" y="567371"/>
                  </a:lnTo>
                  <a:close/>
                </a:path>
              </a:pathLst>
            </a:custGeom>
            <a:blipFill>
              <a:blip r:embed="rId1">
                <a:alphaModFix amt="0"/>
              </a:blip>
              <a:stretch>
                <a:fillRect t="-36111" b="-36111"/>
              </a:stretch>
            </a:blipFill>
          </p:spPr>
        </p:sp>
        <p:sp>
          <p:nvSpPr>
            <p:cNvPr id="57" name="TextBox 57"/>
            <p:cNvSpPr txBox="1"/>
            <p:nvPr/>
          </p:nvSpPr>
          <p:spPr>
            <a:xfrm>
              <a:off x="0" y="0"/>
              <a:ext cx="2507412"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40</a:t>
              </a:r>
              <a:endParaRPr lang="en-US" sz="1515">
                <a:solidFill>
                  <a:srgbClr val="221336"/>
                </a:solidFill>
                <a:latin typeface="Aptos"/>
                <a:ea typeface="Aptos"/>
                <a:cs typeface="Aptos"/>
                <a:sym typeface="Aptos"/>
              </a:endParaRPr>
            </a:p>
          </p:txBody>
        </p:sp>
      </p:grpSp>
      <p:grpSp>
        <p:nvGrpSpPr>
          <p:cNvPr id="58" name="Group 58"/>
          <p:cNvGrpSpPr/>
          <p:nvPr/>
        </p:nvGrpSpPr>
        <p:grpSpPr>
          <a:xfrm>
            <a:off x="9854675" y="3673993"/>
            <a:ext cx="3372583" cy="544878"/>
            <a:chOff x="0" y="0"/>
            <a:chExt cx="4496778" cy="726504"/>
          </a:xfrm>
        </p:grpSpPr>
        <p:sp>
          <p:nvSpPr>
            <p:cNvPr id="59" name="Freeform 59"/>
            <p:cNvSpPr/>
            <p:nvPr/>
          </p:nvSpPr>
          <p:spPr>
            <a:xfrm>
              <a:off x="0" y="0"/>
              <a:ext cx="4496816" cy="726440"/>
            </a:xfrm>
            <a:custGeom>
              <a:avLst/>
              <a:gdLst/>
              <a:ahLst/>
              <a:cxnLst/>
              <a:rect l="l" t="t" r="r" b="b"/>
              <a:pathLst>
                <a:path w="4496816" h="726440">
                  <a:moveTo>
                    <a:pt x="0" y="0"/>
                  </a:moveTo>
                  <a:lnTo>
                    <a:pt x="4496816" y="0"/>
                  </a:lnTo>
                  <a:lnTo>
                    <a:pt x="4496816" y="726440"/>
                  </a:lnTo>
                  <a:lnTo>
                    <a:pt x="0" y="726440"/>
                  </a:lnTo>
                  <a:close/>
                </a:path>
              </a:pathLst>
            </a:custGeom>
            <a:solidFill>
              <a:srgbClr val="F0F2FF"/>
            </a:solidFill>
            <a:ln w="9532" cap="sq">
              <a:solidFill>
                <a:srgbClr val="D8D5E8"/>
              </a:solidFill>
              <a:prstDash val="solid"/>
              <a:miter/>
            </a:ln>
          </p:spPr>
        </p:sp>
      </p:grpSp>
      <p:grpSp>
        <p:nvGrpSpPr>
          <p:cNvPr id="60" name="Group 60"/>
          <p:cNvGrpSpPr/>
          <p:nvPr/>
        </p:nvGrpSpPr>
        <p:grpSpPr>
          <a:xfrm>
            <a:off x="9914349" y="3733667"/>
            <a:ext cx="3253235" cy="425529"/>
            <a:chOff x="0" y="0"/>
            <a:chExt cx="4337647" cy="567372"/>
          </a:xfrm>
        </p:grpSpPr>
        <p:sp>
          <p:nvSpPr>
            <p:cNvPr id="61" name="Freeform 61"/>
            <p:cNvSpPr/>
            <p:nvPr/>
          </p:nvSpPr>
          <p:spPr>
            <a:xfrm>
              <a:off x="0" y="0"/>
              <a:ext cx="4337645" cy="567371"/>
            </a:xfrm>
            <a:custGeom>
              <a:avLst/>
              <a:gdLst/>
              <a:ahLst/>
              <a:cxnLst/>
              <a:rect l="l" t="t" r="r" b="b"/>
              <a:pathLst>
                <a:path w="4337645" h="567371">
                  <a:moveTo>
                    <a:pt x="0" y="0"/>
                  </a:moveTo>
                  <a:lnTo>
                    <a:pt x="4337645" y="0"/>
                  </a:lnTo>
                  <a:lnTo>
                    <a:pt x="4337645" y="567371"/>
                  </a:lnTo>
                  <a:lnTo>
                    <a:pt x="0" y="567371"/>
                  </a:lnTo>
                  <a:close/>
                </a:path>
              </a:pathLst>
            </a:custGeom>
            <a:blipFill>
              <a:blip r:embed="rId1">
                <a:alphaModFix amt="0"/>
              </a:blip>
              <a:stretch>
                <a:fillRect t="-98966" b="-98966"/>
              </a:stretch>
            </a:blipFill>
          </p:spPr>
        </p:sp>
        <p:sp>
          <p:nvSpPr>
            <p:cNvPr id="62" name="TextBox 62"/>
            <p:cNvSpPr txBox="1"/>
            <p:nvPr/>
          </p:nvSpPr>
          <p:spPr>
            <a:xfrm>
              <a:off x="0" y="0"/>
              <a:ext cx="4337647"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36</a:t>
              </a:r>
              <a:endParaRPr lang="en-US" sz="1515">
                <a:solidFill>
                  <a:srgbClr val="221336"/>
                </a:solidFill>
                <a:latin typeface="Aptos"/>
                <a:ea typeface="Aptos"/>
                <a:cs typeface="Aptos"/>
                <a:sym typeface="Aptos"/>
              </a:endParaRPr>
            </a:p>
          </p:txBody>
        </p:sp>
      </p:grpSp>
      <p:grpSp>
        <p:nvGrpSpPr>
          <p:cNvPr id="63" name="Group 63"/>
          <p:cNvGrpSpPr/>
          <p:nvPr/>
        </p:nvGrpSpPr>
        <p:grpSpPr>
          <a:xfrm>
            <a:off x="4775783" y="4209336"/>
            <a:ext cx="3098044" cy="544878"/>
            <a:chOff x="0" y="0"/>
            <a:chExt cx="4130726" cy="726504"/>
          </a:xfrm>
        </p:grpSpPr>
        <p:sp>
          <p:nvSpPr>
            <p:cNvPr id="64" name="Freeform 64"/>
            <p:cNvSpPr/>
            <p:nvPr/>
          </p:nvSpPr>
          <p:spPr>
            <a:xfrm>
              <a:off x="0" y="0"/>
              <a:ext cx="4130675" cy="726440"/>
            </a:xfrm>
            <a:custGeom>
              <a:avLst/>
              <a:gdLst/>
              <a:ahLst/>
              <a:cxnLst/>
              <a:rect l="l" t="t" r="r" b="b"/>
              <a:pathLst>
                <a:path w="4130675" h="726440">
                  <a:moveTo>
                    <a:pt x="0" y="0"/>
                  </a:moveTo>
                  <a:lnTo>
                    <a:pt x="4130675" y="0"/>
                  </a:lnTo>
                  <a:lnTo>
                    <a:pt x="4130675" y="726440"/>
                  </a:lnTo>
                  <a:lnTo>
                    <a:pt x="0" y="726440"/>
                  </a:lnTo>
                  <a:close/>
                </a:path>
              </a:pathLst>
            </a:custGeom>
            <a:solidFill>
              <a:srgbClr val="FFFFFF"/>
            </a:solidFill>
            <a:ln w="9532" cap="sq">
              <a:solidFill>
                <a:srgbClr val="D8D5E8"/>
              </a:solidFill>
              <a:prstDash val="solid"/>
              <a:miter/>
            </a:ln>
          </p:spPr>
        </p:sp>
      </p:grpSp>
      <p:grpSp>
        <p:nvGrpSpPr>
          <p:cNvPr id="65" name="Group 65"/>
          <p:cNvGrpSpPr/>
          <p:nvPr/>
        </p:nvGrpSpPr>
        <p:grpSpPr>
          <a:xfrm>
            <a:off x="4835457" y="4269010"/>
            <a:ext cx="2978696" cy="425529"/>
            <a:chOff x="0" y="0"/>
            <a:chExt cx="3971595" cy="567372"/>
          </a:xfrm>
        </p:grpSpPr>
        <p:sp>
          <p:nvSpPr>
            <p:cNvPr id="66" name="Freeform 66"/>
            <p:cNvSpPr/>
            <p:nvPr/>
          </p:nvSpPr>
          <p:spPr>
            <a:xfrm>
              <a:off x="0" y="0"/>
              <a:ext cx="3971599" cy="567371"/>
            </a:xfrm>
            <a:custGeom>
              <a:avLst/>
              <a:gdLst/>
              <a:ahLst/>
              <a:cxnLst/>
              <a:rect l="l" t="t" r="r" b="b"/>
              <a:pathLst>
                <a:path w="3971599" h="567371">
                  <a:moveTo>
                    <a:pt x="0" y="0"/>
                  </a:moveTo>
                  <a:lnTo>
                    <a:pt x="3971599" y="0"/>
                  </a:lnTo>
                  <a:lnTo>
                    <a:pt x="3971599" y="567371"/>
                  </a:lnTo>
                  <a:lnTo>
                    <a:pt x="0" y="567371"/>
                  </a:lnTo>
                  <a:close/>
                </a:path>
              </a:pathLst>
            </a:custGeom>
            <a:blipFill>
              <a:blip r:embed="rId1">
                <a:alphaModFix amt="0"/>
              </a:blip>
              <a:stretch>
                <a:fillRect t="-86395" b="-86395"/>
              </a:stretch>
            </a:blipFill>
          </p:spPr>
        </p:sp>
        <p:sp>
          <p:nvSpPr>
            <p:cNvPr id="67" name="TextBox 67"/>
            <p:cNvSpPr txBox="1"/>
            <p:nvPr/>
          </p:nvSpPr>
          <p:spPr>
            <a:xfrm>
              <a:off x="0" y="0"/>
              <a:ext cx="3971595" cy="567372"/>
            </a:xfrm>
            <a:prstGeom prst="rect">
              <a:avLst/>
            </a:prstGeom>
          </p:spPr>
          <p:txBody>
            <a:bodyPr lIns="0" tIns="0" rIns="0" bIns="0" rtlCol="0" anchor="ctr"/>
            <a:lstStyle/>
            <a:p>
              <a:pPr algn="l">
                <a:lnSpc>
                  <a:spcPts val="1820"/>
                </a:lnSpc>
              </a:pPr>
              <a:r>
                <a:rPr lang="en-US" sz="1515" b="1">
                  <a:solidFill>
                    <a:srgbClr val="221336"/>
                  </a:solidFill>
                  <a:latin typeface="Aptos Bold" panose="020B0004020202020204"/>
                  <a:ea typeface="Aptos Bold" panose="020B0004020202020204"/>
                  <a:cs typeface="Aptos Bold" panose="020B0004020202020204"/>
                  <a:sym typeface="Aptos Bold" panose="020B0004020202020204"/>
                </a:rPr>
                <a:t>Exact duplicate rows</a:t>
              </a:r>
              <a:endParaRPr lang="en-US" sz="1515"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68" name="Group 68"/>
          <p:cNvGrpSpPr/>
          <p:nvPr/>
        </p:nvGrpSpPr>
        <p:grpSpPr>
          <a:xfrm>
            <a:off x="7864302" y="4209336"/>
            <a:ext cx="1999907" cy="544878"/>
            <a:chOff x="0" y="0"/>
            <a:chExt cx="2666543" cy="726504"/>
          </a:xfrm>
        </p:grpSpPr>
        <p:sp>
          <p:nvSpPr>
            <p:cNvPr id="69" name="Freeform 69"/>
            <p:cNvSpPr/>
            <p:nvPr/>
          </p:nvSpPr>
          <p:spPr>
            <a:xfrm>
              <a:off x="0" y="0"/>
              <a:ext cx="2666492" cy="726440"/>
            </a:xfrm>
            <a:custGeom>
              <a:avLst/>
              <a:gdLst/>
              <a:ahLst/>
              <a:cxnLst/>
              <a:rect l="l" t="t" r="r" b="b"/>
              <a:pathLst>
                <a:path w="2666492" h="726440">
                  <a:moveTo>
                    <a:pt x="0" y="0"/>
                  </a:moveTo>
                  <a:lnTo>
                    <a:pt x="2666492" y="0"/>
                  </a:lnTo>
                  <a:lnTo>
                    <a:pt x="2666492" y="726440"/>
                  </a:lnTo>
                  <a:lnTo>
                    <a:pt x="0" y="726440"/>
                  </a:lnTo>
                  <a:close/>
                </a:path>
              </a:pathLst>
            </a:custGeom>
            <a:solidFill>
              <a:srgbClr val="FFFFFF"/>
            </a:solidFill>
            <a:ln w="9532" cap="sq">
              <a:solidFill>
                <a:srgbClr val="D8D5E8"/>
              </a:solidFill>
              <a:prstDash val="solid"/>
              <a:miter/>
            </a:ln>
          </p:spPr>
        </p:sp>
      </p:grpSp>
      <p:grpSp>
        <p:nvGrpSpPr>
          <p:cNvPr id="70" name="Group 70"/>
          <p:cNvGrpSpPr/>
          <p:nvPr/>
        </p:nvGrpSpPr>
        <p:grpSpPr>
          <a:xfrm>
            <a:off x="7923967" y="4269010"/>
            <a:ext cx="1880559" cy="425529"/>
            <a:chOff x="0" y="0"/>
            <a:chExt cx="2507412" cy="567372"/>
          </a:xfrm>
        </p:grpSpPr>
        <p:sp>
          <p:nvSpPr>
            <p:cNvPr id="71" name="Freeform 71"/>
            <p:cNvSpPr/>
            <p:nvPr/>
          </p:nvSpPr>
          <p:spPr>
            <a:xfrm>
              <a:off x="0" y="0"/>
              <a:ext cx="2507415" cy="567371"/>
            </a:xfrm>
            <a:custGeom>
              <a:avLst/>
              <a:gdLst/>
              <a:ahLst/>
              <a:cxnLst/>
              <a:rect l="l" t="t" r="r" b="b"/>
              <a:pathLst>
                <a:path w="2507415" h="567371">
                  <a:moveTo>
                    <a:pt x="0" y="0"/>
                  </a:moveTo>
                  <a:lnTo>
                    <a:pt x="2507415" y="0"/>
                  </a:lnTo>
                  <a:lnTo>
                    <a:pt x="2507415" y="567371"/>
                  </a:lnTo>
                  <a:lnTo>
                    <a:pt x="0" y="567371"/>
                  </a:lnTo>
                  <a:close/>
                </a:path>
              </a:pathLst>
            </a:custGeom>
            <a:blipFill>
              <a:blip r:embed="rId1">
                <a:alphaModFix amt="0"/>
              </a:blip>
              <a:stretch>
                <a:fillRect t="-36111" b="-36111"/>
              </a:stretch>
            </a:blipFill>
          </p:spPr>
        </p:sp>
        <p:sp>
          <p:nvSpPr>
            <p:cNvPr id="72" name="TextBox 72"/>
            <p:cNvSpPr txBox="1"/>
            <p:nvPr/>
          </p:nvSpPr>
          <p:spPr>
            <a:xfrm>
              <a:off x="0" y="0"/>
              <a:ext cx="2507412"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0</a:t>
              </a:r>
              <a:endParaRPr lang="en-US" sz="1515">
                <a:solidFill>
                  <a:srgbClr val="221336"/>
                </a:solidFill>
                <a:latin typeface="Aptos"/>
                <a:ea typeface="Aptos"/>
                <a:cs typeface="Aptos"/>
                <a:sym typeface="Aptos"/>
              </a:endParaRPr>
            </a:p>
          </p:txBody>
        </p:sp>
      </p:grpSp>
      <p:grpSp>
        <p:nvGrpSpPr>
          <p:cNvPr id="73" name="Group 73"/>
          <p:cNvGrpSpPr/>
          <p:nvPr/>
        </p:nvGrpSpPr>
        <p:grpSpPr>
          <a:xfrm>
            <a:off x="9854675" y="4209336"/>
            <a:ext cx="3372583" cy="544878"/>
            <a:chOff x="0" y="0"/>
            <a:chExt cx="4496778" cy="726504"/>
          </a:xfrm>
        </p:grpSpPr>
        <p:sp>
          <p:nvSpPr>
            <p:cNvPr id="74" name="Freeform 74"/>
            <p:cNvSpPr/>
            <p:nvPr/>
          </p:nvSpPr>
          <p:spPr>
            <a:xfrm>
              <a:off x="0" y="0"/>
              <a:ext cx="4496816" cy="726440"/>
            </a:xfrm>
            <a:custGeom>
              <a:avLst/>
              <a:gdLst/>
              <a:ahLst/>
              <a:cxnLst/>
              <a:rect l="l" t="t" r="r" b="b"/>
              <a:pathLst>
                <a:path w="4496816" h="726440">
                  <a:moveTo>
                    <a:pt x="0" y="0"/>
                  </a:moveTo>
                  <a:lnTo>
                    <a:pt x="4496816" y="0"/>
                  </a:lnTo>
                  <a:lnTo>
                    <a:pt x="4496816" y="726440"/>
                  </a:lnTo>
                  <a:lnTo>
                    <a:pt x="0" y="726440"/>
                  </a:lnTo>
                  <a:close/>
                </a:path>
              </a:pathLst>
            </a:custGeom>
            <a:solidFill>
              <a:srgbClr val="FFFFFF"/>
            </a:solidFill>
            <a:ln w="9532" cap="sq">
              <a:solidFill>
                <a:srgbClr val="D8D5E8"/>
              </a:solidFill>
              <a:prstDash val="solid"/>
              <a:miter/>
            </a:ln>
          </p:spPr>
        </p:sp>
      </p:grpSp>
      <p:grpSp>
        <p:nvGrpSpPr>
          <p:cNvPr id="75" name="Group 75"/>
          <p:cNvGrpSpPr/>
          <p:nvPr/>
        </p:nvGrpSpPr>
        <p:grpSpPr>
          <a:xfrm>
            <a:off x="9914349" y="4269010"/>
            <a:ext cx="3253235" cy="425529"/>
            <a:chOff x="0" y="0"/>
            <a:chExt cx="4337647" cy="567372"/>
          </a:xfrm>
        </p:grpSpPr>
        <p:sp>
          <p:nvSpPr>
            <p:cNvPr id="76" name="Freeform 76"/>
            <p:cNvSpPr/>
            <p:nvPr/>
          </p:nvSpPr>
          <p:spPr>
            <a:xfrm>
              <a:off x="0" y="0"/>
              <a:ext cx="4337645" cy="567371"/>
            </a:xfrm>
            <a:custGeom>
              <a:avLst/>
              <a:gdLst/>
              <a:ahLst/>
              <a:cxnLst/>
              <a:rect l="l" t="t" r="r" b="b"/>
              <a:pathLst>
                <a:path w="4337645" h="567371">
                  <a:moveTo>
                    <a:pt x="0" y="0"/>
                  </a:moveTo>
                  <a:lnTo>
                    <a:pt x="4337645" y="0"/>
                  </a:lnTo>
                  <a:lnTo>
                    <a:pt x="4337645" y="567371"/>
                  </a:lnTo>
                  <a:lnTo>
                    <a:pt x="0" y="567371"/>
                  </a:lnTo>
                  <a:close/>
                </a:path>
              </a:pathLst>
            </a:custGeom>
            <a:blipFill>
              <a:blip r:embed="rId1">
                <a:alphaModFix amt="0"/>
              </a:blip>
              <a:stretch>
                <a:fillRect t="-98966" b="-98966"/>
              </a:stretch>
            </a:blipFill>
          </p:spPr>
        </p:sp>
        <p:sp>
          <p:nvSpPr>
            <p:cNvPr id="77" name="TextBox 77"/>
            <p:cNvSpPr txBox="1"/>
            <p:nvPr/>
          </p:nvSpPr>
          <p:spPr>
            <a:xfrm>
              <a:off x="0" y="0"/>
              <a:ext cx="4337647"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0</a:t>
              </a:r>
              <a:endParaRPr lang="en-US" sz="1515">
                <a:solidFill>
                  <a:srgbClr val="221336"/>
                </a:solidFill>
                <a:latin typeface="Aptos"/>
                <a:ea typeface="Aptos"/>
                <a:cs typeface="Aptos"/>
                <a:sym typeface="Aptos"/>
              </a:endParaRPr>
            </a:p>
          </p:txBody>
        </p:sp>
      </p:grpSp>
      <p:grpSp>
        <p:nvGrpSpPr>
          <p:cNvPr id="78" name="Group 78"/>
          <p:cNvGrpSpPr/>
          <p:nvPr/>
        </p:nvGrpSpPr>
        <p:grpSpPr>
          <a:xfrm>
            <a:off x="4775783" y="4744679"/>
            <a:ext cx="3098044" cy="544878"/>
            <a:chOff x="0" y="0"/>
            <a:chExt cx="4130726" cy="726504"/>
          </a:xfrm>
        </p:grpSpPr>
        <p:sp>
          <p:nvSpPr>
            <p:cNvPr id="79" name="Freeform 79"/>
            <p:cNvSpPr/>
            <p:nvPr/>
          </p:nvSpPr>
          <p:spPr>
            <a:xfrm>
              <a:off x="0" y="0"/>
              <a:ext cx="4130675" cy="726440"/>
            </a:xfrm>
            <a:custGeom>
              <a:avLst/>
              <a:gdLst/>
              <a:ahLst/>
              <a:cxnLst/>
              <a:rect l="l" t="t" r="r" b="b"/>
              <a:pathLst>
                <a:path w="4130675" h="726440">
                  <a:moveTo>
                    <a:pt x="0" y="0"/>
                  </a:moveTo>
                  <a:lnTo>
                    <a:pt x="4130675" y="0"/>
                  </a:lnTo>
                  <a:lnTo>
                    <a:pt x="4130675" y="726440"/>
                  </a:lnTo>
                  <a:lnTo>
                    <a:pt x="0" y="726440"/>
                  </a:lnTo>
                  <a:close/>
                </a:path>
              </a:pathLst>
            </a:custGeom>
            <a:solidFill>
              <a:srgbClr val="F0F2FF"/>
            </a:solidFill>
            <a:ln w="9532" cap="sq">
              <a:solidFill>
                <a:srgbClr val="D8D5E8"/>
              </a:solidFill>
              <a:prstDash val="solid"/>
              <a:miter/>
            </a:ln>
          </p:spPr>
        </p:sp>
      </p:grpSp>
      <p:grpSp>
        <p:nvGrpSpPr>
          <p:cNvPr id="80" name="Group 80"/>
          <p:cNvGrpSpPr/>
          <p:nvPr/>
        </p:nvGrpSpPr>
        <p:grpSpPr>
          <a:xfrm>
            <a:off x="4835457" y="4804353"/>
            <a:ext cx="2978696" cy="425529"/>
            <a:chOff x="0" y="0"/>
            <a:chExt cx="3971595" cy="567372"/>
          </a:xfrm>
        </p:grpSpPr>
        <p:sp>
          <p:nvSpPr>
            <p:cNvPr id="81" name="Freeform 81"/>
            <p:cNvSpPr/>
            <p:nvPr/>
          </p:nvSpPr>
          <p:spPr>
            <a:xfrm>
              <a:off x="0" y="0"/>
              <a:ext cx="3971599" cy="567371"/>
            </a:xfrm>
            <a:custGeom>
              <a:avLst/>
              <a:gdLst/>
              <a:ahLst/>
              <a:cxnLst/>
              <a:rect l="l" t="t" r="r" b="b"/>
              <a:pathLst>
                <a:path w="3971599" h="567371">
                  <a:moveTo>
                    <a:pt x="0" y="0"/>
                  </a:moveTo>
                  <a:lnTo>
                    <a:pt x="3971599" y="0"/>
                  </a:lnTo>
                  <a:lnTo>
                    <a:pt x="3971599" y="567371"/>
                  </a:lnTo>
                  <a:lnTo>
                    <a:pt x="0" y="567371"/>
                  </a:lnTo>
                  <a:close/>
                </a:path>
              </a:pathLst>
            </a:custGeom>
            <a:blipFill>
              <a:blip r:embed="rId1">
                <a:alphaModFix amt="0"/>
              </a:blip>
              <a:stretch>
                <a:fillRect t="-86395" b="-86395"/>
              </a:stretch>
            </a:blipFill>
          </p:spPr>
        </p:sp>
        <p:sp>
          <p:nvSpPr>
            <p:cNvPr id="82" name="TextBox 82"/>
            <p:cNvSpPr txBox="1"/>
            <p:nvPr/>
          </p:nvSpPr>
          <p:spPr>
            <a:xfrm>
              <a:off x="0" y="0"/>
              <a:ext cx="3971595" cy="567372"/>
            </a:xfrm>
            <a:prstGeom prst="rect">
              <a:avLst/>
            </a:prstGeom>
          </p:spPr>
          <p:txBody>
            <a:bodyPr lIns="0" tIns="0" rIns="0" bIns="0" rtlCol="0" anchor="ctr"/>
            <a:lstStyle/>
            <a:p>
              <a:pPr algn="l">
                <a:lnSpc>
                  <a:spcPts val="1820"/>
                </a:lnSpc>
              </a:pPr>
              <a:r>
                <a:rPr lang="en-US" sz="1515" b="1">
                  <a:solidFill>
                    <a:srgbClr val="221336"/>
                  </a:solidFill>
                  <a:latin typeface="Aptos Bold" panose="020B0004020202020204"/>
                  <a:ea typeface="Aptos Bold" panose="020B0004020202020204"/>
                  <a:cs typeface="Aptos Bold" panose="020B0004020202020204"/>
                  <a:sym typeface="Aptos Bold" panose="020B0004020202020204"/>
                </a:rPr>
                <a:t>Price ≤ 0</a:t>
              </a:r>
              <a:endParaRPr lang="en-US" sz="1515"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83" name="Group 83"/>
          <p:cNvGrpSpPr/>
          <p:nvPr/>
        </p:nvGrpSpPr>
        <p:grpSpPr>
          <a:xfrm>
            <a:off x="7864302" y="4744679"/>
            <a:ext cx="1999907" cy="544878"/>
            <a:chOff x="0" y="0"/>
            <a:chExt cx="2666543" cy="726504"/>
          </a:xfrm>
        </p:grpSpPr>
        <p:sp>
          <p:nvSpPr>
            <p:cNvPr id="84" name="Freeform 84"/>
            <p:cNvSpPr/>
            <p:nvPr/>
          </p:nvSpPr>
          <p:spPr>
            <a:xfrm>
              <a:off x="0" y="0"/>
              <a:ext cx="2666492" cy="726440"/>
            </a:xfrm>
            <a:custGeom>
              <a:avLst/>
              <a:gdLst/>
              <a:ahLst/>
              <a:cxnLst/>
              <a:rect l="l" t="t" r="r" b="b"/>
              <a:pathLst>
                <a:path w="2666492" h="726440">
                  <a:moveTo>
                    <a:pt x="0" y="0"/>
                  </a:moveTo>
                  <a:lnTo>
                    <a:pt x="2666492" y="0"/>
                  </a:lnTo>
                  <a:lnTo>
                    <a:pt x="2666492" y="726440"/>
                  </a:lnTo>
                  <a:lnTo>
                    <a:pt x="0" y="726440"/>
                  </a:lnTo>
                  <a:close/>
                </a:path>
              </a:pathLst>
            </a:custGeom>
            <a:solidFill>
              <a:srgbClr val="F0F2FF"/>
            </a:solidFill>
            <a:ln w="9532" cap="sq">
              <a:solidFill>
                <a:srgbClr val="D8D5E8"/>
              </a:solidFill>
              <a:prstDash val="solid"/>
              <a:miter/>
            </a:ln>
          </p:spPr>
        </p:sp>
      </p:grpSp>
      <p:grpSp>
        <p:nvGrpSpPr>
          <p:cNvPr id="85" name="Group 85"/>
          <p:cNvGrpSpPr/>
          <p:nvPr/>
        </p:nvGrpSpPr>
        <p:grpSpPr>
          <a:xfrm>
            <a:off x="7923967" y="4804353"/>
            <a:ext cx="1880559" cy="425529"/>
            <a:chOff x="0" y="0"/>
            <a:chExt cx="2507412" cy="567372"/>
          </a:xfrm>
        </p:grpSpPr>
        <p:sp>
          <p:nvSpPr>
            <p:cNvPr id="86" name="Freeform 86"/>
            <p:cNvSpPr/>
            <p:nvPr/>
          </p:nvSpPr>
          <p:spPr>
            <a:xfrm>
              <a:off x="0" y="0"/>
              <a:ext cx="2507415" cy="567371"/>
            </a:xfrm>
            <a:custGeom>
              <a:avLst/>
              <a:gdLst/>
              <a:ahLst/>
              <a:cxnLst/>
              <a:rect l="l" t="t" r="r" b="b"/>
              <a:pathLst>
                <a:path w="2507415" h="567371">
                  <a:moveTo>
                    <a:pt x="0" y="0"/>
                  </a:moveTo>
                  <a:lnTo>
                    <a:pt x="2507415" y="0"/>
                  </a:lnTo>
                  <a:lnTo>
                    <a:pt x="2507415" y="567371"/>
                  </a:lnTo>
                  <a:lnTo>
                    <a:pt x="0" y="567371"/>
                  </a:lnTo>
                  <a:close/>
                </a:path>
              </a:pathLst>
            </a:custGeom>
            <a:blipFill>
              <a:blip r:embed="rId1">
                <a:alphaModFix amt="0"/>
              </a:blip>
              <a:stretch>
                <a:fillRect t="-36111" b="-36111"/>
              </a:stretch>
            </a:blipFill>
          </p:spPr>
        </p:sp>
        <p:sp>
          <p:nvSpPr>
            <p:cNvPr id="87" name="TextBox 87"/>
            <p:cNvSpPr txBox="1"/>
            <p:nvPr/>
          </p:nvSpPr>
          <p:spPr>
            <a:xfrm>
              <a:off x="0" y="0"/>
              <a:ext cx="2507412"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0</a:t>
              </a:r>
              <a:endParaRPr lang="en-US" sz="1515">
                <a:solidFill>
                  <a:srgbClr val="221336"/>
                </a:solidFill>
                <a:latin typeface="Aptos"/>
                <a:ea typeface="Aptos"/>
                <a:cs typeface="Aptos"/>
                <a:sym typeface="Aptos"/>
              </a:endParaRPr>
            </a:p>
          </p:txBody>
        </p:sp>
      </p:grpSp>
      <p:grpSp>
        <p:nvGrpSpPr>
          <p:cNvPr id="88" name="Group 88"/>
          <p:cNvGrpSpPr/>
          <p:nvPr/>
        </p:nvGrpSpPr>
        <p:grpSpPr>
          <a:xfrm>
            <a:off x="9854675" y="4744679"/>
            <a:ext cx="3372583" cy="544878"/>
            <a:chOff x="0" y="0"/>
            <a:chExt cx="4496778" cy="726504"/>
          </a:xfrm>
        </p:grpSpPr>
        <p:sp>
          <p:nvSpPr>
            <p:cNvPr id="89" name="Freeform 89"/>
            <p:cNvSpPr/>
            <p:nvPr/>
          </p:nvSpPr>
          <p:spPr>
            <a:xfrm>
              <a:off x="0" y="0"/>
              <a:ext cx="4496816" cy="726440"/>
            </a:xfrm>
            <a:custGeom>
              <a:avLst/>
              <a:gdLst/>
              <a:ahLst/>
              <a:cxnLst/>
              <a:rect l="l" t="t" r="r" b="b"/>
              <a:pathLst>
                <a:path w="4496816" h="726440">
                  <a:moveTo>
                    <a:pt x="0" y="0"/>
                  </a:moveTo>
                  <a:lnTo>
                    <a:pt x="4496816" y="0"/>
                  </a:lnTo>
                  <a:lnTo>
                    <a:pt x="4496816" y="726440"/>
                  </a:lnTo>
                  <a:lnTo>
                    <a:pt x="0" y="726440"/>
                  </a:lnTo>
                  <a:close/>
                </a:path>
              </a:pathLst>
            </a:custGeom>
            <a:solidFill>
              <a:srgbClr val="F0F2FF"/>
            </a:solidFill>
            <a:ln w="9532" cap="sq">
              <a:solidFill>
                <a:srgbClr val="D8D5E8"/>
              </a:solidFill>
              <a:prstDash val="solid"/>
              <a:miter/>
            </a:ln>
          </p:spPr>
        </p:sp>
      </p:grpSp>
      <p:grpSp>
        <p:nvGrpSpPr>
          <p:cNvPr id="90" name="Group 90"/>
          <p:cNvGrpSpPr/>
          <p:nvPr/>
        </p:nvGrpSpPr>
        <p:grpSpPr>
          <a:xfrm>
            <a:off x="9914349" y="4804353"/>
            <a:ext cx="3253235" cy="425529"/>
            <a:chOff x="0" y="0"/>
            <a:chExt cx="4337647" cy="567372"/>
          </a:xfrm>
        </p:grpSpPr>
        <p:sp>
          <p:nvSpPr>
            <p:cNvPr id="91" name="Freeform 91"/>
            <p:cNvSpPr/>
            <p:nvPr/>
          </p:nvSpPr>
          <p:spPr>
            <a:xfrm>
              <a:off x="0" y="0"/>
              <a:ext cx="4337645" cy="567371"/>
            </a:xfrm>
            <a:custGeom>
              <a:avLst/>
              <a:gdLst/>
              <a:ahLst/>
              <a:cxnLst/>
              <a:rect l="l" t="t" r="r" b="b"/>
              <a:pathLst>
                <a:path w="4337645" h="567371">
                  <a:moveTo>
                    <a:pt x="0" y="0"/>
                  </a:moveTo>
                  <a:lnTo>
                    <a:pt x="4337645" y="0"/>
                  </a:lnTo>
                  <a:lnTo>
                    <a:pt x="4337645" y="567371"/>
                  </a:lnTo>
                  <a:lnTo>
                    <a:pt x="0" y="567371"/>
                  </a:lnTo>
                  <a:close/>
                </a:path>
              </a:pathLst>
            </a:custGeom>
            <a:blipFill>
              <a:blip r:embed="rId1">
                <a:alphaModFix amt="0"/>
              </a:blip>
              <a:stretch>
                <a:fillRect t="-98966" b="-98966"/>
              </a:stretch>
            </a:blipFill>
          </p:spPr>
        </p:sp>
        <p:sp>
          <p:nvSpPr>
            <p:cNvPr id="92" name="TextBox 92"/>
            <p:cNvSpPr txBox="1"/>
            <p:nvPr/>
          </p:nvSpPr>
          <p:spPr>
            <a:xfrm>
              <a:off x="0" y="0"/>
              <a:ext cx="4337647"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0</a:t>
              </a:r>
              <a:endParaRPr lang="en-US" sz="1515">
                <a:solidFill>
                  <a:srgbClr val="221336"/>
                </a:solidFill>
                <a:latin typeface="Aptos"/>
                <a:ea typeface="Aptos"/>
                <a:cs typeface="Aptos"/>
                <a:sym typeface="Aptos"/>
              </a:endParaRPr>
            </a:p>
          </p:txBody>
        </p:sp>
      </p:grpSp>
      <p:grpSp>
        <p:nvGrpSpPr>
          <p:cNvPr id="93" name="Group 93"/>
          <p:cNvGrpSpPr/>
          <p:nvPr/>
        </p:nvGrpSpPr>
        <p:grpSpPr>
          <a:xfrm>
            <a:off x="4775783" y="5280022"/>
            <a:ext cx="3098044" cy="544878"/>
            <a:chOff x="0" y="0"/>
            <a:chExt cx="4130726" cy="726504"/>
          </a:xfrm>
        </p:grpSpPr>
        <p:sp>
          <p:nvSpPr>
            <p:cNvPr id="94" name="Freeform 94"/>
            <p:cNvSpPr/>
            <p:nvPr/>
          </p:nvSpPr>
          <p:spPr>
            <a:xfrm>
              <a:off x="0" y="0"/>
              <a:ext cx="4130675" cy="726440"/>
            </a:xfrm>
            <a:custGeom>
              <a:avLst/>
              <a:gdLst/>
              <a:ahLst/>
              <a:cxnLst/>
              <a:rect l="l" t="t" r="r" b="b"/>
              <a:pathLst>
                <a:path w="4130675" h="726440">
                  <a:moveTo>
                    <a:pt x="0" y="0"/>
                  </a:moveTo>
                  <a:lnTo>
                    <a:pt x="4130675" y="0"/>
                  </a:lnTo>
                  <a:lnTo>
                    <a:pt x="4130675" y="726440"/>
                  </a:lnTo>
                  <a:lnTo>
                    <a:pt x="0" y="726440"/>
                  </a:lnTo>
                  <a:close/>
                </a:path>
              </a:pathLst>
            </a:custGeom>
            <a:solidFill>
              <a:srgbClr val="FFFFFF"/>
            </a:solidFill>
            <a:ln w="9532" cap="sq">
              <a:solidFill>
                <a:srgbClr val="D8D5E8"/>
              </a:solidFill>
              <a:prstDash val="solid"/>
              <a:miter/>
            </a:ln>
          </p:spPr>
        </p:sp>
      </p:grpSp>
      <p:grpSp>
        <p:nvGrpSpPr>
          <p:cNvPr id="95" name="Group 95"/>
          <p:cNvGrpSpPr/>
          <p:nvPr/>
        </p:nvGrpSpPr>
        <p:grpSpPr>
          <a:xfrm>
            <a:off x="4835457" y="5339696"/>
            <a:ext cx="2978696" cy="425529"/>
            <a:chOff x="0" y="0"/>
            <a:chExt cx="3971595" cy="567372"/>
          </a:xfrm>
        </p:grpSpPr>
        <p:sp>
          <p:nvSpPr>
            <p:cNvPr id="96" name="Freeform 96"/>
            <p:cNvSpPr/>
            <p:nvPr/>
          </p:nvSpPr>
          <p:spPr>
            <a:xfrm>
              <a:off x="0" y="0"/>
              <a:ext cx="3971599" cy="567371"/>
            </a:xfrm>
            <a:custGeom>
              <a:avLst/>
              <a:gdLst/>
              <a:ahLst/>
              <a:cxnLst/>
              <a:rect l="l" t="t" r="r" b="b"/>
              <a:pathLst>
                <a:path w="3971599" h="567371">
                  <a:moveTo>
                    <a:pt x="0" y="0"/>
                  </a:moveTo>
                  <a:lnTo>
                    <a:pt x="3971599" y="0"/>
                  </a:lnTo>
                  <a:lnTo>
                    <a:pt x="3971599" y="567371"/>
                  </a:lnTo>
                  <a:lnTo>
                    <a:pt x="0" y="567371"/>
                  </a:lnTo>
                  <a:close/>
                </a:path>
              </a:pathLst>
            </a:custGeom>
            <a:blipFill>
              <a:blip r:embed="rId1">
                <a:alphaModFix amt="0"/>
              </a:blip>
              <a:stretch>
                <a:fillRect t="-86395" b="-86395"/>
              </a:stretch>
            </a:blipFill>
          </p:spPr>
        </p:sp>
        <p:sp>
          <p:nvSpPr>
            <p:cNvPr id="97" name="TextBox 97"/>
            <p:cNvSpPr txBox="1"/>
            <p:nvPr/>
          </p:nvSpPr>
          <p:spPr>
            <a:xfrm>
              <a:off x="0" y="0"/>
              <a:ext cx="3971595" cy="567372"/>
            </a:xfrm>
            <a:prstGeom prst="rect">
              <a:avLst/>
            </a:prstGeom>
          </p:spPr>
          <p:txBody>
            <a:bodyPr lIns="0" tIns="0" rIns="0" bIns="0" rtlCol="0" anchor="ctr"/>
            <a:lstStyle/>
            <a:p>
              <a:pPr algn="l">
                <a:lnSpc>
                  <a:spcPts val="1820"/>
                </a:lnSpc>
              </a:pPr>
              <a:r>
                <a:rPr lang="en-US" sz="1515" b="1">
                  <a:solidFill>
                    <a:srgbClr val="221336"/>
                  </a:solidFill>
                  <a:latin typeface="Aptos Bold" panose="020B0004020202020204"/>
                  <a:ea typeface="Aptos Bold" panose="020B0004020202020204"/>
                  <a:cs typeface="Aptos Bold" panose="020B0004020202020204"/>
                  <a:sym typeface="Aptos Bold" panose="020B0004020202020204"/>
                </a:rPr>
                <a:t>Freight value &lt; 0</a:t>
              </a:r>
              <a:endParaRPr lang="en-US" sz="1515"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98" name="Group 98"/>
          <p:cNvGrpSpPr/>
          <p:nvPr/>
        </p:nvGrpSpPr>
        <p:grpSpPr>
          <a:xfrm>
            <a:off x="7864302" y="5280022"/>
            <a:ext cx="1999907" cy="544878"/>
            <a:chOff x="0" y="0"/>
            <a:chExt cx="2666543" cy="726504"/>
          </a:xfrm>
        </p:grpSpPr>
        <p:sp>
          <p:nvSpPr>
            <p:cNvPr id="99" name="Freeform 99"/>
            <p:cNvSpPr/>
            <p:nvPr/>
          </p:nvSpPr>
          <p:spPr>
            <a:xfrm>
              <a:off x="0" y="0"/>
              <a:ext cx="2666492" cy="726440"/>
            </a:xfrm>
            <a:custGeom>
              <a:avLst/>
              <a:gdLst/>
              <a:ahLst/>
              <a:cxnLst/>
              <a:rect l="l" t="t" r="r" b="b"/>
              <a:pathLst>
                <a:path w="2666492" h="726440">
                  <a:moveTo>
                    <a:pt x="0" y="0"/>
                  </a:moveTo>
                  <a:lnTo>
                    <a:pt x="2666492" y="0"/>
                  </a:lnTo>
                  <a:lnTo>
                    <a:pt x="2666492" y="726440"/>
                  </a:lnTo>
                  <a:lnTo>
                    <a:pt x="0" y="726440"/>
                  </a:lnTo>
                  <a:close/>
                </a:path>
              </a:pathLst>
            </a:custGeom>
            <a:solidFill>
              <a:srgbClr val="FFFFFF"/>
            </a:solidFill>
            <a:ln w="9532" cap="sq">
              <a:solidFill>
                <a:srgbClr val="D8D5E8"/>
              </a:solidFill>
              <a:prstDash val="solid"/>
              <a:miter/>
            </a:ln>
          </p:spPr>
        </p:sp>
      </p:grpSp>
      <p:grpSp>
        <p:nvGrpSpPr>
          <p:cNvPr id="100" name="Group 100"/>
          <p:cNvGrpSpPr/>
          <p:nvPr/>
        </p:nvGrpSpPr>
        <p:grpSpPr>
          <a:xfrm>
            <a:off x="7923967" y="5339696"/>
            <a:ext cx="1880559" cy="425529"/>
            <a:chOff x="0" y="0"/>
            <a:chExt cx="2507412" cy="567372"/>
          </a:xfrm>
        </p:grpSpPr>
        <p:sp>
          <p:nvSpPr>
            <p:cNvPr id="101" name="Freeform 101"/>
            <p:cNvSpPr/>
            <p:nvPr/>
          </p:nvSpPr>
          <p:spPr>
            <a:xfrm>
              <a:off x="0" y="0"/>
              <a:ext cx="2507415" cy="567371"/>
            </a:xfrm>
            <a:custGeom>
              <a:avLst/>
              <a:gdLst/>
              <a:ahLst/>
              <a:cxnLst/>
              <a:rect l="l" t="t" r="r" b="b"/>
              <a:pathLst>
                <a:path w="2507415" h="567371">
                  <a:moveTo>
                    <a:pt x="0" y="0"/>
                  </a:moveTo>
                  <a:lnTo>
                    <a:pt x="2507415" y="0"/>
                  </a:lnTo>
                  <a:lnTo>
                    <a:pt x="2507415" y="567371"/>
                  </a:lnTo>
                  <a:lnTo>
                    <a:pt x="0" y="567371"/>
                  </a:lnTo>
                  <a:close/>
                </a:path>
              </a:pathLst>
            </a:custGeom>
            <a:blipFill>
              <a:blip r:embed="rId1">
                <a:alphaModFix amt="0"/>
              </a:blip>
              <a:stretch>
                <a:fillRect t="-36111" b="-36111"/>
              </a:stretch>
            </a:blipFill>
          </p:spPr>
        </p:sp>
        <p:sp>
          <p:nvSpPr>
            <p:cNvPr id="102" name="TextBox 102"/>
            <p:cNvSpPr txBox="1"/>
            <p:nvPr/>
          </p:nvSpPr>
          <p:spPr>
            <a:xfrm>
              <a:off x="0" y="0"/>
              <a:ext cx="2507412"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0</a:t>
              </a:r>
              <a:endParaRPr lang="en-US" sz="1515">
                <a:solidFill>
                  <a:srgbClr val="221336"/>
                </a:solidFill>
                <a:latin typeface="Aptos"/>
                <a:ea typeface="Aptos"/>
                <a:cs typeface="Aptos"/>
                <a:sym typeface="Aptos"/>
              </a:endParaRPr>
            </a:p>
          </p:txBody>
        </p:sp>
      </p:grpSp>
      <p:grpSp>
        <p:nvGrpSpPr>
          <p:cNvPr id="103" name="Group 103"/>
          <p:cNvGrpSpPr/>
          <p:nvPr/>
        </p:nvGrpSpPr>
        <p:grpSpPr>
          <a:xfrm>
            <a:off x="9854675" y="5280022"/>
            <a:ext cx="3372583" cy="544878"/>
            <a:chOff x="0" y="0"/>
            <a:chExt cx="4496778" cy="726504"/>
          </a:xfrm>
        </p:grpSpPr>
        <p:sp>
          <p:nvSpPr>
            <p:cNvPr id="104" name="Freeform 104"/>
            <p:cNvSpPr/>
            <p:nvPr/>
          </p:nvSpPr>
          <p:spPr>
            <a:xfrm>
              <a:off x="0" y="0"/>
              <a:ext cx="4496816" cy="726440"/>
            </a:xfrm>
            <a:custGeom>
              <a:avLst/>
              <a:gdLst/>
              <a:ahLst/>
              <a:cxnLst/>
              <a:rect l="l" t="t" r="r" b="b"/>
              <a:pathLst>
                <a:path w="4496816" h="726440">
                  <a:moveTo>
                    <a:pt x="0" y="0"/>
                  </a:moveTo>
                  <a:lnTo>
                    <a:pt x="4496816" y="0"/>
                  </a:lnTo>
                  <a:lnTo>
                    <a:pt x="4496816" y="726440"/>
                  </a:lnTo>
                  <a:lnTo>
                    <a:pt x="0" y="726440"/>
                  </a:lnTo>
                  <a:close/>
                </a:path>
              </a:pathLst>
            </a:custGeom>
            <a:solidFill>
              <a:srgbClr val="FFFFFF"/>
            </a:solidFill>
            <a:ln w="9532" cap="sq">
              <a:solidFill>
                <a:srgbClr val="D8D5E8"/>
              </a:solidFill>
              <a:prstDash val="solid"/>
              <a:miter/>
            </a:ln>
          </p:spPr>
        </p:sp>
      </p:grpSp>
      <p:grpSp>
        <p:nvGrpSpPr>
          <p:cNvPr id="105" name="Group 105"/>
          <p:cNvGrpSpPr/>
          <p:nvPr/>
        </p:nvGrpSpPr>
        <p:grpSpPr>
          <a:xfrm>
            <a:off x="9914349" y="5339696"/>
            <a:ext cx="3253235" cy="425529"/>
            <a:chOff x="0" y="0"/>
            <a:chExt cx="4337647" cy="567372"/>
          </a:xfrm>
        </p:grpSpPr>
        <p:sp>
          <p:nvSpPr>
            <p:cNvPr id="106" name="Freeform 106"/>
            <p:cNvSpPr/>
            <p:nvPr/>
          </p:nvSpPr>
          <p:spPr>
            <a:xfrm>
              <a:off x="0" y="0"/>
              <a:ext cx="4337645" cy="567371"/>
            </a:xfrm>
            <a:custGeom>
              <a:avLst/>
              <a:gdLst/>
              <a:ahLst/>
              <a:cxnLst/>
              <a:rect l="l" t="t" r="r" b="b"/>
              <a:pathLst>
                <a:path w="4337645" h="567371">
                  <a:moveTo>
                    <a:pt x="0" y="0"/>
                  </a:moveTo>
                  <a:lnTo>
                    <a:pt x="4337645" y="0"/>
                  </a:lnTo>
                  <a:lnTo>
                    <a:pt x="4337645" y="567371"/>
                  </a:lnTo>
                  <a:lnTo>
                    <a:pt x="0" y="567371"/>
                  </a:lnTo>
                  <a:close/>
                </a:path>
              </a:pathLst>
            </a:custGeom>
            <a:blipFill>
              <a:blip r:embed="rId1">
                <a:alphaModFix amt="0"/>
              </a:blip>
              <a:stretch>
                <a:fillRect t="-98966" b="-98966"/>
              </a:stretch>
            </a:blipFill>
          </p:spPr>
        </p:sp>
        <p:sp>
          <p:nvSpPr>
            <p:cNvPr id="107" name="TextBox 107"/>
            <p:cNvSpPr txBox="1"/>
            <p:nvPr/>
          </p:nvSpPr>
          <p:spPr>
            <a:xfrm>
              <a:off x="0" y="0"/>
              <a:ext cx="4337647"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0</a:t>
              </a:r>
              <a:endParaRPr lang="en-US" sz="1515">
                <a:solidFill>
                  <a:srgbClr val="221336"/>
                </a:solidFill>
                <a:latin typeface="Aptos"/>
                <a:ea typeface="Aptos"/>
                <a:cs typeface="Aptos"/>
                <a:sym typeface="Aptos"/>
              </a:endParaRPr>
            </a:p>
          </p:txBody>
        </p:sp>
      </p:grpSp>
      <p:grpSp>
        <p:nvGrpSpPr>
          <p:cNvPr id="108" name="Group 108"/>
          <p:cNvGrpSpPr/>
          <p:nvPr/>
        </p:nvGrpSpPr>
        <p:grpSpPr>
          <a:xfrm>
            <a:off x="4775783" y="5815365"/>
            <a:ext cx="3098044" cy="544878"/>
            <a:chOff x="0" y="0"/>
            <a:chExt cx="4130726" cy="726504"/>
          </a:xfrm>
        </p:grpSpPr>
        <p:sp>
          <p:nvSpPr>
            <p:cNvPr id="109" name="Freeform 109"/>
            <p:cNvSpPr/>
            <p:nvPr/>
          </p:nvSpPr>
          <p:spPr>
            <a:xfrm>
              <a:off x="0" y="0"/>
              <a:ext cx="4130675" cy="726440"/>
            </a:xfrm>
            <a:custGeom>
              <a:avLst/>
              <a:gdLst/>
              <a:ahLst/>
              <a:cxnLst/>
              <a:rect l="l" t="t" r="r" b="b"/>
              <a:pathLst>
                <a:path w="4130675" h="726440">
                  <a:moveTo>
                    <a:pt x="0" y="0"/>
                  </a:moveTo>
                  <a:lnTo>
                    <a:pt x="4130675" y="0"/>
                  </a:lnTo>
                  <a:lnTo>
                    <a:pt x="4130675" y="726440"/>
                  </a:lnTo>
                  <a:lnTo>
                    <a:pt x="0" y="726440"/>
                  </a:lnTo>
                  <a:close/>
                </a:path>
              </a:pathLst>
            </a:custGeom>
            <a:solidFill>
              <a:srgbClr val="F0F2FF"/>
            </a:solidFill>
            <a:ln w="9532" cap="sq">
              <a:solidFill>
                <a:srgbClr val="D8D5E8"/>
              </a:solidFill>
              <a:prstDash val="solid"/>
              <a:miter/>
            </a:ln>
          </p:spPr>
        </p:sp>
      </p:grpSp>
      <p:grpSp>
        <p:nvGrpSpPr>
          <p:cNvPr id="110" name="Group 110"/>
          <p:cNvGrpSpPr/>
          <p:nvPr/>
        </p:nvGrpSpPr>
        <p:grpSpPr>
          <a:xfrm>
            <a:off x="4835457" y="5875039"/>
            <a:ext cx="2978696" cy="425529"/>
            <a:chOff x="0" y="0"/>
            <a:chExt cx="3971595" cy="567372"/>
          </a:xfrm>
        </p:grpSpPr>
        <p:sp>
          <p:nvSpPr>
            <p:cNvPr id="111" name="Freeform 111"/>
            <p:cNvSpPr/>
            <p:nvPr/>
          </p:nvSpPr>
          <p:spPr>
            <a:xfrm>
              <a:off x="0" y="0"/>
              <a:ext cx="3971599" cy="567371"/>
            </a:xfrm>
            <a:custGeom>
              <a:avLst/>
              <a:gdLst/>
              <a:ahLst/>
              <a:cxnLst/>
              <a:rect l="l" t="t" r="r" b="b"/>
              <a:pathLst>
                <a:path w="3971599" h="567371">
                  <a:moveTo>
                    <a:pt x="0" y="0"/>
                  </a:moveTo>
                  <a:lnTo>
                    <a:pt x="3971599" y="0"/>
                  </a:lnTo>
                  <a:lnTo>
                    <a:pt x="3971599" y="567371"/>
                  </a:lnTo>
                  <a:lnTo>
                    <a:pt x="0" y="567371"/>
                  </a:lnTo>
                  <a:close/>
                </a:path>
              </a:pathLst>
            </a:custGeom>
            <a:blipFill>
              <a:blip r:embed="rId1">
                <a:alphaModFix amt="0"/>
              </a:blip>
              <a:stretch>
                <a:fillRect t="-86395" b="-86395"/>
              </a:stretch>
            </a:blipFill>
          </p:spPr>
        </p:sp>
        <p:sp>
          <p:nvSpPr>
            <p:cNvPr id="112" name="TextBox 112"/>
            <p:cNvSpPr txBox="1"/>
            <p:nvPr/>
          </p:nvSpPr>
          <p:spPr>
            <a:xfrm>
              <a:off x="0" y="0"/>
              <a:ext cx="3971595" cy="567372"/>
            </a:xfrm>
            <a:prstGeom prst="rect">
              <a:avLst/>
            </a:prstGeom>
          </p:spPr>
          <p:txBody>
            <a:bodyPr lIns="0" tIns="0" rIns="0" bIns="0" rtlCol="0" anchor="ctr"/>
            <a:lstStyle/>
            <a:p>
              <a:pPr algn="l">
                <a:lnSpc>
                  <a:spcPts val="1820"/>
                </a:lnSpc>
              </a:pPr>
              <a:r>
                <a:rPr lang="en-US" sz="1515" b="1">
                  <a:solidFill>
                    <a:srgbClr val="221336"/>
                  </a:solidFill>
                  <a:latin typeface="Aptos Bold" panose="020B0004020202020204"/>
                  <a:ea typeface="Aptos Bold" panose="020B0004020202020204"/>
                  <a:cs typeface="Aptos Bold" panose="020B0004020202020204"/>
                  <a:sym typeface="Aptos Bold" panose="020B0004020202020204"/>
                </a:rPr>
                <a:t>Product weight ≤ 0</a:t>
              </a:r>
              <a:endParaRPr lang="en-US" sz="1515"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113" name="Group 113"/>
          <p:cNvGrpSpPr/>
          <p:nvPr/>
        </p:nvGrpSpPr>
        <p:grpSpPr>
          <a:xfrm>
            <a:off x="7864302" y="5815365"/>
            <a:ext cx="1999907" cy="544878"/>
            <a:chOff x="0" y="0"/>
            <a:chExt cx="2666543" cy="726504"/>
          </a:xfrm>
        </p:grpSpPr>
        <p:sp>
          <p:nvSpPr>
            <p:cNvPr id="114" name="Freeform 114"/>
            <p:cNvSpPr/>
            <p:nvPr/>
          </p:nvSpPr>
          <p:spPr>
            <a:xfrm>
              <a:off x="0" y="0"/>
              <a:ext cx="2666492" cy="726440"/>
            </a:xfrm>
            <a:custGeom>
              <a:avLst/>
              <a:gdLst/>
              <a:ahLst/>
              <a:cxnLst/>
              <a:rect l="l" t="t" r="r" b="b"/>
              <a:pathLst>
                <a:path w="2666492" h="726440">
                  <a:moveTo>
                    <a:pt x="0" y="0"/>
                  </a:moveTo>
                  <a:lnTo>
                    <a:pt x="2666492" y="0"/>
                  </a:lnTo>
                  <a:lnTo>
                    <a:pt x="2666492" y="726440"/>
                  </a:lnTo>
                  <a:lnTo>
                    <a:pt x="0" y="726440"/>
                  </a:lnTo>
                  <a:close/>
                </a:path>
              </a:pathLst>
            </a:custGeom>
            <a:solidFill>
              <a:srgbClr val="F0F2FF"/>
            </a:solidFill>
            <a:ln w="9532" cap="sq">
              <a:solidFill>
                <a:srgbClr val="D8D5E8"/>
              </a:solidFill>
              <a:prstDash val="solid"/>
              <a:miter/>
            </a:ln>
          </p:spPr>
        </p:sp>
      </p:grpSp>
      <p:grpSp>
        <p:nvGrpSpPr>
          <p:cNvPr id="115" name="Group 115"/>
          <p:cNvGrpSpPr/>
          <p:nvPr/>
        </p:nvGrpSpPr>
        <p:grpSpPr>
          <a:xfrm>
            <a:off x="7923967" y="5875039"/>
            <a:ext cx="1880559" cy="425529"/>
            <a:chOff x="0" y="0"/>
            <a:chExt cx="2507412" cy="567372"/>
          </a:xfrm>
        </p:grpSpPr>
        <p:sp>
          <p:nvSpPr>
            <p:cNvPr id="116" name="Freeform 116"/>
            <p:cNvSpPr/>
            <p:nvPr/>
          </p:nvSpPr>
          <p:spPr>
            <a:xfrm>
              <a:off x="0" y="0"/>
              <a:ext cx="2507415" cy="567371"/>
            </a:xfrm>
            <a:custGeom>
              <a:avLst/>
              <a:gdLst/>
              <a:ahLst/>
              <a:cxnLst/>
              <a:rect l="l" t="t" r="r" b="b"/>
              <a:pathLst>
                <a:path w="2507415" h="567371">
                  <a:moveTo>
                    <a:pt x="0" y="0"/>
                  </a:moveTo>
                  <a:lnTo>
                    <a:pt x="2507415" y="0"/>
                  </a:lnTo>
                  <a:lnTo>
                    <a:pt x="2507415" y="567371"/>
                  </a:lnTo>
                  <a:lnTo>
                    <a:pt x="0" y="567371"/>
                  </a:lnTo>
                  <a:close/>
                </a:path>
              </a:pathLst>
            </a:custGeom>
            <a:blipFill>
              <a:blip r:embed="rId1">
                <a:alphaModFix amt="0"/>
              </a:blip>
              <a:stretch>
                <a:fillRect t="-36111" b="-36111"/>
              </a:stretch>
            </a:blipFill>
          </p:spPr>
        </p:sp>
        <p:sp>
          <p:nvSpPr>
            <p:cNvPr id="117" name="TextBox 117"/>
            <p:cNvSpPr txBox="1"/>
            <p:nvPr/>
          </p:nvSpPr>
          <p:spPr>
            <a:xfrm>
              <a:off x="0" y="0"/>
              <a:ext cx="2507412"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0</a:t>
              </a:r>
              <a:endParaRPr lang="en-US" sz="1515">
                <a:solidFill>
                  <a:srgbClr val="221336"/>
                </a:solidFill>
                <a:latin typeface="Aptos"/>
                <a:ea typeface="Aptos"/>
                <a:cs typeface="Aptos"/>
                <a:sym typeface="Aptos"/>
              </a:endParaRPr>
            </a:p>
          </p:txBody>
        </p:sp>
      </p:grpSp>
      <p:grpSp>
        <p:nvGrpSpPr>
          <p:cNvPr id="118" name="Group 118"/>
          <p:cNvGrpSpPr/>
          <p:nvPr/>
        </p:nvGrpSpPr>
        <p:grpSpPr>
          <a:xfrm>
            <a:off x="9854675" y="5815365"/>
            <a:ext cx="3372583" cy="544878"/>
            <a:chOff x="0" y="0"/>
            <a:chExt cx="4496778" cy="726504"/>
          </a:xfrm>
        </p:grpSpPr>
        <p:sp>
          <p:nvSpPr>
            <p:cNvPr id="119" name="Freeform 119"/>
            <p:cNvSpPr/>
            <p:nvPr/>
          </p:nvSpPr>
          <p:spPr>
            <a:xfrm>
              <a:off x="0" y="0"/>
              <a:ext cx="4496816" cy="726440"/>
            </a:xfrm>
            <a:custGeom>
              <a:avLst/>
              <a:gdLst/>
              <a:ahLst/>
              <a:cxnLst/>
              <a:rect l="l" t="t" r="r" b="b"/>
              <a:pathLst>
                <a:path w="4496816" h="726440">
                  <a:moveTo>
                    <a:pt x="0" y="0"/>
                  </a:moveTo>
                  <a:lnTo>
                    <a:pt x="4496816" y="0"/>
                  </a:lnTo>
                  <a:lnTo>
                    <a:pt x="4496816" y="726440"/>
                  </a:lnTo>
                  <a:lnTo>
                    <a:pt x="0" y="726440"/>
                  </a:lnTo>
                  <a:close/>
                </a:path>
              </a:pathLst>
            </a:custGeom>
            <a:solidFill>
              <a:srgbClr val="F0F2FF"/>
            </a:solidFill>
            <a:ln w="9532" cap="sq">
              <a:solidFill>
                <a:srgbClr val="D8D5E8"/>
              </a:solidFill>
              <a:prstDash val="solid"/>
              <a:miter/>
            </a:ln>
          </p:spPr>
        </p:sp>
      </p:grpSp>
      <p:grpSp>
        <p:nvGrpSpPr>
          <p:cNvPr id="120" name="Group 120"/>
          <p:cNvGrpSpPr/>
          <p:nvPr/>
        </p:nvGrpSpPr>
        <p:grpSpPr>
          <a:xfrm>
            <a:off x="9914349" y="5875039"/>
            <a:ext cx="3253235" cy="425529"/>
            <a:chOff x="0" y="0"/>
            <a:chExt cx="4337647" cy="567372"/>
          </a:xfrm>
        </p:grpSpPr>
        <p:sp>
          <p:nvSpPr>
            <p:cNvPr id="121" name="Freeform 121"/>
            <p:cNvSpPr/>
            <p:nvPr/>
          </p:nvSpPr>
          <p:spPr>
            <a:xfrm>
              <a:off x="0" y="0"/>
              <a:ext cx="4337645" cy="567371"/>
            </a:xfrm>
            <a:custGeom>
              <a:avLst/>
              <a:gdLst/>
              <a:ahLst/>
              <a:cxnLst/>
              <a:rect l="l" t="t" r="r" b="b"/>
              <a:pathLst>
                <a:path w="4337645" h="567371">
                  <a:moveTo>
                    <a:pt x="0" y="0"/>
                  </a:moveTo>
                  <a:lnTo>
                    <a:pt x="4337645" y="0"/>
                  </a:lnTo>
                  <a:lnTo>
                    <a:pt x="4337645" y="567371"/>
                  </a:lnTo>
                  <a:lnTo>
                    <a:pt x="0" y="567371"/>
                  </a:lnTo>
                  <a:close/>
                </a:path>
              </a:pathLst>
            </a:custGeom>
            <a:blipFill>
              <a:blip r:embed="rId1">
                <a:alphaModFix amt="0"/>
              </a:blip>
              <a:stretch>
                <a:fillRect t="-98966" b="-98966"/>
              </a:stretch>
            </a:blipFill>
          </p:spPr>
        </p:sp>
        <p:sp>
          <p:nvSpPr>
            <p:cNvPr id="122" name="TextBox 122"/>
            <p:cNvSpPr txBox="1"/>
            <p:nvPr/>
          </p:nvSpPr>
          <p:spPr>
            <a:xfrm>
              <a:off x="0" y="0"/>
              <a:ext cx="4337647"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0</a:t>
              </a:r>
              <a:endParaRPr lang="en-US" sz="1515">
                <a:solidFill>
                  <a:srgbClr val="221336"/>
                </a:solidFill>
                <a:latin typeface="Aptos"/>
                <a:ea typeface="Aptos"/>
                <a:cs typeface="Aptos"/>
                <a:sym typeface="Aptos"/>
              </a:endParaRPr>
            </a:p>
          </p:txBody>
        </p:sp>
      </p:grpSp>
      <p:grpSp>
        <p:nvGrpSpPr>
          <p:cNvPr id="123" name="Group 123"/>
          <p:cNvGrpSpPr/>
          <p:nvPr/>
        </p:nvGrpSpPr>
        <p:grpSpPr>
          <a:xfrm>
            <a:off x="4775783" y="6350708"/>
            <a:ext cx="3098044" cy="544878"/>
            <a:chOff x="0" y="0"/>
            <a:chExt cx="4130726" cy="726504"/>
          </a:xfrm>
        </p:grpSpPr>
        <p:sp>
          <p:nvSpPr>
            <p:cNvPr id="124" name="Freeform 124"/>
            <p:cNvSpPr/>
            <p:nvPr/>
          </p:nvSpPr>
          <p:spPr>
            <a:xfrm>
              <a:off x="0" y="0"/>
              <a:ext cx="4130675" cy="726440"/>
            </a:xfrm>
            <a:custGeom>
              <a:avLst/>
              <a:gdLst/>
              <a:ahLst/>
              <a:cxnLst/>
              <a:rect l="l" t="t" r="r" b="b"/>
              <a:pathLst>
                <a:path w="4130675" h="726440">
                  <a:moveTo>
                    <a:pt x="0" y="0"/>
                  </a:moveTo>
                  <a:lnTo>
                    <a:pt x="4130675" y="0"/>
                  </a:lnTo>
                  <a:lnTo>
                    <a:pt x="4130675" y="726440"/>
                  </a:lnTo>
                  <a:lnTo>
                    <a:pt x="0" y="726440"/>
                  </a:lnTo>
                  <a:close/>
                </a:path>
              </a:pathLst>
            </a:custGeom>
            <a:solidFill>
              <a:srgbClr val="FFFFFF"/>
            </a:solidFill>
            <a:ln w="9532" cap="sq">
              <a:solidFill>
                <a:srgbClr val="D8D5E8"/>
              </a:solidFill>
              <a:prstDash val="solid"/>
              <a:miter/>
            </a:ln>
          </p:spPr>
        </p:sp>
      </p:grpSp>
      <p:grpSp>
        <p:nvGrpSpPr>
          <p:cNvPr id="125" name="Group 125"/>
          <p:cNvGrpSpPr/>
          <p:nvPr/>
        </p:nvGrpSpPr>
        <p:grpSpPr>
          <a:xfrm>
            <a:off x="4835457" y="6410382"/>
            <a:ext cx="2978696" cy="425529"/>
            <a:chOff x="0" y="0"/>
            <a:chExt cx="3971595" cy="567372"/>
          </a:xfrm>
        </p:grpSpPr>
        <p:sp>
          <p:nvSpPr>
            <p:cNvPr id="126" name="Freeform 126"/>
            <p:cNvSpPr/>
            <p:nvPr/>
          </p:nvSpPr>
          <p:spPr>
            <a:xfrm>
              <a:off x="0" y="0"/>
              <a:ext cx="3971599" cy="567371"/>
            </a:xfrm>
            <a:custGeom>
              <a:avLst/>
              <a:gdLst/>
              <a:ahLst/>
              <a:cxnLst/>
              <a:rect l="l" t="t" r="r" b="b"/>
              <a:pathLst>
                <a:path w="3971599" h="567371">
                  <a:moveTo>
                    <a:pt x="0" y="0"/>
                  </a:moveTo>
                  <a:lnTo>
                    <a:pt x="3971599" y="0"/>
                  </a:lnTo>
                  <a:lnTo>
                    <a:pt x="3971599" y="567371"/>
                  </a:lnTo>
                  <a:lnTo>
                    <a:pt x="0" y="567371"/>
                  </a:lnTo>
                  <a:close/>
                </a:path>
              </a:pathLst>
            </a:custGeom>
            <a:blipFill>
              <a:blip r:embed="rId1">
                <a:alphaModFix amt="0"/>
              </a:blip>
              <a:stretch>
                <a:fillRect t="-86395" b="-86395"/>
              </a:stretch>
            </a:blipFill>
          </p:spPr>
        </p:sp>
        <p:sp>
          <p:nvSpPr>
            <p:cNvPr id="127" name="TextBox 127"/>
            <p:cNvSpPr txBox="1"/>
            <p:nvPr/>
          </p:nvSpPr>
          <p:spPr>
            <a:xfrm>
              <a:off x="0" y="0"/>
              <a:ext cx="3971595" cy="567372"/>
            </a:xfrm>
            <a:prstGeom prst="rect">
              <a:avLst/>
            </a:prstGeom>
          </p:spPr>
          <p:txBody>
            <a:bodyPr lIns="0" tIns="0" rIns="0" bIns="0" rtlCol="0" anchor="ctr"/>
            <a:lstStyle/>
            <a:p>
              <a:pPr algn="l">
                <a:lnSpc>
                  <a:spcPts val="1820"/>
                </a:lnSpc>
              </a:pPr>
              <a:r>
                <a:rPr lang="en-US" sz="1515" b="1">
                  <a:solidFill>
                    <a:srgbClr val="221336"/>
                  </a:solidFill>
                  <a:latin typeface="Aptos Bold" panose="020B0004020202020204"/>
                  <a:ea typeface="Aptos Bold" panose="020B0004020202020204"/>
                  <a:cs typeface="Aptos Bold" panose="020B0004020202020204"/>
                  <a:sym typeface="Aptos Bold" panose="020B0004020202020204"/>
                </a:rPr>
                <a:t>Output file</a:t>
              </a:r>
              <a:endParaRPr lang="en-US" sz="1515" b="1">
                <a:solidFill>
                  <a:srgbClr val="221336"/>
                </a:solidFill>
                <a:latin typeface="Aptos Bold" panose="020B0004020202020204"/>
                <a:ea typeface="Aptos Bold" panose="020B0004020202020204"/>
                <a:cs typeface="Aptos Bold" panose="020B0004020202020204"/>
                <a:sym typeface="Aptos Bold" panose="020B0004020202020204"/>
              </a:endParaRPr>
            </a:p>
          </p:txBody>
        </p:sp>
      </p:grpSp>
      <p:grpSp>
        <p:nvGrpSpPr>
          <p:cNvPr id="128" name="Group 128"/>
          <p:cNvGrpSpPr/>
          <p:nvPr/>
        </p:nvGrpSpPr>
        <p:grpSpPr>
          <a:xfrm>
            <a:off x="7864302" y="6350708"/>
            <a:ext cx="1999907" cy="544878"/>
            <a:chOff x="0" y="0"/>
            <a:chExt cx="2666543" cy="726504"/>
          </a:xfrm>
        </p:grpSpPr>
        <p:sp>
          <p:nvSpPr>
            <p:cNvPr id="129" name="Freeform 129"/>
            <p:cNvSpPr/>
            <p:nvPr/>
          </p:nvSpPr>
          <p:spPr>
            <a:xfrm>
              <a:off x="0" y="0"/>
              <a:ext cx="2666492" cy="726440"/>
            </a:xfrm>
            <a:custGeom>
              <a:avLst/>
              <a:gdLst/>
              <a:ahLst/>
              <a:cxnLst/>
              <a:rect l="l" t="t" r="r" b="b"/>
              <a:pathLst>
                <a:path w="2666492" h="726440">
                  <a:moveTo>
                    <a:pt x="0" y="0"/>
                  </a:moveTo>
                  <a:lnTo>
                    <a:pt x="2666492" y="0"/>
                  </a:lnTo>
                  <a:lnTo>
                    <a:pt x="2666492" y="726440"/>
                  </a:lnTo>
                  <a:lnTo>
                    <a:pt x="0" y="726440"/>
                  </a:lnTo>
                  <a:close/>
                </a:path>
              </a:pathLst>
            </a:custGeom>
            <a:solidFill>
              <a:srgbClr val="FFFFFF"/>
            </a:solidFill>
            <a:ln w="9532" cap="sq">
              <a:solidFill>
                <a:srgbClr val="D8D5E8"/>
              </a:solidFill>
              <a:prstDash val="solid"/>
              <a:miter/>
            </a:ln>
          </p:spPr>
        </p:sp>
      </p:grpSp>
      <p:grpSp>
        <p:nvGrpSpPr>
          <p:cNvPr id="130" name="Group 130"/>
          <p:cNvGrpSpPr/>
          <p:nvPr/>
        </p:nvGrpSpPr>
        <p:grpSpPr>
          <a:xfrm>
            <a:off x="7923967" y="6410382"/>
            <a:ext cx="1880559" cy="425529"/>
            <a:chOff x="0" y="0"/>
            <a:chExt cx="2507412" cy="567372"/>
          </a:xfrm>
        </p:grpSpPr>
        <p:sp>
          <p:nvSpPr>
            <p:cNvPr id="131" name="Freeform 131"/>
            <p:cNvSpPr/>
            <p:nvPr/>
          </p:nvSpPr>
          <p:spPr>
            <a:xfrm>
              <a:off x="0" y="0"/>
              <a:ext cx="2507415" cy="567371"/>
            </a:xfrm>
            <a:custGeom>
              <a:avLst/>
              <a:gdLst/>
              <a:ahLst/>
              <a:cxnLst/>
              <a:rect l="l" t="t" r="r" b="b"/>
              <a:pathLst>
                <a:path w="2507415" h="567371">
                  <a:moveTo>
                    <a:pt x="0" y="0"/>
                  </a:moveTo>
                  <a:lnTo>
                    <a:pt x="2507415" y="0"/>
                  </a:lnTo>
                  <a:lnTo>
                    <a:pt x="2507415" y="567371"/>
                  </a:lnTo>
                  <a:lnTo>
                    <a:pt x="0" y="567371"/>
                  </a:lnTo>
                  <a:close/>
                </a:path>
              </a:pathLst>
            </a:custGeom>
            <a:blipFill>
              <a:blip r:embed="rId1">
                <a:alphaModFix amt="0"/>
              </a:blip>
              <a:stretch>
                <a:fillRect t="-36111" b="-36111"/>
              </a:stretch>
            </a:blipFill>
          </p:spPr>
        </p:sp>
        <p:sp>
          <p:nvSpPr>
            <p:cNvPr id="132" name="TextBox 132"/>
            <p:cNvSpPr txBox="1"/>
            <p:nvPr/>
          </p:nvSpPr>
          <p:spPr>
            <a:xfrm>
              <a:off x="0" y="0"/>
              <a:ext cx="2507412"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a:t>
              </a:r>
              <a:endParaRPr lang="en-US" sz="1515">
                <a:solidFill>
                  <a:srgbClr val="221336"/>
                </a:solidFill>
                <a:latin typeface="Aptos"/>
                <a:ea typeface="Aptos"/>
                <a:cs typeface="Aptos"/>
                <a:sym typeface="Aptos"/>
              </a:endParaRPr>
            </a:p>
          </p:txBody>
        </p:sp>
      </p:grpSp>
      <p:grpSp>
        <p:nvGrpSpPr>
          <p:cNvPr id="133" name="Group 133"/>
          <p:cNvGrpSpPr/>
          <p:nvPr/>
        </p:nvGrpSpPr>
        <p:grpSpPr>
          <a:xfrm>
            <a:off x="9854675" y="6350708"/>
            <a:ext cx="3372583" cy="544878"/>
            <a:chOff x="0" y="0"/>
            <a:chExt cx="4496778" cy="726504"/>
          </a:xfrm>
        </p:grpSpPr>
        <p:sp>
          <p:nvSpPr>
            <p:cNvPr id="134" name="Freeform 134"/>
            <p:cNvSpPr/>
            <p:nvPr/>
          </p:nvSpPr>
          <p:spPr>
            <a:xfrm>
              <a:off x="0" y="0"/>
              <a:ext cx="4496816" cy="726440"/>
            </a:xfrm>
            <a:custGeom>
              <a:avLst/>
              <a:gdLst/>
              <a:ahLst/>
              <a:cxnLst/>
              <a:rect l="l" t="t" r="r" b="b"/>
              <a:pathLst>
                <a:path w="4496816" h="726440">
                  <a:moveTo>
                    <a:pt x="0" y="0"/>
                  </a:moveTo>
                  <a:lnTo>
                    <a:pt x="4496816" y="0"/>
                  </a:lnTo>
                  <a:lnTo>
                    <a:pt x="4496816" y="726440"/>
                  </a:lnTo>
                  <a:lnTo>
                    <a:pt x="0" y="726440"/>
                  </a:lnTo>
                  <a:close/>
                </a:path>
              </a:pathLst>
            </a:custGeom>
            <a:solidFill>
              <a:srgbClr val="FFFFFF"/>
            </a:solidFill>
            <a:ln w="9532" cap="sq">
              <a:solidFill>
                <a:srgbClr val="D8D5E8"/>
              </a:solidFill>
              <a:prstDash val="solid"/>
              <a:miter/>
            </a:ln>
          </p:spPr>
        </p:sp>
      </p:grpSp>
      <p:grpSp>
        <p:nvGrpSpPr>
          <p:cNvPr id="135" name="Group 135"/>
          <p:cNvGrpSpPr/>
          <p:nvPr/>
        </p:nvGrpSpPr>
        <p:grpSpPr>
          <a:xfrm>
            <a:off x="9914349" y="6410382"/>
            <a:ext cx="3253235" cy="425529"/>
            <a:chOff x="0" y="0"/>
            <a:chExt cx="4337647" cy="567372"/>
          </a:xfrm>
        </p:grpSpPr>
        <p:sp>
          <p:nvSpPr>
            <p:cNvPr id="136" name="Freeform 136"/>
            <p:cNvSpPr/>
            <p:nvPr/>
          </p:nvSpPr>
          <p:spPr>
            <a:xfrm>
              <a:off x="0" y="0"/>
              <a:ext cx="4337645" cy="567371"/>
            </a:xfrm>
            <a:custGeom>
              <a:avLst/>
              <a:gdLst/>
              <a:ahLst/>
              <a:cxnLst/>
              <a:rect l="l" t="t" r="r" b="b"/>
              <a:pathLst>
                <a:path w="4337645" h="567371">
                  <a:moveTo>
                    <a:pt x="0" y="0"/>
                  </a:moveTo>
                  <a:lnTo>
                    <a:pt x="4337645" y="0"/>
                  </a:lnTo>
                  <a:lnTo>
                    <a:pt x="4337645" y="567371"/>
                  </a:lnTo>
                  <a:lnTo>
                    <a:pt x="0" y="567371"/>
                  </a:lnTo>
                  <a:close/>
                </a:path>
              </a:pathLst>
            </a:custGeom>
            <a:blipFill>
              <a:blip r:embed="rId1">
                <a:alphaModFix amt="0"/>
              </a:blip>
              <a:stretch>
                <a:fillRect t="-98966" b="-98966"/>
              </a:stretch>
            </a:blipFill>
          </p:spPr>
        </p:sp>
        <p:sp>
          <p:nvSpPr>
            <p:cNvPr id="137" name="TextBox 137"/>
            <p:cNvSpPr txBox="1"/>
            <p:nvPr/>
          </p:nvSpPr>
          <p:spPr>
            <a:xfrm>
              <a:off x="0" y="0"/>
              <a:ext cx="4337647" cy="567372"/>
            </a:xfrm>
            <a:prstGeom prst="rect">
              <a:avLst/>
            </a:prstGeom>
          </p:spPr>
          <p:txBody>
            <a:bodyPr lIns="0" tIns="0" rIns="0" bIns="0" rtlCol="0" anchor="ctr"/>
            <a:lstStyle/>
            <a:p>
              <a:pPr algn="ctr">
                <a:lnSpc>
                  <a:spcPts val="1820"/>
                </a:lnSpc>
              </a:pPr>
              <a:r>
                <a:rPr lang="en-US" sz="1515">
                  <a:solidFill>
                    <a:srgbClr val="221336"/>
                  </a:solidFill>
                  <a:latin typeface="Aptos"/>
                  <a:ea typeface="Aptos"/>
                  <a:cs typeface="Aptos"/>
                  <a:sym typeface="Aptos"/>
                </a:rPr>
                <a:t>Supply_Chain_Cleaned_Dataset.csv</a:t>
              </a:r>
              <a:endParaRPr lang="en-US" sz="1515">
                <a:solidFill>
                  <a:srgbClr val="221336"/>
                </a:solidFill>
                <a:latin typeface="Aptos"/>
                <a:ea typeface="Aptos"/>
                <a:cs typeface="Aptos"/>
                <a:sym typeface="Aptos"/>
              </a:endParaRPr>
            </a:p>
          </p:txBody>
        </p:sp>
      </p:grpSp>
      <p:grpSp>
        <p:nvGrpSpPr>
          <p:cNvPr id="138" name="Group 138"/>
          <p:cNvGrpSpPr/>
          <p:nvPr/>
        </p:nvGrpSpPr>
        <p:grpSpPr>
          <a:xfrm>
            <a:off x="13758210" y="2594734"/>
            <a:ext cx="3938807" cy="1467993"/>
            <a:chOff x="0" y="0"/>
            <a:chExt cx="5251742" cy="1957324"/>
          </a:xfrm>
        </p:grpSpPr>
        <p:sp>
          <p:nvSpPr>
            <p:cNvPr id="139" name="Freeform 139"/>
            <p:cNvSpPr/>
            <p:nvPr/>
          </p:nvSpPr>
          <p:spPr>
            <a:xfrm>
              <a:off x="0" y="0"/>
              <a:ext cx="5251704" cy="1957324"/>
            </a:xfrm>
            <a:custGeom>
              <a:avLst/>
              <a:gdLst/>
              <a:ahLst/>
              <a:cxnLst/>
              <a:rect l="l" t="t" r="r" b="b"/>
              <a:pathLst>
                <a:path w="5251704" h="1957324">
                  <a:moveTo>
                    <a:pt x="0" y="167767"/>
                  </a:moveTo>
                  <a:cubicBezTo>
                    <a:pt x="0" y="75057"/>
                    <a:pt x="75057" y="0"/>
                    <a:pt x="167767" y="0"/>
                  </a:cubicBezTo>
                  <a:lnTo>
                    <a:pt x="5083937" y="0"/>
                  </a:lnTo>
                  <a:cubicBezTo>
                    <a:pt x="5176647" y="0"/>
                    <a:pt x="5251704" y="75057"/>
                    <a:pt x="5251704" y="167767"/>
                  </a:cubicBezTo>
                  <a:lnTo>
                    <a:pt x="5251704" y="1789557"/>
                  </a:lnTo>
                  <a:cubicBezTo>
                    <a:pt x="5251704" y="1882267"/>
                    <a:pt x="5176647" y="1957324"/>
                    <a:pt x="5083937" y="1957324"/>
                  </a:cubicBezTo>
                  <a:lnTo>
                    <a:pt x="167767" y="1957324"/>
                  </a:lnTo>
                  <a:cubicBezTo>
                    <a:pt x="75057" y="1957324"/>
                    <a:pt x="0" y="1882267"/>
                    <a:pt x="0" y="1789557"/>
                  </a:cubicBezTo>
                  <a:close/>
                </a:path>
              </a:pathLst>
            </a:custGeom>
            <a:solidFill>
              <a:srgbClr val="829BDC"/>
            </a:solidFill>
            <a:ln w="26691" cap="sq">
              <a:solidFill>
                <a:srgbClr val="1B0E2C"/>
              </a:solidFill>
              <a:prstDash val="solid"/>
              <a:miter/>
            </a:ln>
          </p:spPr>
        </p:sp>
      </p:grpSp>
      <p:grpSp>
        <p:nvGrpSpPr>
          <p:cNvPr id="140" name="Group 140"/>
          <p:cNvGrpSpPr/>
          <p:nvPr/>
        </p:nvGrpSpPr>
        <p:grpSpPr>
          <a:xfrm>
            <a:off x="14046094" y="2951245"/>
            <a:ext cx="3363049" cy="384353"/>
            <a:chOff x="0" y="0"/>
            <a:chExt cx="4484065" cy="512470"/>
          </a:xfrm>
        </p:grpSpPr>
        <p:sp>
          <p:nvSpPr>
            <p:cNvPr id="141" name="Freeform 141"/>
            <p:cNvSpPr/>
            <p:nvPr/>
          </p:nvSpPr>
          <p:spPr>
            <a:xfrm>
              <a:off x="0" y="0"/>
              <a:ext cx="4484063" cy="512464"/>
            </a:xfrm>
            <a:custGeom>
              <a:avLst/>
              <a:gdLst/>
              <a:ahLst/>
              <a:cxnLst/>
              <a:rect l="l" t="t" r="r" b="b"/>
              <a:pathLst>
                <a:path w="4484063" h="512464">
                  <a:moveTo>
                    <a:pt x="0" y="0"/>
                  </a:moveTo>
                  <a:lnTo>
                    <a:pt x="4484063" y="0"/>
                  </a:lnTo>
                  <a:lnTo>
                    <a:pt x="4484063" y="512464"/>
                  </a:lnTo>
                  <a:lnTo>
                    <a:pt x="0" y="512464"/>
                  </a:lnTo>
                  <a:close/>
                </a:path>
              </a:pathLst>
            </a:custGeom>
            <a:blipFill>
              <a:blip r:embed="rId1">
                <a:alphaModFix amt="0"/>
              </a:blip>
              <a:stretch>
                <a:fillRect t="-120493" b="-120494"/>
              </a:stretch>
            </a:blipFill>
          </p:spPr>
        </p:sp>
        <p:sp>
          <p:nvSpPr>
            <p:cNvPr id="142" name="TextBox 142"/>
            <p:cNvSpPr txBox="1"/>
            <p:nvPr/>
          </p:nvSpPr>
          <p:spPr>
            <a:xfrm>
              <a:off x="0" y="0"/>
              <a:ext cx="4484065" cy="512470"/>
            </a:xfrm>
            <a:prstGeom prst="rect">
              <a:avLst/>
            </a:prstGeom>
          </p:spPr>
          <p:txBody>
            <a:bodyPr lIns="0" tIns="0" rIns="0" bIns="0" rtlCol="0" anchor="ctr"/>
            <a:lstStyle/>
            <a:p>
              <a:pPr algn="ctr">
                <a:lnSpc>
                  <a:spcPts val="3240"/>
                </a:lnSpc>
              </a:pPr>
              <a:r>
                <a:rPr lang="en-US" sz="2700" b="1">
                  <a:solidFill>
                    <a:srgbClr val="FFFFFF"/>
                  </a:solidFill>
                  <a:latin typeface="Aptos Bold" panose="020B0004020202020204"/>
                  <a:ea typeface="Aptos Bold" panose="020B0004020202020204"/>
                  <a:cs typeface="Aptos Bold" panose="020B0004020202020204"/>
                  <a:sym typeface="Aptos Bold" panose="020B0004020202020204"/>
                </a:rPr>
                <a:t>Ready for EDA</a:t>
              </a:r>
              <a:endParaRPr lang="en-US" sz="270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143" name="Group 143"/>
          <p:cNvGrpSpPr/>
          <p:nvPr/>
        </p:nvGrpSpPr>
        <p:grpSpPr>
          <a:xfrm>
            <a:off x="14114721" y="3459137"/>
            <a:ext cx="3225784" cy="356892"/>
            <a:chOff x="0" y="0"/>
            <a:chExt cx="4301046" cy="475856"/>
          </a:xfrm>
        </p:grpSpPr>
        <p:sp>
          <p:nvSpPr>
            <p:cNvPr id="144" name="Freeform 144"/>
            <p:cNvSpPr/>
            <p:nvPr/>
          </p:nvSpPr>
          <p:spPr>
            <a:xfrm>
              <a:off x="0" y="0"/>
              <a:ext cx="4301040" cy="475860"/>
            </a:xfrm>
            <a:custGeom>
              <a:avLst/>
              <a:gdLst/>
              <a:ahLst/>
              <a:cxnLst/>
              <a:rect l="l" t="t" r="r" b="b"/>
              <a:pathLst>
                <a:path w="4301040" h="475860">
                  <a:moveTo>
                    <a:pt x="0" y="0"/>
                  </a:moveTo>
                  <a:lnTo>
                    <a:pt x="4301040" y="0"/>
                  </a:lnTo>
                  <a:lnTo>
                    <a:pt x="4301040" y="475860"/>
                  </a:lnTo>
                  <a:lnTo>
                    <a:pt x="0" y="475860"/>
                  </a:lnTo>
                  <a:close/>
                </a:path>
              </a:pathLst>
            </a:custGeom>
            <a:blipFill>
              <a:blip r:embed="rId1">
                <a:alphaModFix amt="0"/>
              </a:blip>
              <a:stretch>
                <a:fillRect t="-126115" b="-126114"/>
              </a:stretch>
            </a:blipFill>
          </p:spPr>
        </p:sp>
        <p:sp>
          <p:nvSpPr>
            <p:cNvPr id="145" name="TextBox 145"/>
            <p:cNvSpPr txBox="1"/>
            <p:nvPr/>
          </p:nvSpPr>
          <p:spPr>
            <a:xfrm>
              <a:off x="0" y="0"/>
              <a:ext cx="4301046" cy="475856"/>
            </a:xfrm>
            <a:prstGeom prst="rect">
              <a:avLst/>
            </a:prstGeom>
          </p:spPr>
          <p:txBody>
            <a:bodyPr lIns="0" tIns="0" rIns="0" bIns="0" rtlCol="0" anchor="ctr"/>
            <a:lstStyle/>
            <a:p>
              <a:pPr algn="ctr">
                <a:lnSpc>
                  <a:spcPts val="1710"/>
                </a:lnSpc>
              </a:pPr>
              <a:r>
                <a:rPr lang="en-US" sz="1425">
                  <a:solidFill>
                    <a:srgbClr val="D9D7F2"/>
                  </a:solidFill>
                  <a:latin typeface="Aptos"/>
                  <a:ea typeface="Aptos"/>
                  <a:cs typeface="Aptos"/>
                  <a:sym typeface="Aptos"/>
                </a:rPr>
                <a:t>Milestone 2 can now use clean columns for analysis.</a:t>
              </a:r>
              <a:endParaRPr lang="en-US" sz="1425">
                <a:solidFill>
                  <a:srgbClr val="D9D7F2"/>
                </a:solidFill>
                <a:latin typeface="Aptos"/>
                <a:ea typeface="Aptos"/>
                <a:cs typeface="Aptos"/>
                <a:sym typeface="Aptos"/>
              </a:endParaRPr>
            </a:p>
          </p:txBody>
        </p:sp>
      </p:grpSp>
      <p:grpSp>
        <p:nvGrpSpPr>
          <p:cNvPr id="146" name="Group 146"/>
          <p:cNvGrpSpPr/>
          <p:nvPr/>
        </p:nvGrpSpPr>
        <p:grpSpPr>
          <a:xfrm>
            <a:off x="13758210" y="4543930"/>
            <a:ext cx="3938807" cy="3087748"/>
            <a:chOff x="0" y="0"/>
            <a:chExt cx="5251742" cy="4116997"/>
          </a:xfrm>
        </p:grpSpPr>
        <p:sp>
          <p:nvSpPr>
            <p:cNvPr id="147" name="Freeform 147"/>
            <p:cNvSpPr/>
            <p:nvPr/>
          </p:nvSpPr>
          <p:spPr>
            <a:xfrm>
              <a:off x="0" y="0"/>
              <a:ext cx="5251704" cy="4116959"/>
            </a:xfrm>
            <a:custGeom>
              <a:avLst/>
              <a:gdLst/>
              <a:ahLst/>
              <a:cxnLst/>
              <a:rect l="l" t="t" r="r" b="b"/>
              <a:pathLst>
                <a:path w="5251704" h="4116959">
                  <a:moveTo>
                    <a:pt x="0" y="166116"/>
                  </a:moveTo>
                  <a:cubicBezTo>
                    <a:pt x="0" y="74422"/>
                    <a:pt x="74422" y="0"/>
                    <a:pt x="166116" y="0"/>
                  </a:cubicBezTo>
                  <a:lnTo>
                    <a:pt x="5085588" y="0"/>
                  </a:lnTo>
                  <a:cubicBezTo>
                    <a:pt x="5177409" y="0"/>
                    <a:pt x="5251704" y="74422"/>
                    <a:pt x="5251704" y="166116"/>
                  </a:cubicBezTo>
                  <a:lnTo>
                    <a:pt x="5251704" y="3950843"/>
                  </a:lnTo>
                  <a:cubicBezTo>
                    <a:pt x="5251704" y="4042664"/>
                    <a:pt x="5177282" y="4116959"/>
                    <a:pt x="5085588" y="4116959"/>
                  </a:cubicBezTo>
                  <a:lnTo>
                    <a:pt x="166116" y="4116959"/>
                  </a:lnTo>
                  <a:cubicBezTo>
                    <a:pt x="74422" y="4116959"/>
                    <a:pt x="0" y="4042664"/>
                    <a:pt x="0" y="3950843"/>
                  </a:cubicBezTo>
                  <a:close/>
                </a:path>
              </a:pathLst>
            </a:custGeom>
            <a:solidFill>
              <a:srgbClr val="7356B4"/>
            </a:solidFill>
            <a:ln w="26691" cap="sq">
              <a:solidFill>
                <a:srgbClr val="1B0E2C"/>
              </a:solidFill>
              <a:prstDash val="solid"/>
              <a:miter/>
            </a:ln>
          </p:spPr>
        </p:sp>
      </p:grpSp>
      <p:grpSp>
        <p:nvGrpSpPr>
          <p:cNvPr id="148" name="Group 148"/>
          <p:cNvGrpSpPr/>
          <p:nvPr/>
        </p:nvGrpSpPr>
        <p:grpSpPr>
          <a:xfrm>
            <a:off x="14114721" y="4914167"/>
            <a:ext cx="3225784" cy="343167"/>
            <a:chOff x="0" y="0"/>
            <a:chExt cx="4301046" cy="457556"/>
          </a:xfrm>
        </p:grpSpPr>
        <p:sp>
          <p:nvSpPr>
            <p:cNvPr id="149" name="Freeform 149"/>
            <p:cNvSpPr/>
            <p:nvPr/>
          </p:nvSpPr>
          <p:spPr>
            <a:xfrm>
              <a:off x="0" y="0"/>
              <a:ext cx="4301040" cy="457557"/>
            </a:xfrm>
            <a:custGeom>
              <a:avLst/>
              <a:gdLst/>
              <a:ahLst/>
              <a:cxnLst/>
              <a:rect l="l" t="t" r="r" b="b"/>
              <a:pathLst>
                <a:path w="4301040" h="457557">
                  <a:moveTo>
                    <a:pt x="0" y="0"/>
                  </a:moveTo>
                  <a:lnTo>
                    <a:pt x="4301040" y="0"/>
                  </a:lnTo>
                  <a:lnTo>
                    <a:pt x="4301040" y="457557"/>
                  </a:lnTo>
                  <a:lnTo>
                    <a:pt x="0" y="457557"/>
                  </a:lnTo>
                  <a:close/>
                </a:path>
              </a:pathLst>
            </a:custGeom>
            <a:blipFill>
              <a:blip r:embed="rId1">
                <a:alphaModFix amt="0"/>
              </a:blip>
              <a:stretch>
                <a:fillRect t="-133159" b="-133159"/>
              </a:stretch>
            </a:blipFill>
          </p:spPr>
        </p:sp>
        <p:sp>
          <p:nvSpPr>
            <p:cNvPr id="150" name="TextBox 150"/>
            <p:cNvSpPr txBox="1"/>
            <p:nvPr/>
          </p:nvSpPr>
          <p:spPr>
            <a:xfrm>
              <a:off x="0" y="0"/>
              <a:ext cx="4301046" cy="457556"/>
            </a:xfrm>
            <a:prstGeom prst="rect">
              <a:avLst/>
            </a:prstGeom>
          </p:spPr>
          <p:txBody>
            <a:bodyPr lIns="0" tIns="0" rIns="0" bIns="0" rtlCol="0" anchor="ctr"/>
            <a:lstStyle/>
            <a:p>
              <a:pPr algn="ctr">
                <a:lnSpc>
                  <a:spcPts val="2700"/>
                </a:lnSpc>
              </a:pPr>
              <a:r>
                <a:rPr lang="en-US" sz="2250" b="1">
                  <a:solidFill>
                    <a:srgbClr val="FFFFFF"/>
                  </a:solidFill>
                  <a:latin typeface="Aptos Bold" panose="020B0004020202020204"/>
                  <a:ea typeface="Aptos Bold" panose="020B0004020202020204"/>
                  <a:cs typeface="Aptos Bold" panose="020B0004020202020204"/>
                  <a:sym typeface="Aptos Bold" panose="020B0004020202020204"/>
                </a:rPr>
                <a:t>Next analysis areas</a:t>
              </a:r>
              <a:endParaRPr lang="en-US" sz="225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151" name="Group 151"/>
          <p:cNvGrpSpPr/>
          <p:nvPr/>
        </p:nvGrpSpPr>
        <p:grpSpPr>
          <a:xfrm>
            <a:off x="14210809" y="5463235"/>
            <a:ext cx="3088510" cy="1715841"/>
            <a:chOff x="0" y="0"/>
            <a:chExt cx="4118013" cy="2287787"/>
          </a:xfrm>
        </p:grpSpPr>
        <p:sp>
          <p:nvSpPr>
            <p:cNvPr id="152" name="Freeform 152"/>
            <p:cNvSpPr/>
            <p:nvPr/>
          </p:nvSpPr>
          <p:spPr>
            <a:xfrm>
              <a:off x="0" y="0"/>
              <a:ext cx="4118017" cy="2287784"/>
            </a:xfrm>
            <a:custGeom>
              <a:avLst/>
              <a:gdLst/>
              <a:ahLst/>
              <a:cxnLst/>
              <a:rect l="l" t="t" r="r" b="b"/>
              <a:pathLst>
                <a:path w="4118017" h="2287784">
                  <a:moveTo>
                    <a:pt x="0" y="0"/>
                  </a:moveTo>
                  <a:lnTo>
                    <a:pt x="4118017" y="0"/>
                  </a:lnTo>
                  <a:lnTo>
                    <a:pt x="4118017" y="2287784"/>
                  </a:lnTo>
                  <a:lnTo>
                    <a:pt x="0" y="2287784"/>
                  </a:lnTo>
                  <a:close/>
                </a:path>
              </a:pathLst>
            </a:custGeom>
            <a:blipFill>
              <a:blip r:embed="rId1">
                <a:alphaModFix amt="0"/>
              </a:blip>
              <a:stretch>
                <a:fillRect l="-21279" r="-21279"/>
              </a:stretch>
            </a:blipFill>
          </p:spPr>
        </p:sp>
        <p:sp>
          <p:nvSpPr>
            <p:cNvPr id="153" name="TextBox 153"/>
            <p:cNvSpPr txBox="1"/>
            <p:nvPr/>
          </p:nvSpPr>
          <p:spPr>
            <a:xfrm>
              <a:off x="0" y="-38100"/>
              <a:ext cx="4118013" cy="2325887"/>
            </a:xfrm>
            <a:prstGeom prst="rect">
              <a:avLst/>
            </a:prstGeom>
          </p:spPr>
          <p:txBody>
            <a:bodyPr lIns="0" tIns="0" rIns="0" bIns="0" rtlCol="0" anchor="ctr"/>
            <a:lstStyle/>
            <a:p>
              <a:pPr marL="298450" lvl="1" indent="-149225" algn="l">
                <a:lnSpc>
                  <a:spcPts val="1935"/>
                </a:lnSpc>
                <a:buFont typeface="Arial" panose="020B0604020202020204"/>
                <a:buChar char="•"/>
              </a:pPr>
              <a:r>
                <a:rPr lang="en-US" sz="1380">
                  <a:solidFill>
                    <a:srgbClr val="FFFFFF"/>
                  </a:solidFill>
                  <a:latin typeface="Aptos"/>
                  <a:ea typeface="Aptos"/>
                  <a:cs typeface="Aptos"/>
                  <a:sym typeface="Aptos"/>
                </a:rPr>
                <a:t>Order-status distribution</a:t>
              </a:r>
              <a:endParaRPr lang="en-US" sz="1380">
                <a:solidFill>
                  <a:srgbClr val="FFFFFF"/>
                </a:solidFill>
                <a:latin typeface="Aptos"/>
                <a:ea typeface="Aptos"/>
                <a:cs typeface="Aptos"/>
                <a:sym typeface="Aptos"/>
              </a:endParaRPr>
            </a:p>
            <a:p>
              <a:pPr marL="298450" lvl="1" indent="-149225" algn="l">
                <a:lnSpc>
                  <a:spcPts val="1935"/>
                </a:lnSpc>
                <a:buFont typeface="Arial" panose="020B0604020202020204"/>
                <a:buChar char="•"/>
              </a:pPr>
              <a:r>
                <a:rPr lang="en-US" sz="1380">
                  <a:solidFill>
                    <a:srgbClr val="FFFFFF"/>
                  </a:solidFill>
                  <a:latin typeface="Aptos"/>
                  <a:ea typeface="Aptos"/>
                  <a:cs typeface="Aptos"/>
                  <a:sym typeface="Aptos"/>
                </a:rPr>
                <a:t>Top product categories</a:t>
              </a:r>
              <a:endParaRPr lang="en-US" sz="1380">
                <a:solidFill>
                  <a:srgbClr val="FFFFFF"/>
                </a:solidFill>
                <a:latin typeface="Aptos"/>
                <a:ea typeface="Aptos"/>
                <a:cs typeface="Aptos"/>
                <a:sym typeface="Aptos"/>
              </a:endParaRPr>
            </a:p>
            <a:p>
              <a:pPr marL="298450" lvl="1" indent="-149225" algn="l">
                <a:lnSpc>
                  <a:spcPts val="1935"/>
                </a:lnSpc>
                <a:buFont typeface="Arial" panose="020B0604020202020204"/>
                <a:buChar char="•"/>
              </a:pPr>
              <a:r>
                <a:rPr lang="en-US" sz="1380">
                  <a:solidFill>
                    <a:srgbClr val="FFFFFF"/>
                  </a:solidFill>
                  <a:latin typeface="Aptos"/>
                  <a:ea typeface="Aptos"/>
                  <a:cs typeface="Aptos"/>
                  <a:sym typeface="Aptos"/>
                </a:rPr>
                <a:t>Freight vs price</a:t>
              </a:r>
              <a:endParaRPr lang="en-US" sz="1380">
                <a:solidFill>
                  <a:srgbClr val="FFFFFF"/>
                </a:solidFill>
                <a:latin typeface="Aptos"/>
                <a:ea typeface="Aptos"/>
                <a:cs typeface="Aptos"/>
                <a:sym typeface="Aptos"/>
              </a:endParaRPr>
            </a:p>
            <a:p>
              <a:pPr marL="298450" lvl="1" indent="-149225" algn="l">
                <a:lnSpc>
                  <a:spcPts val="1935"/>
                </a:lnSpc>
                <a:buFont typeface="Arial" panose="020B0604020202020204"/>
                <a:buChar char="•"/>
              </a:pPr>
              <a:r>
                <a:rPr lang="en-US" sz="1380">
                  <a:solidFill>
                    <a:srgbClr val="FFFFFF"/>
                  </a:solidFill>
                  <a:latin typeface="Aptos"/>
                  <a:ea typeface="Aptos"/>
                  <a:cs typeface="Aptos"/>
                  <a:sym typeface="Aptos"/>
                </a:rPr>
                <a:t>Payment distribution</a:t>
              </a:r>
              <a:endParaRPr lang="en-US" sz="1380">
                <a:solidFill>
                  <a:srgbClr val="FFFFFF"/>
                </a:solidFill>
                <a:latin typeface="Aptos"/>
                <a:ea typeface="Aptos"/>
                <a:cs typeface="Aptos"/>
                <a:sym typeface="Aptos"/>
              </a:endParaRPr>
            </a:p>
            <a:p>
              <a:pPr marL="298450" lvl="1" indent="-149225" algn="l">
                <a:lnSpc>
                  <a:spcPts val="1935"/>
                </a:lnSpc>
                <a:buFont typeface="Arial" panose="020B0604020202020204"/>
                <a:buChar char="•"/>
              </a:pPr>
              <a:r>
                <a:rPr lang="en-US" sz="1380">
                  <a:solidFill>
                    <a:srgbClr val="FFFFFF"/>
                  </a:solidFill>
                  <a:latin typeface="Aptos"/>
                  <a:ea typeface="Aptos"/>
                  <a:cs typeface="Aptos"/>
                  <a:sym typeface="Aptos"/>
                </a:rPr>
                <a:t>Seller-state analysis</a:t>
              </a:r>
              <a:endParaRPr lang="en-US" sz="1380">
                <a:solidFill>
                  <a:srgbClr val="FFFFFF"/>
                </a:solidFill>
                <a:latin typeface="Aptos"/>
                <a:ea typeface="Aptos"/>
                <a:cs typeface="Aptos"/>
                <a:sym typeface="Aptos"/>
              </a:endParaRPr>
            </a:p>
            <a:p>
              <a:pPr marL="298450" lvl="1" indent="-149225" algn="l">
                <a:lnSpc>
                  <a:spcPts val="1935"/>
                </a:lnSpc>
                <a:buFont typeface="Arial" panose="020B0604020202020204"/>
                <a:buChar char="•"/>
              </a:pPr>
              <a:r>
                <a:rPr lang="en-US" sz="1380">
                  <a:solidFill>
                    <a:srgbClr val="FFFFFF"/>
                  </a:solidFill>
                  <a:latin typeface="Aptos"/>
                  <a:ea typeface="Aptos"/>
                  <a:cs typeface="Aptos"/>
                  <a:sym typeface="Aptos"/>
                </a:rPr>
                <a:t>Delivery delay vs review score</a:t>
              </a:r>
              <a:endParaRPr lang="en-US" sz="1380">
                <a:solidFill>
                  <a:srgbClr val="FFFFFF"/>
                </a:solidFill>
                <a:latin typeface="Aptos"/>
                <a:ea typeface="Aptos"/>
                <a:cs typeface="Aptos"/>
                <a:sym typeface="Aptos"/>
              </a:endParaRPr>
            </a:p>
          </p:txBody>
        </p:sp>
      </p:grpSp>
      <p:grpSp>
        <p:nvGrpSpPr>
          <p:cNvPr id="154" name="Group 154"/>
          <p:cNvGrpSpPr/>
          <p:nvPr/>
        </p:nvGrpSpPr>
        <p:grpSpPr>
          <a:xfrm>
            <a:off x="4774830" y="8295132"/>
            <a:ext cx="12922187" cy="815216"/>
            <a:chOff x="0" y="0"/>
            <a:chExt cx="17229582" cy="1086955"/>
          </a:xfrm>
        </p:grpSpPr>
        <p:sp>
          <p:nvSpPr>
            <p:cNvPr id="155" name="Freeform 155"/>
            <p:cNvSpPr/>
            <p:nvPr/>
          </p:nvSpPr>
          <p:spPr>
            <a:xfrm>
              <a:off x="0" y="0"/>
              <a:ext cx="17229582" cy="1086866"/>
            </a:xfrm>
            <a:custGeom>
              <a:avLst/>
              <a:gdLst/>
              <a:ahLst/>
              <a:cxnLst/>
              <a:rect l="l" t="t" r="r" b="b"/>
              <a:pathLst>
                <a:path w="17229582" h="1086866">
                  <a:moveTo>
                    <a:pt x="0" y="181102"/>
                  </a:moveTo>
                  <a:cubicBezTo>
                    <a:pt x="0" y="81153"/>
                    <a:pt x="81153" y="0"/>
                    <a:pt x="181102" y="0"/>
                  </a:cubicBezTo>
                  <a:lnTo>
                    <a:pt x="17048480" y="0"/>
                  </a:lnTo>
                  <a:cubicBezTo>
                    <a:pt x="17148556" y="0"/>
                    <a:pt x="17229582" y="81153"/>
                    <a:pt x="17229582" y="181102"/>
                  </a:cubicBezTo>
                  <a:lnTo>
                    <a:pt x="17229582" y="905764"/>
                  </a:lnTo>
                  <a:cubicBezTo>
                    <a:pt x="17229582" y="1005840"/>
                    <a:pt x="17148429" y="1086866"/>
                    <a:pt x="17048480" y="1086866"/>
                  </a:cubicBezTo>
                  <a:lnTo>
                    <a:pt x="181102" y="1086866"/>
                  </a:lnTo>
                  <a:cubicBezTo>
                    <a:pt x="81153" y="1086993"/>
                    <a:pt x="0" y="1005840"/>
                    <a:pt x="0" y="905764"/>
                  </a:cubicBezTo>
                  <a:close/>
                </a:path>
              </a:pathLst>
            </a:custGeom>
            <a:solidFill>
              <a:srgbClr val="FFFFFF">
                <a:alpha val="1176"/>
              </a:srgbClr>
            </a:solidFill>
            <a:ln w="19065" cap="sq">
              <a:solidFill>
                <a:srgbClr val="C6C9F6"/>
              </a:solidFill>
              <a:prstDash val="solid"/>
              <a:miter/>
            </a:ln>
          </p:spPr>
        </p:sp>
      </p:grpSp>
      <p:grpSp>
        <p:nvGrpSpPr>
          <p:cNvPr id="156" name="Group 156"/>
          <p:cNvGrpSpPr/>
          <p:nvPr/>
        </p:nvGrpSpPr>
        <p:grpSpPr>
          <a:xfrm>
            <a:off x="4949080" y="8414480"/>
            <a:ext cx="12573676" cy="576520"/>
            <a:chOff x="0" y="0"/>
            <a:chExt cx="16764902" cy="768693"/>
          </a:xfrm>
        </p:grpSpPr>
        <p:sp>
          <p:nvSpPr>
            <p:cNvPr id="157" name="Freeform 157"/>
            <p:cNvSpPr/>
            <p:nvPr/>
          </p:nvSpPr>
          <p:spPr>
            <a:xfrm>
              <a:off x="0" y="0"/>
              <a:ext cx="16764905" cy="768697"/>
            </a:xfrm>
            <a:custGeom>
              <a:avLst/>
              <a:gdLst/>
              <a:ahLst/>
              <a:cxnLst/>
              <a:rect l="l" t="t" r="r" b="b"/>
              <a:pathLst>
                <a:path w="16764905" h="768697">
                  <a:moveTo>
                    <a:pt x="0" y="0"/>
                  </a:moveTo>
                  <a:lnTo>
                    <a:pt x="16764905" y="0"/>
                  </a:lnTo>
                  <a:lnTo>
                    <a:pt x="16764905" y="768697"/>
                  </a:lnTo>
                  <a:lnTo>
                    <a:pt x="0" y="768697"/>
                  </a:lnTo>
                  <a:close/>
                </a:path>
              </a:pathLst>
            </a:custGeom>
            <a:blipFill>
              <a:blip r:embed="rId1">
                <a:alphaModFix amt="0"/>
              </a:blip>
              <a:stretch>
                <a:fillRect t="-374959" b="-374959"/>
              </a:stretch>
            </a:blipFill>
          </p:spPr>
        </p:sp>
        <p:sp>
          <p:nvSpPr>
            <p:cNvPr id="158" name="TextBox 158"/>
            <p:cNvSpPr txBox="1"/>
            <p:nvPr/>
          </p:nvSpPr>
          <p:spPr>
            <a:xfrm>
              <a:off x="0" y="0"/>
              <a:ext cx="16764902" cy="768693"/>
            </a:xfrm>
            <a:prstGeom prst="rect">
              <a:avLst/>
            </a:prstGeom>
          </p:spPr>
          <p:txBody>
            <a:bodyPr lIns="0" tIns="0" rIns="0" bIns="0" rtlCol="0" anchor="ctr"/>
            <a:lstStyle/>
            <a:p>
              <a:pPr algn="l">
                <a:lnSpc>
                  <a:spcPts val="1945"/>
                </a:lnSpc>
              </a:pPr>
              <a:r>
                <a:rPr lang="en-US" sz="1620">
                  <a:solidFill>
                    <a:srgbClr val="D9D7F2"/>
                  </a:solidFill>
                  <a:latin typeface="Aptos"/>
                  <a:ea typeface="Aptos"/>
                  <a:cs typeface="Aptos"/>
                  <a:sym typeface="Aptos"/>
                </a:rPr>
                <a:t>Final statement: Milestone 1 successfully converted the raw merged dataset into a cleaned and analysis-ready supply-chain dataset.</a:t>
              </a:r>
              <a:endParaRPr lang="en-US" sz="1620">
                <a:solidFill>
                  <a:srgbClr val="D9D7F2"/>
                </a:solidFill>
                <a:latin typeface="Aptos"/>
                <a:ea typeface="Aptos"/>
                <a:cs typeface="Aptos"/>
                <a:sym typeface="Aptos"/>
              </a:endParaRPr>
            </a:p>
          </p:txBody>
        </p:sp>
      </p:grpSp>
      <p:grpSp>
        <p:nvGrpSpPr>
          <p:cNvPr id="159" name="Group 159"/>
          <p:cNvGrpSpPr/>
          <p:nvPr/>
        </p:nvGrpSpPr>
        <p:grpSpPr>
          <a:xfrm>
            <a:off x="1276979" y="1186442"/>
            <a:ext cx="1553688" cy="1270637"/>
            <a:chOff x="0" y="0"/>
            <a:chExt cx="543719" cy="444664"/>
          </a:xfrm>
        </p:grpSpPr>
        <p:sp>
          <p:nvSpPr>
            <p:cNvPr id="160" name="Freeform 160"/>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2"/>
              <a:stretch>
                <a:fillRect l="-4521" r="-4521"/>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B1368"/>
        </a:solidFill>
        <a:effectLst/>
      </p:bgPr>
    </p:bg>
    <p:spTree>
      <p:nvGrpSpPr>
        <p:cNvPr id="1" name=""/>
        <p:cNvGrpSpPr/>
        <p:nvPr/>
      </p:nvGrpSpPr>
      <p:grpSpPr>
        <a:xfrm>
          <a:off x="0" y="0"/>
          <a:ext cx="0" cy="0"/>
          <a:chOff x="0" y="0"/>
          <a:chExt cx="0" cy="0"/>
        </a:xfrm>
      </p:grpSpPr>
      <p:grpSp>
        <p:nvGrpSpPr>
          <p:cNvPr id="2" name="Group 2"/>
          <p:cNvGrpSpPr/>
          <p:nvPr/>
        </p:nvGrpSpPr>
        <p:grpSpPr>
          <a:xfrm>
            <a:off x="-9535" y="-9535"/>
            <a:ext cx="18320909" cy="10314108"/>
            <a:chOff x="0" y="0"/>
            <a:chExt cx="24427878" cy="13752144"/>
          </a:xfrm>
        </p:grpSpPr>
        <p:sp>
          <p:nvSpPr>
            <p:cNvPr id="3" name="Freeform 3"/>
            <p:cNvSpPr/>
            <p:nvPr/>
          </p:nvSpPr>
          <p:spPr>
            <a:xfrm>
              <a:off x="0" y="0"/>
              <a:ext cx="24427814" cy="13752195"/>
            </a:xfrm>
            <a:custGeom>
              <a:avLst/>
              <a:gdLst/>
              <a:ahLst/>
              <a:cxnLst/>
              <a:rect l="l" t="t" r="r" b="b"/>
              <a:pathLst>
                <a:path w="24427814" h="13752195">
                  <a:moveTo>
                    <a:pt x="0" y="0"/>
                  </a:moveTo>
                  <a:lnTo>
                    <a:pt x="24427814" y="0"/>
                  </a:lnTo>
                  <a:lnTo>
                    <a:pt x="24427814" y="13752195"/>
                  </a:lnTo>
                  <a:lnTo>
                    <a:pt x="0" y="13752195"/>
                  </a:lnTo>
                  <a:close/>
                </a:path>
              </a:pathLst>
            </a:custGeom>
            <a:solidFill>
              <a:srgbClr val="3B1368"/>
            </a:solidFill>
            <a:ln w="19065" cap="sq">
              <a:solidFill>
                <a:srgbClr val="3B1368"/>
              </a:solidFill>
              <a:prstDash val="solid"/>
              <a:miter/>
            </a:ln>
          </p:spPr>
        </p:sp>
      </p:grpSp>
      <p:grpSp>
        <p:nvGrpSpPr>
          <p:cNvPr id="4" name="Group 4"/>
          <p:cNvGrpSpPr/>
          <p:nvPr/>
        </p:nvGrpSpPr>
        <p:grpSpPr>
          <a:xfrm>
            <a:off x="8177946" y="9636157"/>
            <a:ext cx="3157147" cy="411804"/>
            <a:chOff x="0" y="0"/>
            <a:chExt cx="4209529" cy="549072"/>
          </a:xfrm>
        </p:grpSpPr>
        <p:sp>
          <p:nvSpPr>
            <p:cNvPr id="5" name="Freeform 5"/>
            <p:cNvSpPr/>
            <p:nvPr/>
          </p:nvSpPr>
          <p:spPr>
            <a:xfrm>
              <a:off x="0" y="0"/>
              <a:ext cx="4209529" cy="549069"/>
            </a:xfrm>
            <a:custGeom>
              <a:avLst/>
              <a:gdLst/>
              <a:ahLst/>
              <a:cxnLst/>
              <a:rect l="l" t="t" r="r" b="b"/>
              <a:pathLst>
                <a:path w="4209529" h="549069">
                  <a:moveTo>
                    <a:pt x="0" y="0"/>
                  </a:moveTo>
                  <a:lnTo>
                    <a:pt x="4209529" y="0"/>
                  </a:lnTo>
                  <a:lnTo>
                    <a:pt x="4209529" y="549069"/>
                  </a:lnTo>
                  <a:lnTo>
                    <a:pt x="0" y="549069"/>
                  </a:lnTo>
                  <a:close/>
                </a:path>
              </a:pathLst>
            </a:custGeom>
            <a:blipFill>
              <a:blip r:embed="rId1">
                <a:alphaModFix amt="0"/>
              </a:blip>
              <a:stretch>
                <a:fillRect t="-99385" b="-99385"/>
              </a:stretch>
            </a:blipFill>
          </p:spPr>
        </p:sp>
        <p:sp>
          <p:nvSpPr>
            <p:cNvPr id="6" name="TextBox 6"/>
            <p:cNvSpPr txBox="1"/>
            <p:nvPr/>
          </p:nvSpPr>
          <p:spPr>
            <a:xfrm>
              <a:off x="0" y="0"/>
              <a:ext cx="4209529" cy="549072"/>
            </a:xfrm>
            <a:prstGeom prst="rect">
              <a:avLst/>
            </a:prstGeom>
          </p:spPr>
          <p:txBody>
            <a:bodyPr lIns="0" tIns="0" rIns="0" bIns="0" rtlCol="0" anchor="ctr"/>
            <a:lstStyle/>
            <a:p>
              <a:pPr algn="l">
                <a:lnSpc>
                  <a:spcPts val="3240"/>
                </a:lnSpc>
              </a:pPr>
              <a:r>
                <a:rPr lang="en-US" sz="2700">
                  <a:solidFill>
                    <a:srgbClr val="FFFFFF"/>
                  </a:solidFill>
                  <a:latin typeface="Aptos"/>
                  <a:ea typeface="Aptos"/>
                  <a:cs typeface="Aptos"/>
                  <a:sym typeface="Aptos"/>
                </a:rPr>
                <a:t>Milestone 1</a:t>
              </a:r>
              <a:endParaRPr lang="en-US" sz="2700">
                <a:solidFill>
                  <a:srgbClr val="FFFFFF"/>
                </a:solidFill>
                <a:latin typeface="Aptos"/>
                <a:ea typeface="Aptos"/>
                <a:cs typeface="Aptos"/>
                <a:sym typeface="Aptos"/>
              </a:endParaRPr>
            </a:p>
          </p:txBody>
        </p:sp>
      </p:grpSp>
      <p:grpSp>
        <p:nvGrpSpPr>
          <p:cNvPr id="7" name="Group 7"/>
          <p:cNvGrpSpPr/>
          <p:nvPr/>
        </p:nvGrpSpPr>
        <p:grpSpPr>
          <a:xfrm>
            <a:off x="16266166" y="9636157"/>
            <a:ext cx="1441304" cy="411804"/>
            <a:chOff x="0" y="0"/>
            <a:chExt cx="1921739" cy="549072"/>
          </a:xfrm>
        </p:grpSpPr>
        <p:sp>
          <p:nvSpPr>
            <p:cNvPr id="8" name="Freeform 8"/>
            <p:cNvSpPr/>
            <p:nvPr/>
          </p:nvSpPr>
          <p:spPr>
            <a:xfrm>
              <a:off x="0" y="0"/>
              <a:ext cx="1921741" cy="549069"/>
            </a:xfrm>
            <a:custGeom>
              <a:avLst/>
              <a:gdLst/>
              <a:ahLst/>
              <a:cxnLst/>
              <a:rect l="l" t="t" r="r" b="b"/>
              <a:pathLst>
                <a:path w="1921741" h="549069">
                  <a:moveTo>
                    <a:pt x="0" y="0"/>
                  </a:moveTo>
                  <a:lnTo>
                    <a:pt x="1921741" y="0"/>
                  </a:lnTo>
                  <a:lnTo>
                    <a:pt x="1921741" y="549069"/>
                  </a:lnTo>
                  <a:lnTo>
                    <a:pt x="0" y="549069"/>
                  </a:lnTo>
                  <a:close/>
                </a:path>
              </a:pathLst>
            </a:custGeom>
            <a:blipFill>
              <a:blip r:embed="rId1">
                <a:alphaModFix amt="0"/>
              </a:blip>
              <a:stretch>
                <a:fillRect t="-18197" b="-18197"/>
              </a:stretch>
            </a:blipFill>
          </p:spPr>
        </p:sp>
        <p:sp>
          <p:nvSpPr>
            <p:cNvPr id="9" name="TextBox 9"/>
            <p:cNvSpPr txBox="1"/>
            <p:nvPr/>
          </p:nvSpPr>
          <p:spPr>
            <a:xfrm>
              <a:off x="0" y="-9525"/>
              <a:ext cx="1921739" cy="558597"/>
            </a:xfrm>
            <a:prstGeom prst="rect">
              <a:avLst/>
            </a:prstGeom>
          </p:spPr>
          <p:txBody>
            <a:bodyPr lIns="0" tIns="0" rIns="0" bIns="0" rtlCol="0" anchor="ctr"/>
            <a:lstStyle/>
            <a:p>
              <a:pPr algn="r">
                <a:lnSpc>
                  <a:spcPts val="2520"/>
                </a:lnSpc>
              </a:pPr>
              <a:r>
                <a:rPr lang="en-US" sz="2100">
                  <a:solidFill>
                    <a:srgbClr val="FFFFFF"/>
                  </a:solidFill>
                  <a:latin typeface="Aptos"/>
                  <a:ea typeface="Aptos"/>
                  <a:cs typeface="Aptos"/>
                  <a:sym typeface="Aptos"/>
                </a:rPr>
                <a:t>Page:0</a:t>
              </a:r>
              <a:r>
                <a:rPr lang="en-IN" altLang="en-US" sz="2100">
                  <a:solidFill>
                    <a:srgbClr val="FFFFFF"/>
                  </a:solidFill>
                  <a:latin typeface="Aptos"/>
                  <a:ea typeface="Aptos"/>
                  <a:cs typeface="Aptos"/>
                  <a:sym typeface="Aptos"/>
                </a:rPr>
                <a:t>9</a:t>
              </a:r>
              <a:endParaRPr lang="en-IN" altLang="en-US" sz="2100">
                <a:solidFill>
                  <a:srgbClr val="FFFFFF"/>
                </a:solidFill>
                <a:latin typeface="Aptos"/>
                <a:ea typeface="Aptos"/>
                <a:cs typeface="Aptos"/>
                <a:sym typeface="Aptos"/>
              </a:endParaRPr>
            </a:p>
          </p:txBody>
        </p:sp>
      </p:grpSp>
      <p:grpSp>
        <p:nvGrpSpPr>
          <p:cNvPr id="10" name="Group 10"/>
          <p:cNvGrpSpPr/>
          <p:nvPr/>
        </p:nvGrpSpPr>
        <p:grpSpPr>
          <a:xfrm>
            <a:off x="8177946" y="1028700"/>
            <a:ext cx="10033854" cy="1476382"/>
            <a:chOff x="0" y="0"/>
            <a:chExt cx="13378472" cy="1968510"/>
          </a:xfrm>
        </p:grpSpPr>
        <p:sp>
          <p:nvSpPr>
            <p:cNvPr id="11" name="Freeform 11"/>
            <p:cNvSpPr/>
            <p:nvPr/>
          </p:nvSpPr>
          <p:spPr>
            <a:xfrm>
              <a:off x="0" y="0"/>
              <a:ext cx="13378469" cy="1968514"/>
            </a:xfrm>
            <a:custGeom>
              <a:avLst/>
              <a:gdLst/>
              <a:ahLst/>
              <a:cxnLst/>
              <a:rect l="l" t="t" r="r" b="b"/>
              <a:pathLst>
                <a:path w="13378469" h="1968514">
                  <a:moveTo>
                    <a:pt x="0" y="0"/>
                  </a:moveTo>
                  <a:lnTo>
                    <a:pt x="13378469" y="0"/>
                  </a:lnTo>
                  <a:lnTo>
                    <a:pt x="13378469" y="1968514"/>
                  </a:lnTo>
                  <a:lnTo>
                    <a:pt x="0" y="1968514"/>
                  </a:lnTo>
                  <a:close/>
                </a:path>
              </a:pathLst>
            </a:custGeom>
            <a:blipFill>
              <a:blip r:embed="rId1">
                <a:alphaModFix amt="0"/>
              </a:blip>
              <a:stretch>
                <a:fillRect t="-103091" r="-9443" b="-86768"/>
              </a:stretch>
            </a:blipFill>
          </p:spPr>
        </p:sp>
        <p:sp>
          <p:nvSpPr>
            <p:cNvPr id="12" name="TextBox 12"/>
            <p:cNvSpPr txBox="1"/>
            <p:nvPr/>
          </p:nvSpPr>
          <p:spPr>
            <a:xfrm>
              <a:off x="0" y="-9525"/>
              <a:ext cx="13378472" cy="1978035"/>
            </a:xfrm>
            <a:prstGeom prst="rect">
              <a:avLst/>
            </a:prstGeom>
          </p:spPr>
          <p:txBody>
            <a:bodyPr lIns="0" tIns="0" rIns="0" bIns="0" rtlCol="0" anchor="ctr"/>
            <a:lstStyle/>
            <a:p>
              <a:pPr algn="l">
                <a:lnSpc>
                  <a:spcPts val="9365"/>
                </a:lnSpc>
              </a:pPr>
              <a:r>
                <a:rPr lang="en-US" sz="7805">
                  <a:solidFill>
                    <a:srgbClr val="FFFFFF"/>
                  </a:solidFill>
                  <a:latin typeface="Georgia" panose="02040502050405020303"/>
                  <a:ea typeface="Georgia" panose="02040502050405020303"/>
                  <a:cs typeface="Georgia" panose="02040502050405020303"/>
                  <a:sym typeface="Georgia" panose="02040502050405020303"/>
                </a:rPr>
                <a:t>Thank You!</a:t>
              </a:r>
              <a:endParaRPr lang="en-US" sz="7805">
                <a:solidFill>
                  <a:srgbClr val="FFFFFF"/>
                </a:solidFill>
                <a:latin typeface="Georgia" panose="02040502050405020303"/>
                <a:ea typeface="Georgia" panose="02040502050405020303"/>
                <a:cs typeface="Georgia" panose="02040502050405020303"/>
                <a:sym typeface="Georgia" panose="02040502050405020303"/>
              </a:endParaRPr>
            </a:p>
          </p:txBody>
        </p:sp>
      </p:grpSp>
      <p:grpSp>
        <p:nvGrpSpPr>
          <p:cNvPr id="13" name="Group 13"/>
          <p:cNvGrpSpPr/>
          <p:nvPr/>
        </p:nvGrpSpPr>
        <p:grpSpPr>
          <a:xfrm>
            <a:off x="10021035" y="3596252"/>
            <a:ext cx="5843346" cy="676305"/>
            <a:chOff x="0" y="0"/>
            <a:chExt cx="7791127" cy="901740"/>
          </a:xfrm>
        </p:grpSpPr>
        <p:sp>
          <p:nvSpPr>
            <p:cNvPr id="14" name="Freeform 14"/>
            <p:cNvSpPr/>
            <p:nvPr/>
          </p:nvSpPr>
          <p:spPr>
            <a:xfrm>
              <a:off x="0" y="0"/>
              <a:ext cx="7791126" cy="901740"/>
            </a:xfrm>
            <a:custGeom>
              <a:avLst/>
              <a:gdLst/>
              <a:ahLst/>
              <a:cxnLst/>
              <a:rect l="l" t="t" r="r" b="b"/>
              <a:pathLst>
                <a:path w="7791126" h="901740">
                  <a:moveTo>
                    <a:pt x="0" y="0"/>
                  </a:moveTo>
                  <a:lnTo>
                    <a:pt x="7791126" y="0"/>
                  </a:lnTo>
                  <a:lnTo>
                    <a:pt x="7791126" y="901740"/>
                  </a:lnTo>
                  <a:lnTo>
                    <a:pt x="0" y="901740"/>
                  </a:lnTo>
                  <a:close/>
                </a:path>
              </a:pathLst>
            </a:custGeom>
            <a:blipFill>
              <a:blip r:embed="rId1">
                <a:alphaModFix amt="0"/>
              </a:blip>
              <a:stretch>
                <a:fillRect t="-248107" r="-71485" b="-229294"/>
              </a:stretch>
            </a:blipFill>
          </p:spPr>
        </p:sp>
        <p:sp>
          <p:nvSpPr>
            <p:cNvPr id="15" name="TextBox 15"/>
            <p:cNvSpPr txBox="1"/>
            <p:nvPr/>
          </p:nvSpPr>
          <p:spPr>
            <a:xfrm>
              <a:off x="0" y="0"/>
              <a:ext cx="7791127" cy="901740"/>
            </a:xfrm>
            <a:prstGeom prst="rect">
              <a:avLst/>
            </a:prstGeom>
          </p:spPr>
          <p:txBody>
            <a:bodyPr lIns="0" tIns="0" rIns="0" bIns="0" rtlCol="0" anchor="ctr"/>
            <a:lstStyle/>
            <a:p>
              <a:pPr algn="ctr">
                <a:lnSpc>
                  <a:spcPts val="4325"/>
                </a:lnSpc>
              </a:pPr>
              <a:r>
                <a:rPr lang="en-US" sz="3600" b="1">
                  <a:solidFill>
                    <a:srgbClr val="C6C9F6"/>
                  </a:solidFill>
                  <a:latin typeface="Aptos Bold" panose="020B0004020202020204"/>
                  <a:ea typeface="Aptos Bold" panose="020B0004020202020204"/>
                  <a:cs typeface="Aptos Bold" panose="020B0004020202020204"/>
                  <a:sym typeface="Aptos Bold" panose="020B0004020202020204"/>
                </a:rPr>
                <a:t>Milestone 1 Completed</a:t>
              </a:r>
              <a:endParaRPr lang="en-US" sz="3600" b="1">
                <a:solidFill>
                  <a:srgbClr val="C6C9F6"/>
                </a:solidFill>
                <a:latin typeface="Aptos Bold" panose="020B0004020202020204"/>
                <a:ea typeface="Aptos Bold" panose="020B0004020202020204"/>
                <a:cs typeface="Aptos Bold" panose="020B0004020202020204"/>
                <a:sym typeface="Aptos Bold" panose="020B0004020202020204"/>
              </a:endParaRPr>
            </a:p>
          </p:txBody>
        </p:sp>
      </p:grpSp>
      <p:grpSp>
        <p:nvGrpSpPr>
          <p:cNvPr id="16" name="Group 16"/>
          <p:cNvGrpSpPr/>
          <p:nvPr/>
        </p:nvGrpSpPr>
        <p:grpSpPr>
          <a:xfrm>
            <a:off x="8177946" y="5706627"/>
            <a:ext cx="9529524" cy="1879797"/>
            <a:chOff x="0" y="0"/>
            <a:chExt cx="12706033" cy="2506396"/>
          </a:xfrm>
        </p:grpSpPr>
        <p:sp>
          <p:nvSpPr>
            <p:cNvPr id="17" name="Freeform 17"/>
            <p:cNvSpPr/>
            <p:nvPr/>
          </p:nvSpPr>
          <p:spPr>
            <a:xfrm>
              <a:off x="0" y="0"/>
              <a:ext cx="12706096" cy="2506472"/>
            </a:xfrm>
            <a:custGeom>
              <a:avLst/>
              <a:gdLst/>
              <a:ahLst/>
              <a:cxnLst/>
              <a:rect l="l" t="t" r="r" b="b"/>
              <a:pathLst>
                <a:path w="12706096" h="2506472">
                  <a:moveTo>
                    <a:pt x="0" y="167132"/>
                  </a:moveTo>
                  <a:cubicBezTo>
                    <a:pt x="0" y="74803"/>
                    <a:pt x="78452" y="0"/>
                    <a:pt x="175284" y="0"/>
                  </a:cubicBezTo>
                  <a:lnTo>
                    <a:pt x="12530815" y="0"/>
                  </a:lnTo>
                  <a:cubicBezTo>
                    <a:pt x="12627648" y="0"/>
                    <a:pt x="12706096" y="74803"/>
                    <a:pt x="12706096" y="167132"/>
                  </a:cubicBezTo>
                  <a:lnTo>
                    <a:pt x="12706096" y="2339340"/>
                  </a:lnTo>
                  <a:cubicBezTo>
                    <a:pt x="12706096" y="2431669"/>
                    <a:pt x="12627648" y="2506472"/>
                    <a:pt x="12530815" y="2506472"/>
                  </a:cubicBezTo>
                  <a:lnTo>
                    <a:pt x="175284" y="2506472"/>
                  </a:lnTo>
                  <a:cubicBezTo>
                    <a:pt x="78452" y="2506345"/>
                    <a:pt x="0" y="2431542"/>
                    <a:pt x="0" y="2339340"/>
                  </a:cubicBezTo>
                  <a:close/>
                </a:path>
              </a:pathLst>
            </a:custGeom>
            <a:solidFill>
              <a:srgbClr val="829BDC"/>
            </a:solidFill>
            <a:ln w="26691" cap="sq">
              <a:solidFill>
                <a:srgbClr val="1B0E2C"/>
              </a:solidFill>
              <a:prstDash val="solid"/>
              <a:miter/>
            </a:ln>
          </p:spPr>
        </p:sp>
      </p:grpSp>
      <p:grpSp>
        <p:nvGrpSpPr>
          <p:cNvPr id="18" name="Group 18"/>
          <p:cNvGrpSpPr/>
          <p:nvPr/>
        </p:nvGrpSpPr>
        <p:grpSpPr>
          <a:xfrm>
            <a:off x="8767792" y="6186933"/>
            <a:ext cx="8349833" cy="919185"/>
            <a:chOff x="0" y="0"/>
            <a:chExt cx="11133111" cy="1225580"/>
          </a:xfrm>
        </p:grpSpPr>
        <p:sp>
          <p:nvSpPr>
            <p:cNvPr id="19" name="Freeform 19"/>
            <p:cNvSpPr/>
            <p:nvPr/>
          </p:nvSpPr>
          <p:spPr>
            <a:xfrm>
              <a:off x="0" y="0"/>
              <a:ext cx="11133111" cy="1225583"/>
            </a:xfrm>
            <a:custGeom>
              <a:avLst/>
              <a:gdLst/>
              <a:ahLst/>
              <a:cxnLst/>
              <a:rect l="l" t="t" r="r" b="b"/>
              <a:pathLst>
                <a:path w="11133111" h="1225583">
                  <a:moveTo>
                    <a:pt x="0" y="0"/>
                  </a:moveTo>
                  <a:lnTo>
                    <a:pt x="11133111" y="0"/>
                  </a:lnTo>
                  <a:lnTo>
                    <a:pt x="11133111" y="1225583"/>
                  </a:lnTo>
                  <a:lnTo>
                    <a:pt x="0" y="1225583"/>
                  </a:lnTo>
                  <a:close/>
                </a:path>
              </a:pathLst>
            </a:custGeom>
            <a:blipFill>
              <a:blip r:embed="rId1">
                <a:alphaModFix amt="0"/>
              </a:blip>
              <a:stretch>
                <a:fillRect t="-143381" r="4650" b="-94155"/>
              </a:stretch>
            </a:blipFill>
          </p:spPr>
        </p:sp>
        <p:sp>
          <p:nvSpPr>
            <p:cNvPr id="20" name="TextBox 20"/>
            <p:cNvSpPr txBox="1"/>
            <p:nvPr/>
          </p:nvSpPr>
          <p:spPr>
            <a:xfrm>
              <a:off x="0" y="0"/>
              <a:ext cx="11133111" cy="1225580"/>
            </a:xfrm>
            <a:prstGeom prst="rect">
              <a:avLst/>
            </a:prstGeom>
          </p:spPr>
          <p:txBody>
            <a:bodyPr lIns="0" tIns="0" rIns="0" bIns="0" rtlCol="0" anchor="ctr"/>
            <a:lstStyle/>
            <a:p>
              <a:pPr algn="ctr">
                <a:lnSpc>
                  <a:spcPts val="3240"/>
                </a:lnSpc>
              </a:pPr>
              <a:r>
                <a:rPr lang="en-US" sz="2700" b="1">
                  <a:solidFill>
                    <a:srgbClr val="FFFFFF"/>
                  </a:solidFill>
                  <a:latin typeface="Aptos Bold" panose="020B0004020202020204"/>
                  <a:ea typeface="Aptos Bold" panose="020B0004020202020204"/>
                  <a:cs typeface="Aptos Bold" panose="020B0004020202020204"/>
                  <a:sym typeface="Aptos Bold" panose="020B0004020202020204"/>
                </a:rPr>
                <a:t>Cleaned dataset prepared for EDA, visualisation and dashboard work.</a:t>
              </a:r>
              <a:endParaRPr lang="en-US" sz="2700" b="1">
                <a:solidFill>
                  <a:srgbClr val="FFFFFF"/>
                </a:solidFill>
                <a:latin typeface="Aptos Bold" panose="020B0004020202020204"/>
                <a:ea typeface="Aptos Bold" panose="020B0004020202020204"/>
                <a:cs typeface="Aptos Bold" panose="020B0004020202020204"/>
                <a:sym typeface="Aptos Bold" panose="020B0004020202020204"/>
              </a:endParaRPr>
            </a:p>
          </p:txBody>
        </p:sp>
      </p:grpSp>
      <p:grpSp>
        <p:nvGrpSpPr>
          <p:cNvPr id="21" name="Group 21"/>
          <p:cNvGrpSpPr/>
          <p:nvPr/>
        </p:nvGrpSpPr>
        <p:grpSpPr>
          <a:xfrm>
            <a:off x="-9535" y="-9535"/>
            <a:ext cx="7156961" cy="10314108"/>
            <a:chOff x="0" y="0"/>
            <a:chExt cx="9542615" cy="13752144"/>
          </a:xfrm>
        </p:grpSpPr>
        <p:sp>
          <p:nvSpPr>
            <p:cNvPr id="22" name="Freeform 22"/>
            <p:cNvSpPr/>
            <p:nvPr/>
          </p:nvSpPr>
          <p:spPr>
            <a:xfrm>
              <a:off x="0" y="0"/>
              <a:ext cx="9542653" cy="13752195"/>
            </a:xfrm>
            <a:custGeom>
              <a:avLst/>
              <a:gdLst/>
              <a:ahLst/>
              <a:cxnLst/>
              <a:rect l="l" t="t" r="r" b="b"/>
              <a:pathLst>
                <a:path w="9542653" h="13752195">
                  <a:moveTo>
                    <a:pt x="0" y="0"/>
                  </a:moveTo>
                  <a:lnTo>
                    <a:pt x="9542653" y="0"/>
                  </a:lnTo>
                  <a:lnTo>
                    <a:pt x="9542653" y="13752195"/>
                  </a:lnTo>
                  <a:lnTo>
                    <a:pt x="0" y="13752195"/>
                  </a:lnTo>
                  <a:close/>
                </a:path>
              </a:pathLst>
            </a:custGeom>
            <a:solidFill>
              <a:srgbClr val="BFC6F8"/>
            </a:solidFill>
            <a:ln w="19065" cap="sq">
              <a:solidFill>
                <a:srgbClr val="BFC6F8"/>
              </a:solidFill>
              <a:prstDash val="solid"/>
              <a:miter/>
            </a:ln>
          </p:spPr>
        </p:sp>
      </p:grpSp>
      <p:grpSp>
        <p:nvGrpSpPr>
          <p:cNvPr id="23" name="Group 23"/>
          <p:cNvGrpSpPr/>
          <p:nvPr/>
        </p:nvGrpSpPr>
        <p:grpSpPr>
          <a:xfrm>
            <a:off x="892259" y="3806495"/>
            <a:ext cx="5353374" cy="4937427"/>
            <a:chOff x="0" y="0"/>
            <a:chExt cx="14910676" cy="13752144"/>
          </a:xfrm>
        </p:grpSpPr>
        <p:sp>
          <p:nvSpPr>
            <p:cNvPr id="24" name="Freeform 24"/>
            <p:cNvSpPr/>
            <p:nvPr/>
          </p:nvSpPr>
          <p:spPr>
            <a:xfrm>
              <a:off x="0" y="0"/>
              <a:ext cx="14910688" cy="13752195"/>
            </a:xfrm>
            <a:custGeom>
              <a:avLst/>
              <a:gdLst/>
              <a:ahLst/>
              <a:cxnLst/>
              <a:rect l="l" t="t" r="r" b="b"/>
              <a:pathLst>
                <a:path w="14910688" h="13752195">
                  <a:moveTo>
                    <a:pt x="0" y="0"/>
                  </a:moveTo>
                  <a:lnTo>
                    <a:pt x="14910688" y="0"/>
                  </a:lnTo>
                  <a:lnTo>
                    <a:pt x="14910688" y="13752195"/>
                  </a:lnTo>
                  <a:lnTo>
                    <a:pt x="0" y="13752195"/>
                  </a:lnTo>
                  <a:close/>
                </a:path>
              </a:pathLst>
            </a:custGeom>
            <a:blipFill>
              <a:blip r:embed="rId2"/>
              <a:stretch>
                <a:fillRect l="-399" r="-399"/>
              </a:stretch>
            </a:blipFill>
            <a:ln cap="sq">
              <a:noFill/>
              <a:prstDash val="solid"/>
              <a:miter/>
            </a:ln>
          </p:spPr>
        </p:sp>
      </p:grpSp>
      <p:grpSp>
        <p:nvGrpSpPr>
          <p:cNvPr id="25" name="Group 25"/>
          <p:cNvGrpSpPr/>
          <p:nvPr/>
        </p:nvGrpSpPr>
        <p:grpSpPr>
          <a:xfrm>
            <a:off x="2792102" y="1028700"/>
            <a:ext cx="1553688" cy="1270637"/>
            <a:chOff x="0" y="0"/>
            <a:chExt cx="543719" cy="444664"/>
          </a:xfrm>
        </p:grpSpPr>
        <p:sp>
          <p:nvSpPr>
            <p:cNvPr id="26" name="Freeform 26"/>
            <p:cNvSpPr/>
            <p:nvPr/>
          </p:nvSpPr>
          <p:spPr>
            <a:xfrm>
              <a:off x="0" y="0"/>
              <a:ext cx="543719" cy="444664"/>
            </a:xfrm>
            <a:custGeom>
              <a:avLst/>
              <a:gdLst/>
              <a:ahLst/>
              <a:cxnLst/>
              <a:rect l="l" t="t" r="r" b="b"/>
              <a:pathLst>
                <a:path w="543719" h="444664">
                  <a:moveTo>
                    <a:pt x="0" y="0"/>
                  </a:moveTo>
                  <a:lnTo>
                    <a:pt x="543719" y="0"/>
                  </a:lnTo>
                  <a:lnTo>
                    <a:pt x="543719" y="444664"/>
                  </a:lnTo>
                  <a:lnTo>
                    <a:pt x="0" y="444664"/>
                  </a:lnTo>
                  <a:close/>
                </a:path>
              </a:pathLst>
            </a:custGeom>
            <a:blipFill>
              <a:blip r:embed="rId3"/>
              <a:stretch>
                <a:fillRect l="-4521" r="-452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4304</Words>
  <Application>WPS Presentation</Application>
  <PresentationFormat>Custom</PresentationFormat>
  <Paragraphs>315</Paragraphs>
  <Slides>9</Slides>
  <Notes>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vt:i4>
      </vt:variant>
    </vt:vector>
  </HeadingPairs>
  <TitlesOfParts>
    <vt:vector size="23" baseType="lpstr">
      <vt:lpstr>Arial</vt:lpstr>
      <vt:lpstr>SimSun</vt:lpstr>
      <vt:lpstr>Wingdings</vt:lpstr>
      <vt:lpstr>Georgia</vt:lpstr>
      <vt:lpstr>Aptos Bold</vt:lpstr>
      <vt:lpstr>Aptos</vt:lpstr>
      <vt:lpstr>Segoe UI</vt:lpstr>
      <vt:lpstr>Algerian</vt:lpstr>
      <vt:lpstr>Arial Narrow</vt:lpstr>
      <vt:lpstr>Arial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Supply_Chain_Milestone_1_Preprocessing_PPT.pptx</dc:title>
  <dc:creator>MAHI PIKKILI</dc:creator>
  <cp:lastModifiedBy>mahip</cp:lastModifiedBy>
  <cp:revision>3</cp:revision>
  <dcterms:created xsi:type="dcterms:W3CDTF">2006-08-16T00:00:00Z</dcterms:created>
  <dcterms:modified xsi:type="dcterms:W3CDTF">2026-08-03T14:38:39Z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F3BC4CAFA4AD4BC3B4E3FC19BE7C2916_12</vt:lpwstr>
  </property>
  <property fmtid="{D5CDD505-2E9C-101B-9397-08002B2CF9AE}" pid="3" name="KSOProductBuildVer">
    <vt:lpwstr>1033-12.1.0.28032</vt:lpwstr>
  </property>
</Properties>
</file>